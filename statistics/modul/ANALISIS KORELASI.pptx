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2" r:id="rId6"/>
    <p:sldId id="264" r:id="rId7"/>
    <p:sldId id="265" r:id="rId8"/>
    <p:sldId id="260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4" r:id="rId17"/>
    <p:sldId id="273" r:id="rId18"/>
    <p:sldId id="275" r:id="rId19"/>
    <p:sldId id="276" r:id="rId20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3" d="100"/>
          <a:sy n="63" d="100"/>
        </p:scale>
        <p:origin x="73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47BC9C6-332B-4F0F-82C5-838A7167B0F0}" type="doc">
      <dgm:prSet loTypeId="urn:microsoft.com/office/officeart/2005/8/layout/hList3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ID"/>
        </a:p>
      </dgm:t>
    </dgm:pt>
    <dgm:pt modelId="{5CBE7F55-09E5-429F-B4E8-88580104A1DF}">
      <dgm:prSet phldrT="[Text]" custT="1"/>
      <dgm:spPr/>
      <dgm:t>
        <a:bodyPr/>
        <a:lstStyle/>
        <a:p>
          <a:r>
            <a:rPr lang="en-US" sz="2400" b="1" dirty="0"/>
            <a:t>HUBUNGAN ANTARA VARIABEL-VARIABEL</a:t>
          </a:r>
          <a:endParaRPr lang="en-ID" sz="2400" b="1" dirty="0"/>
        </a:p>
      </dgm:t>
    </dgm:pt>
    <dgm:pt modelId="{D529A186-ACFC-4FA6-ABE8-AB363767D89C}" type="parTrans" cxnId="{6724F59A-3A7D-4EE7-AB6A-398D0E324FB5}">
      <dgm:prSet/>
      <dgm:spPr/>
      <dgm:t>
        <a:bodyPr/>
        <a:lstStyle/>
        <a:p>
          <a:endParaRPr lang="en-ID"/>
        </a:p>
      </dgm:t>
    </dgm:pt>
    <dgm:pt modelId="{9EF923D9-496C-4825-B36C-93BE6372947A}" type="sibTrans" cxnId="{6724F59A-3A7D-4EE7-AB6A-398D0E324FB5}">
      <dgm:prSet/>
      <dgm:spPr/>
      <dgm:t>
        <a:bodyPr/>
        <a:lstStyle/>
        <a:p>
          <a:endParaRPr lang="en-ID"/>
        </a:p>
      </dgm:t>
    </dgm:pt>
    <dgm:pt modelId="{AAA1DAFC-E720-4ECD-BAFA-C123B59231F4}">
      <dgm:prSet phldrT="[Text]"/>
      <dgm:spPr/>
      <dgm:t>
        <a:bodyPr/>
        <a:lstStyle/>
        <a:p>
          <a:pPr algn="ctr">
            <a:buNone/>
          </a:pPr>
          <a:r>
            <a:rPr lang="en-US" b="1"/>
            <a:t>HUBUNGAN SIMETRIS</a:t>
          </a:r>
        </a:p>
        <a:p>
          <a:pPr algn="ctr">
            <a:buNone/>
          </a:pPr>
          <a:endParaRPr lang="en-US"/>
        </a:p>
        <a:p>
          <a:pPr algn="l">
            <a:buNone/>
          </a:pPr>
          <a:r>
            <a:rPr lang="en-US"/>
            <a:t>Hubungan yang menyatakan sifat kebersamaan dan tidak menyatakan adanya sebab akibat.</a:t>
          </a:r>
        </a:p>
        <a:p>
          <a:pPr algn="l">
            <a:buNone/>
          </a:pPr>
          <a:endParaRPr lang="en-US"/>
        </a:p>
        <a:p>
          <a:pPr algn="l">
            <a:buNone/>
          </a:pPr>
          <a:endParaRPr lang="en-US" dirty="0"/>
        </a:p>
      </dgm:t>
    </dgm:pt>
    <dgm:pt modelId="{678D4A1D-0B82-4E7F-BE7A-75F62D61A1C6}" type="parTrans" cxnId="{FFD817F5-0E0D-41F1-81CC-09E81DD91148}">
      <dgm:prSet/>
      <dgm:spPr/>
      <dgm:t>
        <a:bodyPr/>
        <a:lstStyle/>
        <a:p>
          <a:endParaRPr lang="en-ID"/>
        </a:p>
      </dgm:t>
    </dgm:pt>
    <dgm:pt modelId="{4F7FFCB7-19C8-4DC1-BF73-381A8016614D}" type="sibTrans" cxnId="{FFD817F5-0E0D-41F1-81CC-09E81DD91148}">
      <dgm:prSet/>
      <dgm:spPr/>
      <dgm:t>
        <a:bodyPr/>
        <a:lstStyle/>
        <a:p>
          <a:endParaRPr lang="en-ID"/>
        </a:p>
      </dgm:t>
    </dgm:pt>
    <dgm:pt modelId="{E9CEBD5E-41C2-4F83-9AF2-3D149FB276AA}">
      <dgm:prSet phldrT="[Text]"/>
      <dgm:spPr/>
      <dgm:t>
        <a:bodyPr/>
        <a:lstStyle/>
        <a:p>
          <a:pPr algn="ctr"/>
          <a:r>
            <a:rPr lang="en-US" b="1"/>
            <a:t>HUBUNGAN KAUSAL</a:t>
          </a:r>
        </a:p>
        <a:p>
          <a:pPr algn="ctr"/>
          <a:endParaRPr lang="en-US"/>
        </a:p>
        <a:p>
          <a:pPr algn="l"/>
          <a:r>
            <a:rPr lang="en-US" b="0"/>
            <a:t>Hubungan yang menunjukkan adanya sifat mempengaruhi antara satu variabel dengan lainnya, dan dapat ditentukan secara pasti variabel bebas dan terikatnya</a:t>
          </a:r>
          <a:r>
            <a:rPr lang="en-US"/>
            <a:t>.</a:t>
          </a:r>
          <a:endParaRPr lang="en-ID" dirty="0"/>
        </a:p>
      </dgm:t>
    </dgm:pt>
    <dgm:pt modelId="{00D62DF0-D81F-42BA-8B4D-C8A41E3C4A47}" type="parTrans" cxnId="{48EDF8E7-2406-4688-BC6E-0D28D4B74F9A}">
      <dgm:prSet/>
      <dgm:spPr/>
      <dgm:t>
        <a:bodyPr/>
        <a:lstStyle/>
        <a:p>
          <a:endParaRPr lang="en-ID"/>
        </a:p>
      </dgm:t>
    </dgm:pt>
    <dgm:pt modelId="{FBF102A6-021A-4D08-8235-C34F112BF812}" type="sibTrans" cxnId="{48EDF8E7-2406-4688-BC6E-0D28D4B74F9A}">
      <dgm:prSet/>
      <dgm:spPr/>
      <dgm:t>
        <a:bodyPr/>
        <a:lstStyle/>
        <a:p>
          <a:endParaRPr lang="en-ID"/>
        </a:p>
      </dgm:t>
    </dgm:pt>
    <dgm:pt modelId="{194A61B7-FBB7-441A-9F37-FD1EF038AAD5}">
      <dgm:prSet phldrT="[Text]"/>
      <dgm:spPr/>
      <dgm:t>
        <a:bodyPr/>
        <a:lstStyle/>
        <a:p>
          <a:pPr algn="ctr"/>
          <a:r>
            <a:rPr lang="en-US" b="1" dirty="0"/>
            <a:t>HUBUNGAN INTERAKTIF</a:t>
          </a:r>
        </a:p>
        <a:p>
          <a:pPr algn="ctr"/>
          <a:endParaRPr lang="en-US" dirty="0"/>
        </a:p>
        <a:p>
          <a:pPr algn="l"/>
          <a:r>
            <a:rPr lang="en-US" dirty="0" err="1"/>
            <a:t>Hubungan</a:t>
          </a:r>
          <a:r>
            <a:rPr lang="en-US" dirty="0"/>
            <a:t> yang </a:t>
          </a:r>
          <a:r>
            <a:rPr lang="en-US" dirty="0" err="1"/>
            <a:t>menunjukkan</a:t>
          </a:r>
          <a:r>
            <a:rPr lang="en-US" dirty="0"/>
            <a:t> </a:t>
          </a:r>
          <a:r>
            <a:rPr lang="en-US" dirty="0" err="1"/>
            <a:t>sifat</a:t>
          </a:r>
          <a:r>
            <a:rPr lang="en-US" dirty="0"/>
            <a:t> </a:t>
          </a:r>
          <a:r>
            <a:rPr lang="en-US" dirty="0" err="1"/>
            <a:t>saling</a:t>
          </a:r>
          <a:r>
            <a:rPr lang="en-US" dirty="0"/>
            <a:t> </a:t>
          </a:r>
          <a:r>
            <a:rPr lang="en-US" dirty="0" err="1"/>
            <a:t>mempengaruhi</a:t>
          </a:r>
          <a:r>
            <a:rPr lang="en-US" dirty="0"/>
            <a:t> </a:t>
          </a:r>
          <a:r>
            <a:rPr lang="en-US" dirty="0" err="1"/>
            <a:t>antara</a:t>
          </a:r>
          <a:r>
            <a:rPr lang="en-US" dirty="0"/>
            <a:t> </a:t>
          </a:r>
          <a:r>
            <a:rPr lang="en-US" dirty="0" err="1"/>
            <a:t>satu</a:t>
          </a:r>
          <a:r>
            <a:rPr lang="en-US" dirty="0"/>
            <a:t> variable </a:t>
          </a:r>
          <a:r>
            <a:rPr lang="en-US" dirty="0" err="1"/>
            <a:t>dengan</a:t>
          </a:r>
          <a:r>
            <a:rPr lang="en-US" dirty="0"/>
            <a:t> </a:t>
          </a:r>
          <a:r>
            <a:rPr lang="en-US" dirty="0" err="1"/>
            <a:t>lainnya</a:t>
          </a:r>
          <a:r>
            <a:rPr lang="en-US" dirty="0"/>
            <a:t>, di mana </a:t>
          </a:r>
          <a:r>
            <a:rPr lang="en-US" dirty="0" err="1"/>
            <a:t>kedudukan</a:t>
          </a:r>
          <a:r>
            <a:rPr lang="en-US" dirty="0"/>
            <a:t> </a:t>
          </a:r>
          <a:r>
            <a:rPr lang="en-US" dirty="0" err="1"/>
            <a:t>antar</a:t>
          </a:r>
          <a:r>
            <a:rPr lang="en-US" dirty="0"/>
            <a:t> </a:t>
          </a:r>
          <a:r>
            <a:rPr lang="en-US" dirty="0" err="1"/>
            <a:t>variabel</a:t>
          </a:r>
          <a:r>
            <a:rPr lang="en-US" dirty="0"/>
            <a:t> </a:t>
          </a:r>
          <a:r>
            <a:rPr lang="en-US" dirty="0" err="1"/>
            <a:t>dapat</a:t>
          </a:r>
          <a:r>
            <a:rPr lang="en-US" dirty="0"/>
            <a:t> </a:t>
          </a:r>
          <a:r>
            <a:rPr lang="en-US" dirty="0" err="1"/>
            <a:t>saling</a:t>
          </a:r>
          <a:r>
            <a:rPr lang="en-US" dirty="0"/>
            <a:t> </a:t>
          </a:r>
          <a:r>
            <a:rPr lang="en-US" dirty="0" err="1"/>
            <a:t>menggantikan</a:t>
          </a:r>
          <a:r>
            <a:rPr lang="en-US" dirty="0"/>
            <a:t>.</a:t>
          </a:r>
          <a:endParaRPr lang="en-ID" dirty="0"/>
        </a:p>
      </dgm:t>
    </dgm:pt>
    <dgm:pt modelId="{0B4274DA-2D48-4184-823F-70ECE8E213F0}" type="parTrans" cxnId="{CC55CE22-FB96-457B-88F4-7CF8D7A35B74}">
      <dgm:prSet/>
      <dgm:spPr/>
      <dgm:t>
        <a:bodyPr/>
        <a:lstStyle/>
        <a:p>
          <a:endParaRPr lang="en-ID"/>
        </a:p>
      </dgm:t>
    </dgm:pt>
    <dgm:pt modelId="{9140E409-8FE1-4545-B34C-8F97F6416849}" type="sibTrans" cxnId="{CC55CE22-FB96-457B-88F4-7CF8D7A35B74}">
      <dgm:prSet/>
      <dgm:spPr/>
      <dgm:t>
        <a:bodyPr/>
        <a:lstStyle/>
        <a:p>
          <a:endParaRPr lang="en-ID"/>
        </a:p>
      </dgm:t>
    </dgm:pt>
    <dgm:pt modelId="{E5EE25BC-29C7-4236-9725-DEABAB4CD278}" type="pres">
      <dgm:prSet presAssocID="{847BC9C6-332B-4F0F-82C5-838A7167B0F0}" presName="composite" presStyleCnt="0">
        <dgm:presLayoutVars>
          <dgm:chMax val="1"/>
          <dgm:dir/>
          <dgm:resizeHandles val="exact"/>
        </dgm:presLayoutVars>
      </dgm:prSet>
      <dgm:spPr/>
    </dgm:pt>
    <dgm:pt modelId="{364B6567-8970-41C3-BF5A-6B08CD7D0521}" type="pres">
      <dgm:prSet presAssocID="{5CBE7F55-09E5-429F-B4E8-88580104A1DF}" presName="roof" presStyleLbl="dkBgShp" presStyleIdx="0" presStyleCnt="2"/>
      <dgm:spPr/>
    </dgm:pt>
    <dgm:pt modelId="{CA4AC938-95E7-42E0-B627-4503D7E7ABF7}" type="pres">
      <dgm:prSet presAssocID="{5CBE7F55-09E5-429F-B4E8-88580104A1DF}" presName="pillars" presStyleCnt="0"/>
      <dgm:spPr/>
    </dgm:pt>
    <dgm:pt modelId="{3A1F1963-D963-43C8-A7C4-883D348D11CB}" type="pres">
      <dgm:prSet presAssocID="{5CBE7F55-09E5-429F-B4E8-88580104A1DF}" presName="pillar1" presStyleLbl="node1" presStyleIdx="0" presStyleCnt="3">
        <dgm:presLayoutVars>
          <dgm:bulletEnabled val="1"/>
        </dgm:presLayoutVars>
      </dgm:prSet>
      <dgm:spPr/>
    </dgm:pt>
    <dgm:pt modelId="{418619A1-7B2B-487D-B5E8-B090B2E320DC}" type="pres">
      <dgm:prSet presAssocID="{E9CEBD5E-41C2-4F83-9AF2-3D149FB276AA}" presName="pillarX" presStyleLbl="node1" presStyleIdx="1" presStyleCnt="3">
        <dgm:presLayoutVars>
          <dgm:bulletEnabled val="1"/>
        </dgm:presLayoutVars>
      </dgm:prSet>
      <dgm:spPr/>
    </dgm:pt>
    <dgm:pt modelId="{87C98E7C-170C-4864-9F00-FCF56EFB7799}" type="pres">
      <dgm:prSet presAssocID="{194A61B7-FBB7-441A-9F37-FD1EF038AAD5}" presName="pillarX" presStyleLbl="node1" presStyleIdx="2" presStyleCnt="3">
        <dgm:presLayoutVars>
          <dgm:bulletEnabled val="1"/>
        </dgm:presLayoutVars>
      </dgm:prSet>
      <dgm:spPr/>
    </dgm:pt>
    <dgm:pt modelId="{977D6B96-A573-4077-939C-95E74EA07A3C}" type="pres">
      <dgm:prSet presAssocID="{5CBE7F55-09E5-429F-B4E8-88580104A1DF}" presName="base" presStyleLbl="dkBgShp" presStyleIdx="1" presStyleCnt="2"/>
      <dgm:spPr/>
    </dgm:pt>
  </dgm:ptLst>
  <dgm:cxnLst>
    <dgm:cxn modelId="{CC55CE22-FB96-457B-88F4-7CF8D7A35B74}" srcId="{5CBE7F55-09E5-429F-B4E8-88580104A1DF}" destId="{194A61B7-FBB7-441A-9F37-FD1EF038AAD5}" srcOrd="2" destOrd="0" parTransId="{0B4274DA-2D48-4184-823F-70ECE8E213F0}" sibTransId="{9140E409-8FE1-4545-B34C-8F97F6416849}"/>
    <dgm:cxn modelId="{4E7DDD5E-9375-464E-9276-DE54F3E9B185}" type="presOf" srcId="{847BC9C6-332B-4F0F-82C5-838A7167B0F0}" destId="{E5EE25BC-29C7-4236-9725-DEABAB4CD278}" srcOrd="0" destOrd="0" presId="urn:microsoft.com/office/officeart/2005/8/layout/hList3"/>
    <dgm:cxn modelId="{AF6F3046-DFCD-43BD-BD2B-B3CC665F8135}" type="presOf" srcId="{AAA1DAFC-E720-4ECD-BAFA-C123B59231F4}" destId="{3A1F1963-D963-43C8-A7C4-883D348D11CB}" srcOrd="0" destOrd="0" presId="urn:microsoft.com/office/officeart/2005/8/layout/hList3"/>
    <dgm:cxn modelId="{A6F2BE4C-CEE2-4AF7-B1F6-3C74AC8FA5AB}" type="presOf" srcId="{5CBE7F55-09E5-429F-B4E8-88580104A1DF}" destId="{364B6567-8970-41C3-BF5A-6B08CD7D0521}" srcOrd="0" destOrd="0" presId="urn:microsoft.com/office/officeart/2005/8/layout/hList3"/>
    <dgm:cxn modelId="{9EF65D54-B74F-44E4-A418-43A820818A98}" type="presOf" srcId="{E9CEBD5E-41C2-4F83-9AF2-3D149FB276AA}" destId="{418619A1-7B2B-487D-B5E8-B090B2E320DC}" srcOrd="0" destOrd="0" presId="urn:microsoft.com/office/officeart/2005/8/layout/hList3"/>
    <dgm:cxn modelId="{6724F59A-3A7D-4EE7-AB6A-398D0E324FB5}" srcId="{847BC9C6-332B-4F0F-82C5-838A7167B0F0}" destId="{5CBE7F55-09E5-429F-B4E8-88580104A1DF}" srcOrd="0" destOrd="0" parTransId="{D529A186-ACFC-4FA6-ABE8-AB363767D89C}" sibTransId="{9EF923D9-496C-4825-B36C-93BE6372947A}"/>
    <dgm:cxn modelId="{9349E8BE-DDA3-4EF6-BBA0-FE570CA4747F}" type="presOf" srcId="{194A61B7-FBB7-441A-9F37-FD1EF038AAD5}" destId="{87C98E7C-170C-4864-9F00-FCF56EFB7799}" srcOrd="0" destOrd="0" presId="urn:microsoft.com/office/officeart/2005/8/layout/hList3"/>
    <dgm:cxn modelId="{48EDF8E7-2406-4688-BC6E-0D28D4B74F9A}" srcId="{5CBE7F55-09E5-429F-B4E8-88580104A1DF}" destId="{E9CEBD5E-41C2-4F83-9AF2-3D149FB276AA}" srcOrd="1" destOrd="0" parTransId="{00D62DF0-D81F-42BA-8B4D-C8A41E3C4A47}" sibTransId="{FBF102A6-021A-4D08-8235-C34F112BF812}"/>
    <dgm:cxn modelId="{FFD817F5-0E0D-41F1-81CC-09E81DD91148}" srcId="{5CBE7F55-09E5-429F-B4E8-88580104A1DF}" destId="{AAA1DAFC-E720-4ECD-BAFA-C123B59231F4}" srcOrd="0" destOrd="0" parTransId="{678D4A1D-0B82-4E7F-BE7A-75F62D61A1C6}" sibTransId="{4F7FFCB7-19C8-4DC1-BF73-381A8016614D}"/>
    <dgm:cxn modelId="{FCEDBAAC-8200-4BF4-A5ED-1ADA6C192EFA}" type="presParOf" srcId="{E5EE25BC-29C7-4236-9725-DEABAB4CD278}" destId="{364B6567-8970-41C3-BF5A-6B08CD7D0521}" srcOrd="0" destOrd="0" presId="urn:microsoft.com/office/officeart/2005/8/layout/hList3"/>
    <dgm:cxn modelId="{E662011A-9ADB-4F7A-9BF0-58346127D335}" type="presParOf" srcId="{E5EE25BC-29C7-4236-9725-DEABAB4CD278}" destId="{CA4AC938-95E7-42E0-B627-4503D7E7ABF7}" srcOrd="1" destOrd="0" presId="urn:microsoft.com/office/officeart/2005/8/layout/hList3"/>
    <dgm:cxn modelId="{BA0038B1-C8F9-4E9D-8B39-188D5DB8781E}" type="presParOf" srcId="{CA4AC938-95E7-42E0-B627-4503D7E7ABF7}" destId="{3A1F1963-D963-43C8-A7C4-883D348D11CB}" srcOrd="0" destOrd="0" presId="urn:microsoft.com/office/officeart/2005/8/layout/hList3"/>
    <dgm:cxn modelId="{C9D6BD13-4D9E-47E5-97A5-0A80FDD8ECE4}" type="presParOf" srcId="{CA4AC938-95E7-42E0-B627-4503D7E7ABF7}" destId="{418619A1-7B2B-487D-B5E8-B090B2E320DC}" srcOrd="1" destOrd="0" presId="urn:microsoft.com/office/officeart/2005/8/layout/hList3"/>
    <dgm:cxn modelId="{08E76C07-DC95-4890-A584-7BFFE8971AC1}" type="presParOf" srcId="{CA4AC938-95E7-42E0-B627-4503D7E7ABF7}" destId="{87C98E7C-170C-4864-9F00-FCF56EFB7799}" srcOrd="2" destOrd="0" presId="urn:microsoft.com/office/officeart/2005/8/layout/hList3"/>
    <dgm:cxn modelId="{4B700A1B-14DE-4507-A0A4-9E5404033F06}" type="presParOf" srcId="{E5EE25BC-29C7-4236-9725-DEABAB4CD278}" destId="{977D6B96-A573-4077-939C-95E74EA07A3C}" srcOrd="2" destOrd="0" presId="urn:microsoft.com/office/officeart/2005/8/layout/hLis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64B6567-8970-41C3-BF5A-6B08CD7D0521}">
      <dsp:nvSpPr>
        <dsp:cNvPr id="0" name=""/>
        <dsp:cNvSpPr/>
      </dsp:nvSpPr>
      <dsp:spPr>
        <a:xfrm>
          <a:off x="0" y="0"/>
          <a:ext cx="5709920" cy="1256283"/>
        </a:xfrm>
        <a:prstGeom prst="rect">
          <a:avLst/>
        </a:prstGeom>
        <a:solidFill>
          <a:schemeClr val="accent5">
            <a:shade val="9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dirty="0"/>
            <a:t>HUBUNGAN ANTARA VARIABEL-VARIABEL</a:t>
          </a:r>
          <a:endParaRPr lang="en-ID" sz="2400" b="1" kern="1200" dirty="0"/>
        </a:p>
      </dsp:txBody>
      <dsp:txXfrm>
        <a:off x="0" y="0"/>
        <a:ext cx="5709920" cy="1256283"/>
      </dsp:txXfrm>
    </dsp:sp>
    <dsp:sp modelId="{3A1F1963-D963-43C8-A7C4-883D348D11CB}">
      <dsp:nvSpPr>
        <dsp:cNvPr id="0" name=""/>
        <dsp:cNvSpPr/>
      </dsp:nvSpPr>
      <dsp:spPr>
        <a:xfrm>
          <a:off x="2788" y="1256283"/>
          <a:ext cx="1901447" cy="2638196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/>
            <a:t>HUBUNGAN SIMETRIS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Hubungan yang menyatakan sifat kebersamaan dan tidak menyatakan adanya sebab akibat.</a:t>
          </a:r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 dirty="0"/>
        </a:p>
      </dsp:txBody>
      <dsp:txXfrm>
        <a:off x="2788" y="1256283"/>
        <a:ext cx="1901447" cy="2638196"/>
      </dsp:txXfrm>
    </dsp:sp>
    <dsp:sp modelId="{418619A1-7B2B-487D-B5E8-B090B2E320DC}">
      <dsp:nvSpPr>
        <dsp:cNvPr id="0" name=""/>
        <dsp:cNvSpPr/>
      </dsp:nvSpPr>
      <dsp:spPr>
        <a:xfrm>
          <a:off x="1904236" y="1256283"/>
          <a:ext cx="1901447" cy="2638196"/>
        </a:xfrm>
        <a:prstGeom prst="rect">
          <a:avLst/>
        </a:prstGeom>
        <a:solidFill>
          <a:schemeClr val="accent5">
            <a:hueOff val="829266"/>
            <a:satOff val="7576"/>
            <a:lumOff val="-558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/>
            <a:t>HUBUNGAN KAUSAL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kern="1200"/>
            <a:t>Hubungan yang menunjukkan adanya sifat mempengaruhi antara satu variabel dengan lainnya, dan dapat ditentukan secara pasti variabel bebas dan terikatnya</a:t>
          </a:r>
          <a:r>
            <a:rPr lang="en-US" sz="1400" kern="1200"/>
            <a:t>.</a:t>
          </a:r>
          <a:endParaRPr lang="en-ID" sz="1400" kern="1200" dirty="0"/>
        </a:p>
      </dsp:txBody>
      <dsp:txXfrm>
        <a:off x="1904236" y="1256283"/>
        <a:ext cx="1901447" cy="2638196"/>
      </dsp:txXfrm>
    </dsp:sp>
    <dsp:sp modelId="{87C98E7C-170C-4864-9F00-FCF56EFB7799}">
      <dsp:nvSpPr>
        <dsp:cNvPr id="0" name=""/>
        <dsp:cNvSpPr/>
      </dsp:nvSpPr>
      <dsp:spPr>
        <a:xfrm>
          <a:off x="3805683" y="1256283"/>
          <a:ext cx="1901447" cy="2638196"/>
        </a:xfrm>
        <a:prstGeom prst="rect">
          <a:avLst/>
        </a:prstGeom>
        <a:solidFill>
          <a:schemeClr val="accent5">
            <a:hueOff val="1658532"/>
            <a:satOff val="15151"/>
            <a:lumOff val="-1117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/>
            <a:t>HUBUNGAN INTERAKTIF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 dirty="0"/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 err="1"/>
            <a:t>Hubungan</a:t>
          </a:r>
          <a:r>
            <a:rPr lang="en-US" sz="1400" kern="1200" dirty="0"/>
            <a:t> yang </a:t>
          </a:r>
          <a:r>
            <a:rPr lang="en-US" sz="1400" kern="1200" dirty="0" err="1"/>
            <a:t>menunjukkan</a:t>
          </a:r>
          <a:r>
            <a:rPr lang="en-US" sz="1400" kern="1200" dirty="0"/>
            <a:t> </a:t>
          </a:r>
          <a:r>
            <a:rPr lang="en-US" sz="1400" kern="1200" dirty="0" err="1"/>
            <a:t>sifat</a:t>
          </a:r>
          <a:r>
            <a:rPr lang="en-US" sz="1400" kern="1200" dirty="0"/>
            <a:t> </a:t>
          </a:r>
          <a:r>
            <a:rPr lang="en-US" sz="1400" kern="1200" dirty="0" err="1"/>
            <a:t>saling</a:t>
          </a:r>
          <a:r>
            <a:rPr lang="en-US" sz="1400" kern="1200" dirty="0"/>
            <a:t> </a:t>
          </a:r>
          <a:r>
            <a:rPr lang="en-US" sz="1400" kern="1200" dirty="0" err="1"/>
            <a:t>mempengaruhi</a:t>
          </a:r>
          <a:r>
            <a:rPr lang="en-US" sz="1400" kern="1200" dirty="0"/>
            <a:t> </a:t>
          </a:r>
          <a:r>
            <a:rPr lang="en-US" sz="1400" kern="1200" dirty="0" err="1"/>
            <a:t>antara</a:t>
          </a:r>
          <a:r>
            <a:rPr lang="en-US" sz="1400" kern="1200" dirty="0"/>
            <a:t> </a:t>
          </a:r>
          <a:r>
            <a:rPr lang="en-US" sz="1400" kern="1200" dirty="0" err="1"/>
            <a:t>satu</a:t>
          </a:r>
          <a:r>
            <a:rPr lang="en-US" sz="1400" kern="1200" dirty="0"/>
            <a:t> variable </a:t>
          </a:r>
          <a:r>
            <a:rPr lang="en-US" sz="1400" kern="1200" dirty="0" err="1"/>
            <a:t>dengan</a:t>
          </a:r>
          <a:r>
            <a:rPr lang="en-US" sz="1400" kern="1200" dirty="0"/>
            <a:t> </a:t>
          </a:r>
          <a:r>
            <a:rPr lang="en-US" sz="1400" kern="1200" dirty="0" err="1"/>
            <a:t>lainnya</a:t>
          </a:r>
          <a:r>
            <a:rPr lang="en-US" sz="1400" kern="1200" dirty="0"/>
            <a:t>, di mana </a:t>
          </a:r>
          <a:r>
            <a:rPr lang="en-US" sz="1400" kern="1200" dirty="0" err="1"/>
            <a:t>kedudukan</a:t>
          </a:r>
          <a:r>
            <a:rPr lang="en-US" sz="1400" kern="1200" dirty="0"/>
            <a:t> </a:t>
          </a:r>
          <a:r>
            <a:rPr lang="en-US" sz="1400" kern="1200" dirty="0" err="1"/>
            <a:t>antar</a:t>
          </a:r>
          <a:r>
            <a:rPr lang="en-US" sz="1400" kern="1200" dirty="0"/>
            <a:t> </a:t>
          </a:r>
          <a:r>
            <a:rPr lang="en-US" sz="1400" kern="1200" dirty="0" err="1"/>
            <a:t>variabel</a:t>
          </a:r>
          <a:r>
            <a:rPr lang="en-US" sz="1400" kern="1200" dirty="0"/>
            <a:t> </a:t>
          </a:r>
          <a:r>
            <a:rPr lang="en-US" sz="1400" kern="1200" dirty="0" err="1"/>
            <a:t>dapat</a:t>
          </a:r>
          <a:r>
            <a:rPr lang="en-US" sz="1400" kern="1200" dirty="0"/>
            <a:t> </a:t>
          </a:r>
          <a:r>
            <a:rPr lang="en-US" sz="1400" kern="1200" dirty="0" err="1"/>
            <a:t>saling</a:t>
          </a:r>
          <a:r>
            <a:rPr lang="en-US" sz="1400" kern="1200" dirty="0"/>
            <a:t> </a:t>
          </a:r>
          <a:r>
            <a:rPr lang="en-US" sz="1400" kern="1200" dirty="0" err="1"/>
            <a:t>menggantikan</a:t>
          </a:r>
          <a:r>
            <a:rPr lang="en-US" sz="1400" kern="1200" dirty="0"/>
            <a:t>.</a:t>
          </a:r>
          <a:endParaRPr lang="en-ID" sz="1400" kern="1200" dirty="0"/>
        </a:p>
      </dsp:txBody>
      <dsp:txXfrm>
        <a:off x="3805683" y="1256283"/>
        <a:ext cx="1901447" cy="2638196"/>
      </dsp:txXfrm>
    </dsp:sp>
    <dsp:sp modelId="{977D6B96-A573-4077-939C-95E74EA07A3C}">
      <dsp:nvSpPr>
        <dsp:cNvPr id="0" name=""/>
        <dsp:cNvSpPr/>
      </dsp:nvSpPr>
      <dsp:spPr>
        <a:xfrm>
          <a:off x="0" y="3894480"/>
          <a:ext cx="5709920" cy="293132"/>
        </a:xfrm>
        <a:prstGeom prst="rect">
          <a:avLst/>
        </a:prstGeom>
        <a:solidFill>
          <a:schemeClr val="accent5">
            <a:shade val="9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3">
  <dgm:title val=""/>
  <dgm:desc val=""/>
  <dgm:catLst>
    <dgm:cat type="list" pri="1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5" srcId="0" destId="1" srcOrd="0" destOrd="0"/>
        <dgm:cxn modelId="6" srcId="1" destId="2" srcOrd="0" destOrd="0"/>
        <dgm:cxn modelId="7" srcId="1" destId="3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</dgm:ptLst>
      <dgm:cxnLst>
        <dgm:cxn modelId="6" srcId="0" destId="1" srcOrd="0" destOrd="0"/>
        <dgm:cxn modelId="7" srcId="1" destId="2" srcOrd="0" destOrd="0"/>
        <dgm:cxn modelId="8" srcId="1" destId="3" srcOrd="1" destOrd="0"/>
        <dgm:cxn modelId="9" srcId="1" destId="4" srcOrd="2" destOrd="0"/>
        <dgm:cxn modelId="10" srcId="1" destId="5" srcOrd="3" destOrd="0"/>
      </dgm:cxnLst>
      <dgm:bg/>
      <dgm:whole/>
    </dgm:dataModel>
  </dgm:clrData>
  <dgm:layoutNode name="composite">
    <dgm:varLst>
      <dgm:chMax val="1"/>
      <dgm:dir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roof" refType="w"/>
      <dgm:constr type="h" for="ch" forName="roof" refType="h" fact="0.3"/>
      <dgm:constr type="primFontSz" for="ch" forName="roof" val="65"/>
      <dgm:constr type="w" for="ch" forName="pillars" refType="w"/>
      <dgm:constr type="h" for="ch" forName="pillars" refType="h" fact="0.63"/>
      <dgm:constr type="t" for="ch" forName="pillars" refType="h" fact="0.3"/>
      <dgm:constr type="primFontSz" for="des" forName="pillar1" val="65"/>
      <dgm:constr type="primFontSz" for="des" forName="pillarX" refType="primFontSz" refFor="des" refForName="pillar1" op="equ"/>
      <dgm:constr type="w" for="ch" forName="base" refType="w"/>
      <dgm:constr type="h" for="ch" forName="base" refType="h" fact="0.07"/>
      <dgm:constr type="t" for="ch" forName="base" refType="h" fact="0.93"/>
    </dgm:constrLst>
    <dgm:ruleLst/>
    <dgm:forEach name="Name0" axis="ch" ptType="node" cnt="1">
      <dgm:layoutNode name="roof" styleLbl="dkBgShp">
        <dgm:alg type="tx"/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layoutNode name="pillars" styleLbl="node1">
        <dgm:choose name="Name1">
          <dgm:if name="Name2" func="var" arg="dir" op="equ" val="norm">
            <dgm:alg type="lin">
              <dgm:param type="linDir" val="fromL"/>
            </dgm:alg>
          </dgm:if>
          <dgm:else name="Name3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illar1" refType="w"/>
          <dgm:constr type="h" for="ch" forName="pillar1" refType="h"/>
          <dgm:constr type="w" for="ch" forName="pillarX" refType="w"/>
          <dgm:constr type="h" for="ch" forName="pillarX" refType="h"/>
        </dgm:constrLst>
        <dgm:ruleLst/>
        <dgm:layoutNode name="pillar1" styleLbl="node1">
          <dgm:varLst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forEach name="Name4" axis="ch" ptType="node" st="2">
          <dgm:layoutNode name="pillarX" styleLbl="node1">
            <dgm:varLst>
              <dgm:bulletEnabled val="1"/>
            </dgm:varLst>
            <dgm:alg type="tx"/>
            <dgm:shape xmlns:r="http://schemas.openxmlformats.org/officeDocument/2006/relationships" type="rect" r:blip="">
              <dgm:adjLst/>
            </dgm:shape>
            <dgm:presOf axis="desOrSelf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forEach>
      </dgm:layoutNode>
      <dgm:layoutNode name="base" styleLbl="dkBgShp">
        <dgm:alg type="sp"/>
        <dgm:shape xmlns:r="http://schemas.openxmlformats.org/officeDocument/2006/relationships" type="rect" r:blip="">
          <dgm:adjLst/>
        </dgm:shape>
        <dgm:presOf/>
        <dgm:constrLst/>
        <dgm:ruleLst/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bg>
      <p:bgPr>
        <a:gradFill>
          <a:gsLst>
            <a:gs pos="0">
              <a:schemeClr val="accent1"/>
            </a:gs>
            <a:gs pos="50000">
              <a:schemeClr val="accent2"/>
            </a:gs>
            <a:gs pos="100000">
              <a:schemeClr val="accent3"/>
            </a:gs>
          </a:gsLst>
          <a:path path="circle">
            <a:fillToRect l="100000" b="100000"/>
          </a:path>
          <a:tileRect t="-100000" r="-100000"/>
        </a:gra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835600" y="826967"/>
            <a:ext cx="7591200" cy="2611200"/>
          </a:xfrm>
          <a:prstGeom prst="rect">
            <a:avLst/>
          </a:prstGeom>
          <a:effectLst>
            <a:outerShdw blurRad="28575" dist="19050" dir="2700000" algn="bl" rotWithShape="0">
              <a:schemeClr val="dk1">
                <a:alpha val="20000"/>
              </a:schemeClr>
            </a:outerShdw>
          </a:effectLst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9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96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96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96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96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96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96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96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9600">
                <a:solidFill>
                  <a:schemeClr val="lt1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9873712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ubtitle">
  <p:cSld name="Subtitle">
    <p:bg>
      <p:bgPr>
        <a:gradFill>
          <a:gsLst>
            <a:gs pos="0">
              <a:schemeClr val="lt1"/>
            </a:gs>
            <a:gs pos="50000">
              <a:schemeClr val="accent1"/>
            </a:gs>
            <a:gs pos="100000">
              <a:schemeClr val="accent2"/>
            </a:gs>
          </a:gsLst>
          <a:path path="circle">
            <a:fillToRect t="100000" r="100000"/>
          </a:path>
          <a:tileRect l="-100000" b="-100000"/>
        </a:gradFill>
        <a:effectLst/>
      </p:bgPr>
    </p:bg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oogle Shape;13;p3"/>
          <p:cNvPicPr preferRelativeResize="0"/>
          <p:nvPr/>
        </p:nvPicPr>
        <p:blipFill>
          <a:blip r:embed="rId2">
            <a:alphaModFix amt="75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3"/>
          <p:cNvSpPr txBox="1">
            <a:spLocks noGrp="1"/>
          </p:cNvSpPr>
          <p:nvPr>
            <p:ph type="ctrTitle"/>
          </p:nvPr>
        </p:nvSpPr>
        <p:spPr>
          <a:xfrm>
            <a:off x="835600" y="826967"/>
            <a:ext cx="9911200" cy="964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1pPr>
            <a:lvl2pPr lvl="1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2pPr>
            <a:lvl3pPr lvl="2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3pPr>
            <a:lvl4pPr lvl="3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4pPr>
            <a:lvl5pPr lvl="4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5pPr>
            <a:lvl6pPr lvl="5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6pPr>
            <a:lvl7pPr lvl="6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7pPr>
            <a:lvl8pPr lvl="7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8pPr>
            <a:lvl9pPr lvl="8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ubTitle" idx="1"/>
          </p:nvPr>
        </p:nvSpPr>
        <p:spPr>
          <a:xfrm>
            <a:off x="835600" y="1892969"/>
            <a:ext cx="9911200" cy="533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/>
            </a:lvl1pPr>
            <a:lvl2pPr lvl="1" rtl="0">
              <a:spcBef>
                <a:spcPts val="1067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4000"/>
            </a:lvl2pPr>
            <a:lvl3pPr lvl="2" rtl="0">
              <a:spcBef>
                <a:spcPts val="1067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4000"/>
            </a:lvl3pPr>
            <a:lvl4pPr lvl="3" rtl="0">
              <a:spcBef>
                <a:spcPts val="1067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spcBef>
                <a:spcPts val="1067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spcBef>
                <a:spcPts val="1067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spcBef>
                <a:spcPts val="1067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spcBef>
                <a:spcPts val="1067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spcBef>
                <a:spcPts val="1067"/>
              </a:spcBef>
              <a:spcAft>
                <a:spcPts val="1067"/>
              </a:spcAft>
              <a:buSzPts val="3000"/>
              <a:buNone/>
              <a:defRPr sz="40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9152668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Quote">
    <p:bg>
      <p:bgPr>
        <a:gradFill>
          <a:gsLst>
            <a:gs pos="0">
              <a:schemeClr val="accent3"/>
            </a:gs>
            <a:gs pos="100000">
              <a:schemeClr val="dk1"/>
            </a:gs>
          </a:gsLst>
          <a:path path="circle">
            <a:fillToRect l="100000" b="100000"/>
          </a:path>
          <a:tileRect t="-100000" r="-100000"/>
        </a:gradFill>
        <a:effectLst/>
      </p:bgPr>
    </p:bg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Google Shape;17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1343600" y="1295367"/>
            <a:ext cx="8156400" cy="4554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60958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Barlow Medium"/>
              <a:buChar char="▸"/>
              <a:defRPr sz="48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marL="1219170" lvl="1" indent="-609585" rtl="0">
              <a:spcBef>
                <a:spcPts val="1067"/>
              </a:spcBef>
              <a:spcAft>
                <a:spcPts val="0"/>
              </a:spcAft>
              <a:buClr>
                <a:schemeClr val="lt1"/>
              </a:buClr>
              <a:buSzPts val="3600"/>
              <a:buFont typeface="Barlow Medium"/>
              <a:buChar char="▹"/>
              <a:defRPr sz="48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marL="1828754" lvl="2" indent="-609585" rtl="0">
              <a:spcBef>
                <a:spcPts val="1067"/>
              </a:spcBef>
              <a:spcAft>
                <a:spcPts val="0"/>
              </a:spcAft>
              <a:buClr>
                <a:schemeClr val="lt1"/>
              </a:buClr>
              <a:buSzPts val="3600"/>
              <a:buFont typeface="Barlow Medium"/>
              <a:buChar char="▹"/>
              <a:defRPr sz="48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marL="2438339" lvl="3" indent="-609585" rtl="0">
              <a:spcBef>
                <a:spcPts val="1067"/>
              </a:spcBef>
              <a:spcAft>
                <a:spcPts val="0"/>
              </a:spcAft>
              <a:buClr>
                <a:schemeClr val="lt1"/>
              </a:buClr>
              <a:buSzPts val="3600"/>
              <a:buFont typeface="Barlow Medium"/>
              <a:buChar char="●"/>
              <a:defRPr sz="48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marL="3047924" lvl="4" indent="-609585" rtl="0">
              <a:spcBef>
                <a:spcPts val="1067"/>
              </a:spcBef>
              <a:spcAft>
                <a:spcPts val="0"/>
              </a:spcAft>
              <a:buClr>
                <a:schemeClr val="lt1"/>
              </a:buClr>
              <a:buSzPts val="3600"/>
              <a:buFont typeface="Barlow Medium"/>
              <a:buChar char="○"/>
              <a:defRPr sz="48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marL="3657509" lvl="5" indent="-609585" rtl="0">
              <a:spcBef>
                <a:spcPts val="1067"/>
              </a:spcBef>
              <a:spcAft>
                <a:spcPts val="0"/>
              </a:spcAft>
              <a:buClr>
                <a:schemeClr val="lt1"/>
              </a:buClr>
              <a:buSzPts val="3600"/>
              <a:buFont typeface="Barlow Medium"/>
              <a:buChar char="■"/>
              <a:defRPr sz="48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marL="4267093" lvl="6" indent="-609585" rtl="0">
              <a:spcBef>
                <a:spcPts val="1067"/>
              </a:spcBef>
              <a:spcAft>
                <a:spcPts val="0"/>
              </a:spcAft>
              <a:buClr>
                <a:schemeClr val="lt1"/>
              </a:buClr>
              <a:buSzPts val="3600"/>
              <a:buFont typeface="Barlow Medium"/>
              <a:buChar char="●"/>
              <a:defRPr sz="48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marL="4876678" lvl="7" indent="-609585" rtl="0">
              <a:spcBef>
                <a:spcPts val="1067"/>
              </a:spcBef>
              <a:spcAft>
                <a:spcPts val="0"/>
              </a:spcAft>
              <a:buClr>
                <a:schemeClr val="lt1"/>
              </a:buClr>
              <a:buSzPts val="3600"/>
              <a:buFont typeface="Barlow Medium"/>
              <a:buChar char="○"/>
              <a:defRPr sz="48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marL="5486263" lvl="8" indent="-609585" rtl="0">
              <a:spcBef>
                <a:spcPts val="1067"/>
              </a:spcBef>
              <a:spcAft>
                <a:spcPts val="1067"/>
              </a:spcAft>
              <a:buClr>
                <a:schemeClr val="lt1"/>
              </a:buClr>
              <a:buSzPts val="3600"/>
              <a:buFont typeface="Barlow Medium"/>
              <a:buChar char="■"/>
              <a:defRPr sz="48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Google Shape;19;p4"/>
          <p:cNvSpPr txBox="1"/>
          <p:nvPr/>
        </p:nvSpPr>
        <p:spPr>
          <a:xfrm>
            <a:off x="708500" y="810592"/>
            <a:ext cx="2609600" cy="8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800">
                <a:solidFill>
                  <a:schemeClr val="accent2"/>
                </a:solidFill>
                <a:latin typeface="Bebas Neue"/>
                <a:ea typeface="Bebas Neue"/>
                <a:cs typeface="Bebas Neue"/>
                <a:sym typeface="Bebas Neue"/>
              </a:rPr>
              <a:t>“</a:t>
            </a:r>
            <a:endParaRPr sz="12800">
              <a:solidFill>
                <a:schemeClr val="accent2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20" name="Google Shape;20;p4"/>
          <p:cNvSpPr txBox="1">
            <a:spLocks noGrp="1"/>
          </p:cNvSpPr>
          <p:nvPr>
            <p:ph type="sldNum" idx="12"/>
          </p:nvPr>
        </p:nvSpPr>
        <p:spPr>
          <a:xfrm>
            <a:off x="11205845" y="6231535"/>
            <a:ext cx="731600" cy="524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>
                <a:solidFill>
                  <a:schemeClr val="accent2"/>
                </a:solidFill>
              </a:defRPr>
            </a:lvl1pPr>
            <a:lvl2pPr lvl="1" rtl="0">
              <a:buNone/>
              <a:defRPr>
                <a:solidFill>
                  <a:schemeClr val="accent2"/>
                </a:solidFill>
              </a:defRPr>
            </a:lvl2pPr>
            <a:lvl3pPr lvl="2" rtl="0">
              <a:buNone/>
              <a:defRPr>
                <a:solidFill>
                  <a:schemeClr val="accent2"/>
                </a:solidFill>
              </a:defRPr>
            </a:lvl3pPr>
            <a:lvl4pPr lvl="3" rtl="0">
              <a:buNone/>
              <a:defRPr>
                <a:solidFill>
                  <a:schemeClr val="accent2"/>
                </a:solidFill>
              </a:defRPr>
            </a:lvl4pPr>
            <a:lvl5pPr lvl="4" rtl="0">
              <a:buNone/>
              <a:defRPr>
                <a:solidFill>
                  <a:schemeClr val="accent2"/>
                </a:solidFill>
              </a:defRPr>
            </a:lvl5pPr>
            <a:lvl6pPr lvl="5" rtl="0">
              <a:buNone/>
              <a:defRPr>
                <a:solidFill>
                  <a:schemeClr val="accent2"/>
                </a:solidFill>
              </a:defRPr>
            </a:lvl6pPr>
            <a:lvl7pPr lvl="6" rtl="0">
              <a:buNone/>
              <a:defRPr>
                <a:solidFill>
                  <a:schemeClr val="accent2"/>
                </a:solidFill>
              </a:defRPr>
            </a:lvl7pPr>
            <a:lvl8pPr lvl="7" rtl="0">
              <a:buNone/>
              <a:defRPr>
                <a:solidFill>
                  <a:schemeClr val="accent2"/>
                </a:solidFill>
              </a:defRPr>
            </a:lvl8pPr>
            <a:lvl9pPr lvl="8" rtl="0">
              <a:buNone/>
              <a:defRPr>
                <a:solidFill>
                  <a:schemeClr val="accent2"/>
                </a:solidFill>
              </a:defRPr>
            </a:lvl9pPr>
          </a:lstStyle>
          <a:p>
            <a:fld id="{14939233-E1B2-49F2-A72B-2AEA50DF874D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6111138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1 column" type="tx">
  <p:cSld name="Title + 1 column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Google Shape;22;p5"/>
          <p:cNvPicPr preferRelativeResize="0"/>
          <p:nvPr/>
        </p:nvPicPr>
        <p:blipFill>
          <a:blip r:embed="rId2">
            <a:alphaModFix amt="75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5"/>
          <p:cNvSpPr/>
          <p:nvPr/>
        </p:nvSpPr>
        <p:spPr>
          <a:xfrm rot="5400000">
            <a:off x="970800" y="-970600"/>
            <a:ext cx="2503600" cy="4444800"/>
          </a:xfrm>
          <a:prstGeom prst="rtTriangle">
            <a:avLst/>
          </a:prstGeom>
          <a:gradFill>
            <a:gsLst>
              <a:gs pos="0">
                <a:schemeClr val="accent3"/>
              </a:gs>
              <a:gs pos="50000">
                <a:schemeClr val="accent2"/>
              </a:gs>
              <a:gs pos="100000">
                <a:schemeClr val="accent1"/>
              </a:gs>
            </a:gsLst>
            <a:lin ang="0" scaled="0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4" name="Google Shape;24;p5"/>
          <p:cNvSpPr/>
          <p:nvPr/>
        </p:nvSpPr>
        <p:spPr>
          <a:xfrm rot="-5400000">
            <a:off x="10322500" y="4988533"/>
            <a:ext cx="1347200" cy="2391600"/>
          </a:xfrm>
          <a:prstGeom prst="rtTriangle">
            <a:avLst/>
          </a:prstGeom>
          <a:gradFill>
            <a:gsLst>
              <a:gs pos="0">
                <a:schemeClr val="accent2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5" name="Google Shape;25;p5"/>
          <p:cNvSpPr txBox="1">
            <a:spLocks noGrp="1"/>
          </p:cNvSpPr>
          <p:nvPr>
            <p:ph type="title"/>
          </p:nvPr>
        </p:nvSpPr>
        <p:spPr>
          <a:xfrm>
            <a:off x="1140400" y="1114667"/>
            <a:ext cx="9920400" cy="528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body" idx="1"/>
          </p:nvPr>
        </p:nvSpPr>
        <p:spPr>
          <a:xfrm>
            <a:off x="1140400" y="2102067"/>
            <a:ext cx="9920400" cy="3748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507987" rtl="0">
              <a:spcBef>
                <a:spcPts val="0"/>
              </a:spcBef>
              <a:spcAft>
                <a:spcPts val="0"/>
              </a:spcAft>
              <a:buSzPts val="2400"/>
              <a:buChar char="▸"/>
              <a:defRPr/>
            </a:lvl1pPr>
            <a:lvl2pPr marL="1219170" lvl="1" indent="-507987" rtl="0">
              <a:spcBef>
                <a:spcPts val="1067"/>
              </a:spcBef>
              <a:spcAft>
                <a:spcPts val="0"/>
              </a:spcAft>
              <a:buSzPts val="2400"/>
              <a:buChar char="▹"/>
              <a:defRPr/>
            </a:lvl2pPr>
            <a:lvl3pPr marL="1828754" lvl="2" indent="-507987" rtl="0">
              <a:spcBef>
                <a:spcPts val="1067"/>
              </a:spcBef>
              <a:spcAft>
                <a:spcPts val="0"/>
              </a:spcAft>
              <a:buSzPts val="2400"/>
              <a:buChar char="▹"/>
              <a:defRPr/>
            </a:lvl3pPr>
            <a:lvl4pPr marL="2438339" lvl="3" indent="-507987" rtl="0">
              <a:spcBef>
                <a:spcPts val="1067"/>
              </a:spcBef>
              <a:spcAft>
                <a:spcPts val="0"/>
              </a:spcAft>
              <a:buSzPts val="2400"/>
              <a:buChar char="●"/>
              <a:defRPr/>
            </a:lvl4pPr>
            <a:lvl5pPr marL="3047924" lvl="4" indent="-507987" rtl="0">
              <a:spcBef>
                <a:spcPts val="1067"/>
              </a:spcBef>
              <a:spcAft>
                <a:spcPts val="0"/>
              </a:spcAft>
              <a:buSzPts val="2400"/>
              <a:buChar char="○"/>
              <a:defRPr/>
            </a:lvl5pPr>
            <a:lvl6pPr marL="3657509" lvl="5" indent="-507987" rtl="0">
              <a:spcBef>
                <a:spcPts val="1067"/>
              </a:spcBef>
              <a:spcAft>
                <a:spcPts val="0"/>
              </a:spcAft>
              <a:buSzPts val="2400"/>
              <a:buChar char="■"/>
              <a:defRPr/>
            </a:lvl6pPr>
            <a:lvl7pPr marL="4267093" lvl="6" indent="-507987" rtl="0">
              <a:spcBef>
                <a:spcPts val="1067"/>
              </a:spcBef>
              <a:spcAft>
                <a:spcPts val="0"/>
              </a:spcAft>
              <a:buSzPts val="2400"/>
              <a:buChar char="●"/>
              <a:defRPr/>
            </a:lvl7pPr>
            <a:lvl8pPr marL="4876678" lvl="7" indent="-507987" rtl="0">
              <a:spcBef>
                <a:spcPts val="1067"/>
              </a:spcBef>
              <a:spcAft>
                <a:spcPts val="0"/>
              </a:spcAft>
              <a:buSzPts val="2400"/>
              <a:buChar char="○"/>
              <a:defRPr/>
            </a:lvl8pPr>
            <a:lvl9pPr marL="5486263" lvl="8" indent="-507987" rtl="0">
              <a:spcBef>
                <a:spcPts val="1067"/>
              </a:spcBef>
              <a:spcAft>
                <a:spcPts val="1067"/>
              </a:spcAft>
              <a:buSzPts val="2400"/>
              <a:buChar char="■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Google Shape;27;p5"/>
          <p:cNvSpPr txBox="1">
            <a:spLocks noGrp="1"/>
          </p:cNvSpPr>
          <p:nvPr>
            <p:ph type="sldNum" idx="12"/>
          </p:nvPr>
        </p:nvSpPr>
        <p:spPr>
          <a:xfrm>
            <a:off x="11205845" y="6231535"/>
            <a:ext cx="731600" cy="524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14939233-E1B2-49F2-A72B-2AEA50DF874D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8527050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2 columns" type="twoColTx">
  <p:cSld name="Title + 2 columns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oogle Shape;29;p6"/>
          <p:cNvPicPr preferRelativeResize="0"/>
          <p:nvPr/>
        </p:nvPicPr>
        <p:blipFill>
          <a:blip r:embed="rId2">
            <a:alphaModFix amt="75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6"/>
          <p:cNvSpPr/>
          <p:nvPr/>
        </p:nvSpPr>
        <p:spPr>
          <a:xfrm rot="5400000">
            <a:off x="970800" y="-970600"/>
            <a:ext cx="2503600" cy="4444800"/>
          </a:xfrm>
          <a:prstGeom prst="rtTriangle">
            <a:avLst/>
          </a:prstGeom>
          <a:gradFill>
            <a:gsLst>
              <a:gs pos="0">
                <a:schemeClr val="accent3"/>
              </a:gs>
              <a:gs pos="50000">
                <a:schemeClr val="accent2"/>
              </a:gs>
              <a:gs pos="100000">
                <a:schemeClr val="accent1"/>
              </a:gs>
            </a:gsLst>
            <a:lin ang="0" scaled="0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1" name="Google Shape;31;p6"/>
          <p:cNvSpPr/>
          <p:nvPr/>
        </p:nvSpPr>
        <p:spPr>
          <a:xfrm rot="-5400000">
            <a:off x="10322500" y="4988533"/>
            <a:ext cx="1347200" cy="2391600"/>
          </a:xfrm>
          <a:prstGeom prst="rtTriangle">
            <a:avLst/>
          </a:prstGeom>
          <a:gradFill>
            <a:gsLst>
              <a:gs pos="0">
                <a:schemeClr val="accent2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2" name="Google Shape;32;p6"/>
          <p:cNvSpPr txBox="1">
            <a:spLocks noGrp="1"/>
          </p:cNvSpPr>
          <p:nvPr>
            <p:ph type="title"/>
          </p:nvPr>
        </p:nvSpPr>
        <p:spPr>
          <a:xfrm>
            <a:off x="1140400" y="1114667"/>
            <a:ext cx="9920400" cy="528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3" name="Google Shape;33;p6"/>
          <p:cNvSpPr txBox="1">
            <a:spLocks noGrp="1"/>
          </p:cNvSpPr>
          <p:nvPr>
            <p:ph type="body" idx="1"/>
          </p:nvPr>
        </p:nvSpPr>
        <p:spPr>
          <a:xfrm>
            <a:off x="1140367" y="2102067"/>
            <a:ext cx="4630800" cy="412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474121" rtl="0">
              <a:spcBef>
                <a:spcPts val="0"/>
              </a:spcBef>
              <a:spcAft>
                <a:spcPts val="0"/>
              </a:spcAft>
              <a:buSzPts val="2000"/>
              <a:buChar char="▸"/>
              <a:defRPr sz="2667"/>
            </a:lvl1pPr>
            <a:lvl2pPr marL="1219170" lvl="1" indent="-474121" rtl="0">
              <a:spcBef>
                <a:spcPts val="1067"/>
              </a:spcBef>
              <a:spcAft>
                <a:spcPts val="0"/>
              </a:spcAft>
              <a:buSzPts val="2000"/>
              <a:buChar char="▹"/>
              <a:defRPr sz="2667"/>
            </a:lvl2pPr>
            <a:lvl3pPr marL="1828754" lvl="2" indent="-474121" rtl="0">
              <a:spcBef>
                <a:spcPts val="1067"/>
              </a:spcBef>
              <a:spcAft>
                <a:spcPts val="0"/>
              </a:spcAft>
              <a:buSzPts val="2000"/>
              <a:buChar char="▹"/>
              <a:defRPr sz="2667"/>
            </a:lvl3pPr>
            <a:lvl4pPr marL="2438339" lvl="3" indent="-474121" rtl="0">
              <a:spcBef>
                <a:spcPts val="1067"/>
              </a:spcBef>
              <a:spcAft>
                <a:spcPts val="0"/>
              </a:spcAft>
              <a:buSzPts val="2000"/>
              <a:buChar char="●"/>
              <a:defRPr sz="2667"/>
            </a:lvl4pPr>
            <a:lvl5pPr marL="3047924" lvl="4" indent="-474121" rtl="0">
              <a:spcBef>
                <a:spcPts val="1067"/>
              </a:spcBef>
              <a:spcAft>
                <a:spcPts val="0"/>
              </a:spcAft>
              <a:buSzPts val="2000"/>
              <a:buChar char="○"/>
              <a:defRPr sz="2667"/>
            </a:lvl5pPr>
            <a:lvl6pPr marL="3657509" lvl="5" indent="-474121" rtl="0">
              <a:spcBef>
                <a:spcPts val="1067"/>
              </a:spcBef>
              <a:spcAft>
                <a:spcPts val="0"/>
              </a:spcAft>
              <a:buSzPts val="2000"/>
              <a:buChar char="■"/>
              <a:defRPr sz="2667"/>
            </a:lvl6pPr>
            <a:lvl7pPr marL="4267093" lvl="6" indent="-474121" rtl="0">
              <a:spcBef>
                <a:spcPts val="1067"/>
              </a:spcBef>
              <a:spcAft>
                <a:spcPts val="0"/>
              </a:spcAft>
              <a:buSzPts val="2000"/>
              <a:buChar char="●"/>
              <a:defRPr sz="2667"/>
            </a:lvl7pPr>
            <a:lvl8pPr marL="4876678" lvl="7" indent="-474121" rtl="0">
              <a:spcBef>
                <a:spcPts val="1067"/>
              </a:spcBef>
              <a:spcAft>
                <a:spcPts val="0"/>
              </a:spcAft>
              <a:buSzPts val="2000"/>
              <a:buChar char="○"/>
              <a:defRPr sz="2667"/>
            </a:lvl8pPr>
            <a:lvl9pPr marL="5486263" lvl="8" indent="-474121" rtl="0">
              <a:spcBef>
                <a:spcPts val="1067"/>
              </a:spcBef>
              <a:spcAft>
                <a:spcPts val="1067"/>
              </a:spcAft>
              <a:buSzPts val="2000"/>
              <a:buChar char="■"/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Google Shape;34;p6"/>
          <p:cNvSpPr txBox="1">
            <a:spLocks noGrp="1"/>
          </p:cNvSpPr>
          <p:nvPr>
            <p:ph type="body" idx="2"/>
          </p:nvPr>
        </p:nvSpPr>
        <p:spPr>
          <a:xfrm>
            <a:off x="6420799" y="2102067"/>
            <a:ext cx="4630800" cy="412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474121" rtl="0">
              <a:spcBef>
                <a:spcPts val="0"/>
              </a:spcBef>
              <a:spcAft>
                <a:spcPts val="0"/>
              </a:spcAft>
              <a:buSzPts val="2000"/>
              <a:buChar char="▸"/>
              <a:defRPr sz="2667"/>
            </a:lvl1pPr>
            <a:lvl2pPr marL="1219170" lvl="1" indent="-474121" rtl="0">
              <a:spcBef>
                <a:spcPts val="1067"/>
              </a:spcBef>
              <a:spcAft>
                <a:spcPts val="0"/>
              </a:spcAft>
              <a:buSzPts val="2000"/>
              <a:buChar char="▹"/>
              <a:defRPr sz="2667"/>
            </a:lvl2pPr>
            <a:lvl3pPr marL="1828754" lvl="2" indent="-474121" rtl="0">
              <a:spcBef>
                <a:spcPts val="1067"/>
              </a:spcBef>
              <a:spcAft>
                <a:spcPts val="0"/>
              </a:spcAft>
              <a:buSzPts val="2000"/>
              <a:buChar char="▹"/>
              <a:defRPr sz="2667"/>
            </a:lvl3pPr>
            <a:lvl4pPr marL="2438339" lvl="3" indent="-474121" rtl="0">
              <a:spcBef>
                <a:spcPts val="1067"/>
              </a:spcBef>
              <a:spcAft>
                <a:spcPts val="0"/>
              </a:spcAft>
              <a:buSzPts val="2000"/>
              <a:buChar char="●"/>
              <a:defRPr sz="2667"/>
            </a:lvl4pPr>
            <a:lvl5pPr marL="3047924" lvl="4" indent="-474121" rtl="0">
              <a:spcBef>
                <a:spcPts val="1067"/>
              </a:spcBef>
              <a:spcAft>
                <a:spcPts val="0"/>
              </a:spcAft>
              <a:buSzPts val="2000"/>
              <a:buChar char="○"/>
              <a:defRPr sz="2667"/>
            </a:lvl5pPr>
            <a:lvl6pPr marL="3657509" lvl="5" indent="-474121" rtl="0">
              <a:spcBef>
                <a:spcPts val="1067"/>
              </a:spcBef>
              <a:spcAft>
                <a:spcPts val="0"/>
              </a:spcAft>
              <a:buSzPts val="2000"/>
              <a:buChar char="■"/>
              <a:defRPr sz="2667"/>
            </a:lvl6pPr>
            <a:lvl7pPr marL="4267093" lvl="6" indent="-474121" rtl="0">
              <a:spcBef>
                <a:spcPts val="1067"/>
              </a:spcBef>
              <a:spcAft>
                <a:spcPts val="0"/>
              </a:spcAft>
              <a:buSzPts val="2000"/>
              <a:buChar char="●"/>
              <a:defRPr sz="2667"/>
            </a:lvl7pPr>
            <a:lvl8pPr marL="4876678" lvl="7" indent="-474121" rtl="0">
              <a:spcBef>
                <a:spcPts val="1067"/>
              </a:spcBef>
              <a:spcAft>
                <a:spcPts val="0"/>
              </a:spcAft>
              <a:buSzPts val="2000"/>
              <a:buChar char="○"/>
              <a:defRPr sz="2667"/>
            </a:lvl8pPr>
            <a:lvl9pPr marL="5486263" lvl="8" indent="-474121" rtl="0">
              <a:spcBef>
                <a:spcPts val="1067"/>
              </a:spcBef>
              <a:spcAft>
                <a:spcPts val="1067"/>
              </a:spcAft>
              <a:buSzPts val="2000"/>
              <a:buChar char="■"/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Google Shape;35;p6"/>
          <p:cNvSpPr txBox="1">
            <a:spLocks noGrp="1"/>
          </p:cNvSpPr>
          <p:nvPr>
            <p:ph type="sldNum" idx="12"/>
          </p:nvPr>
        </p:nvSpPr>
        <p:spPr>
          <a:xfrm>
            <a:off x="11205845" y="6231535"/>
            <a:ext cx="731600" cy="524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14939233-E1B2-49F2-A72B-2AEA50DF874D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678728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3 columns">
  <p:cSld name="Title + 3 columns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Google Shape;37;p7"/>
          <p:cNvPicPr preferRelativeResize="0"/>
          <p:nvPr/>
        </p:nvPicPr>
        <p:blipFill>
          <a:blip r:embed="rId2">
            <a:alphaModFix amt="75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7"/>
          <p:cNvSpPr/>
          <p:nvPr/>
        </p:nvSpPr>
        <p:spPr>
          <a:xfrm rot="5400000">
            <a:off x="970800" y="-970600"/>
            <a:ext cx="2503600" cy="4444800"/>
          </a:xfrm>
          <a:prstGeom prst="rtTriangle">
            <a:avLst/>
          </a:prstGeom>
          <a:gradFill>
            <a:gsLst>
              <a:gs pos="0">
                <a:schemeClr val="accent3"/>
              </a:gs>
              <a:gs pos="50000">
                <a:schemeClr val="accent2"/>
              </a:gs>
              <a:gs pos="100000">
                <a:schemeClr val="accent1"/>
              </a:gs>
            </a:gsLst>
            <a:lin ang="0" scaled="0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9" name="Google Shape;39;p7"/>
          <p:cNvSpPr/>
          <p:nvPr/>
        </p:nvSpPr>
        <p:spPr>
          <a:xfrm rot="-5400000">
            <a:off x="10322500" y="4988533"/>
            <a:ext cx="1347200" cy="2391600"/>
          </a:xfrm>
          <a:prstGeom prst="rtTriangle">
            <a:avLst/>
          </a:prstGeom>
          <a:gradFill>
            <a:gsLst>
              <a:gs pos="0">
                <a:schemeClr val="accent2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0" name="Google Shape;40;p7"/>
          <p:cNvSpPr txBox="1">
            <a:spLocks noGrp="1"/>
          </p:cNvSpPr>
          <p:nvPr>
            <p:ph type="title"/>
          </p:nvPr>
        </p:nvSpPr>
        <p:spPr>
          <a:xfrm>
            <a:off x="1140400" y="1114667"/>
            <a:ext cx="9920400" cy="528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1" name="Google Shape;41;p7"/>
          <p:cNvSpPr txBox="1">
            <a:spLocks noGrp="1"/>
          </p:cNvSpPr>
          <p:nvPr>
            <p:ph type="body" idx="1"/>
          </p:nvPr>
        </p:nvSpPr>
        <p:spPr>
          <a:xfrm>
            <a:off x="1140400" y="2102067"/>
            <a:ext cx="3087600" cy="412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457189" rtl="0">
              <a:spcBef>
                <a:spcPts val="0"/>
              </a:spcBef>
              <a:spcAft>
                <a:spcPts val="0"/>
              </a:spcAft>
              <a:buSzPts val="1800"/>
              <a:buChar char="▸"/>
              <a:defRPr sz="2400"/>
            </a:lvl1pPr>
            <a:lvl2pPr marL="1219170" lvl="1" indent="-457189" rtl="0">
              <a:spcBef>
                <a:spcPts val="1067"/>
              </a:spcBef>
              <a:spcAft>
                <a:spcPts val="0"/>
              </a:spcAft>
              <a:buSzPts val="1800"/>
              <a:buChar char="▹"/>
              <a:defRPr sz="2400"/>
            </a:lvl2pPr>
            <a:lvl3pPr marL="1828754" lvl="2" indent="-457189" rtl="0">
              <a:spcBef>
                <a:spcPts val="1067"/>
              </a:spcBef>
              <a:spcAft>
                <a:spcPts val="0"/>
              </a:spcAft>
              <a:buSzPts val="1800"/>
              <a:buChar char="▹"/>
              <a:defRPr sz="2400"/>
            </a:lvl3pPr>
            <a:lvl4pPr marL="2438339" lvl="3" indent="-457189" rtl="0">
              <a:spcBef>
                <a:spcPts val="1067"/>
              </a:spcBef>
              <a:spcAft>
                <a:spcPts val="0"/>
              </a:spcAft>
              <a:buSzPts val="1800"/>
              <a:buChar char="●"/>
              <a:defRPr sz="2400"/>
            </a:lvl4pPr>
            <a:lvl5pPr marL="3047924" lvl="4" indent="-457189" rtl="0">
              <a:spcBef>
                <a:spcPts val="1067"/>
              </a:spcBef>
              <a:spcAft>
                <a:spcPts val="0"/>
              </a:spcAft>
              <a:buSzPts val="1800"/>
              <a:buChar char="○"/>
              <a:defRPr sz="2400"/>
            </a:lvl5pPr>
            <a:lvl6pPr marL="3657509" lvl="5" indent="-457189" rtl="0">
              <a:spcBef>
                <a:spcPts val="1067"/>
              </a:spcBef>
              <a:spcAft>
                <a:spcPts val="0"/>
              </a:spcAft>
              <a:buSzPts val="1800"/>
              <a:buChar char="■"/>
              <a:defRPr sz="2400"/>
            </a:lvl6pPr>
            <a:lvl7pPr marL="4267093" lvl="6" indent="-457189" rtl="0">
              <a:spcBef>
                <a:spcPts val="1067"/>
              </a:spcBef>
              <a:spcAft>
                <a:spcPts val="0"/>
              </a:spcAft>
              <a:buSzPts val="1800"/>
              <a:buChar char="●"/>
              <a:defRPr sz="2400"/>
            </a:lvl7pPr>
            <a:lvl8pPr marL="4876678" lvl="7" indent="-457189" rtl="0">
              <a:spcBef>
                <a:spcPts val="1067"/>
              </a:spcBef>
              <a:spcAft>
                <a:spcPts val="0"/>
              </a:spcAft>
              <a:buSzPts val="1800"/>
              <a:buChar char="○"/>
              <a:defRPr sz="2400"/>
            </a:lvl8pPr>
            <a:lvl9pPr marL="5486263" lvl="8" indent="-457189" rtl="0">
              <a:spcBef>
                <a:spcPts val="1067"/>
              </a:spcBef>
              <a:spcAft>
                <a:spcPts val="1067"/>
              </a:spcAft>
              <a:buSzPts val="1800"/>
              <a:buChar char="■"/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2"/>
          </p:nvPr>
        </p:nvSpPr>
        <p:spPr>
          <a:xfrm>
            <a:off x="4552267" y="2102067"/>
            <a:ext cx="3087600" cy="412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457189" rtl="0">
              <a:spcBef>
                <a:spcPts val="0"/>
              </a:spcBef>
              <a:spcAft>
                <a:spcPts val="0"/>
              </a:spcAft>
              <a:buSzPts val="1800"/>
              <a:buChar char="▸"/>
              <a:defRPr sz="2400"/>
            </a:lvl1pPr>
            <a:lvl2pPr marL="1219170" lvl="1" indent="-457189" rtl="0">
              <a:spcBef>
                <a:spcPts val="1067"/>
              </a:spcBef>
              <a:spcAft>
                <a:spcPts val="0"/>
              </a:spcAft>
              <a:buSzPts val="1800"/>
              <a:buChar char="▹"/>
              <a:defRPr sz="2400"/>
            </a:lvl2pPr>
            <a:lvl3pPr marL="1828754" lvl="2" indent="-457189" rtl="0">
              <a:spcBef>
                <a:spcPts val="1067"/>
              </a:spcBef>
              <a:spcAft>
                <a:spcPts val="0"/>
              </a:spcAft>
              <a:buSzPts val="1800"/>
              <a:buChar char="▹"/>
              <a:defRPr sz="2400"/>
            </a:lvl3pPr>
            <a:lvl4pPr marL="2438339" lvl="3" indent="-457189" rtl="0">
              <a:spcBef>
                <a:spcPts val="1067"/>
              </a:spcBef>
              <a:spcAft>
                <a:spcPts val="0"/>
              </a:spcAft>
              <a:buSzPts val="1800"/>
              <a:buChar char="●"/>
              <a:defRPr sz="2400"/>
            </a:lvl4pPr>
            <a:lvl5pPr marL="3047924" lvl="4" indent="-457189" rtl="0">
              <a:spcBef>
                <a:spcPts val="1067"/>
              </a:spcBef>
              <a:spcAft>
                <a:spcPts val="0"/>
              </a:spcAft>
              <a:buSzPts val="1800"/>
              <a:buChar char="○"/>
              <a:defRPr sz="2400"/>
            </a:lvl5pPr>
            <a:lvl6pPr marL="3657509" lvl="5" indent="-457189" rtl="0">
              <a:spcBef>
                <a:spcPts val="1067"/>
              </a:spcBef>
              <a:spcAft>
                <a:spcPts val="0"/>
              </a:spcAft>
              <a:buSzPts val="1800"/>
              <a:buChar char="■"/>
              <a:defRPr sz="2400"/>
            </a:lvl6pPr>
            <a:lvl7pPr marL="4267093" lvl="6" indent="-457189" rtl="0">
              <a:spcBef>
                <a:spcPts val="1067"/>
              </a:spcBef>
              <a:spcAft>
                <a:spcPts val="0"/>
              </a:spcAft>
              <a:buSzPts val="1800"/>
              <a:buChar char="●"/>
              <a:defRPr sz="2400"/>
            </a:lvl7pPr>
            <a:lvl8pPr marL="4876678" lvl="7" indent="-457189" rtl="0">
              <a:spcBef>
                <a:spcPts val="1067"/>
              </a:spcBef>
              <a:spcAft>
                <a:spcPts val="0"/>
              </a:spcAft>
              <a:buSzPts val="1800"/>
              <a:buChar char="○"/>
              <a:defRPr sz="2400"/>
            </a:lvl8pPr>
            <a:lvl9pPr marL="5486263" lvl="8" indent="-457189" rtl="0">
              <a:spcBef>
                <a:spcPts val="1067"/>
              </a:spcBef>
              <a:spcAft>
                <a:spcPts val="1067"/>
              </a:spcAft>
              <a:buSzPts val="1800"/>
              <a:buChar char="■"/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3"/>
          </p:nvPr>
        </p:nvSpPr>
        <p:spPr>
          <a:xfrm>
            <a:off x="7964132" y="2102067"/>
            <a:ext cx="3087600" cy="412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457189" rtl="0">
              <a:spcBef>
                <a:spcPts val="0"/>
              </a:spcBef>
              <a:spcAft>
                <a:spcPts val="0"/>
              </a:spcAft>
              <a:buSzPts val="1800"/>
              <a:buChar char="▸"/>
              <a:defRPr sz="2400"/>
            </a:lvl1pPr>
            <a:lvl2pPr marL="1219170" lvl="1" indent="-457189" rtl="0">
              <a:spcBef>
                <a:spcPts val="1067"/>
              </a:spcBef>
              <a:spcAft>
                <a:spcPts val="0"/>
              </a:spcAft>
              <a:buSzPts val="1800"/>
              <a:buChar char="▹"/>
              <a:defRPr sz="2400"/>
            </a:lvl2pPr>
            <a:lvl3pPr marL="1828754" lvl="2" indent="-457189" rtl="0">
              <a:spcBef>
                <a:spcPts val="1067"/>
              </a:spcBef>
              <a:spcAft>
                <a:spcPts val="0"/>
              </a:spcAft>
              <a:buSzPts val="1800"/>
              <a:buChar char="▹"/>
              <a:defRPr sz="2400"/>
            </a:lvl3pPr>
            <a:lvl4pPr marL="2438339" lvl="3" indent="-457189" rtl="0">
              <a:spcBef>
                <a:spcPts val="1067"/>
              </a:spcBef>
              <a:spcAft>
                <a:spcPts val="0"/>
              </a:spcAft>
              <a:buSzPts val="1800"/>
              <a:buChar char="●"/>
              <a:defRPr sz="2400"/>
            </a:lvl4pPr>
            <a:lvl5pPr marL="3047924" lvl="4" indent="-457189" rtl="0">
              <a:spcBef>
                <a:spcPts val="1067"/>
              </a:spcBef>
              <a:spcAft>
                <a:spcPts val="0"/>
              </a:spcAft>
              <a:buSzPts val="1800"/>
              <a:buChar char="○"/>
              <a:defRPr sz="2400"/>
            </a:lvl5pPr>
            <a:lvl6pPr marL="3657509" lvl="5" indent="-457189" rtl="0">
              <a:spcBef>
                <a:spcPts val="1067"/>
              </a:spcBef>
              <a:spcAft>
                <a:spcPts val="0"/>
              </a:spcAft>
              <a:buSzPts val="1800"/>
              <a:buChar char="■"/>
              <a:defRPr sz="2400"/>
            </a:lvl6pPr>
            <a:lvl7pPr marL="4267093" lvl="6" indent="-457189" rtl="0">
              <a:spcBef>
                <a:spcPts val="1067"/>
              </a:spcBef>
              <a:spcAft>
                <a:spcPts val="0"/>
              </a:spcAft>
              <a:buSzPts val="1800"/>
              <a:buChar char="●"/>
              <a:defRPr sz="2400"/>
            </a:lvl7pPr>
            <a:lvl8pPr marL="4876678" lvl="7" indent="-457189" rtl="0">
              <a:spcBef>
                <a:spcPts val="1067"/>
              </a:spcBef>
              <a:spcAft>
                <a:spcPts val="0"/>
              </a:spcAft>
              <a:buSzPts val="1800"/>
              <a:buChar char="○"/>
              <a:defRPr sz="2400"/>
            </a:lvl8pPr>
            <a:lvl9pPr marL="5486263" lvl="8" indent="-457189" rtl="0">
              <a:spcBef>
                <a:spcPts val="1067"/>
              </a:spcBef>
              <a:spcAft>
                <a:spcPts val="1067"/>
              </a:spcAft>
              <a:buSzPts val="1800"/>
              <a:buChar char="■"/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Google Shape;44;p7"/>
          <p:cNvSpPr txBox="1">
            <a:spLocks noGrp="1"/>
          </p:cNvSpPr>
          <p:nvPr>
            <p:ph type="sldNum" idx="12"/>
          </p:nvPr>
        </p:nvSpPr>
        <p:spPr>
          <a:xfrm>
            <a:off x="11205845" y="6231535"/>
            <a:ext cx="731600" cy="524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14939233-E1B2-49F2-A72B-2AEA50DF874D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1521277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Google Shape;46;p8"/>
          <p:cNvPicPr preferRelativeResize="0"/>
          <p:nvPr/>
        </p:nvPicPr>
        <p:blipFill>
          <a:blip r:embed="rId2">
            <a:alphaModFix amt="75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Google Shape;47;p8"/>
          <p:cNvSpPr/>
          <p:nvPr/>
        </p:nvSpPr>
        <p:spPr>
          <a:xfrm rot="5400000">
            <a:off x="970800" y="-970600"/>
            <a:ext cx="2503600" cy="4444800"/>
          </a:xfrm>
          <a:prstGeom prst="rtTriangle">
            <a:avLst/>
          </a:prstGeom>
          <a:gradFill>
            <a:gsLst>
              <a:gs pos="0">
                <a:schemeClr val="accent3"/>
              </a:gs>
              <a:gs pos="50000">
                <a:schemeClr val="accent2"/>
              </a:gs>
              <a:gs pos="100000">
                <a:schemeClr val="accent1"/>
              </a:gs>
            </a:gsLst>
            <a:lin ang="0" scaled="0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8" name="Google Shape;48;p8"/>
          <p:cNvSpPr/>
          <p:nvPr/>
        </p:nvSpPr>
        <p:spPr>
          <a:xfrm rot="-5400000">
            <a:off x="10322500" y="4988533"/>
            <a:ext cx="1347200" cy="2391600"/>
          </a:xfrm>
          <a:prstGeom prst="rtTriangle">
            <a:avLst/>
          </a:prstGeom>
          <a:gradFill>
            <a:gsLst>
              <a:gs pos="0">
                <a:schemeClr val="accent2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9" name="Google Shape;49;p8"/>
          <p:cNvSpPr txBox="1">
            <a:spLocks noGrp="1"/>
          </p:cNvSpPr>
          <p:nvPr>
            <p:ph type="title"/>
          </p:nvPr>
        </p:nvSpPr>
        <p:spPr>
          <a:xfrm>
            <a:off x="1140400" y="1114667"/>
            <a:ext cx="9920400" cy="528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50" name="Google Shape;50;p8"/>
          <p:cNvSpPr txBox="1">
            <a:spLocks noGrp="1"/>
          </p:cNvSpPr>
          <p:nvPr>
            <p:ph type="sldNum" idx="12"/>
          </p:nvPr>
        </p:nvSpPr>
        <p:spPr>
          <a:xfrm>
            <a:off x="11205845" y="6231535"/>
            <a:ext cx="731600" cy="524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14939233-E1B2-49F2-A72B-2AEA50DF874D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780892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bg>
      <p:bgPr>
        <a:solidFill>
          <a:schemeClr val="lt2"/>
        </a:solidFill>
        <a:effectLst/>
      </p:bgPr>
    </p:bg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Google Shape;52;p9"/>
          <p:cNvPicPr preferRelativeResize="0"/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9"/>
          <p:cNvSpPr/>
          <p:nvPr/>
        </p:nvSpPr>
        <p:spPr>
          <a:xfrm rot="-5400000">
            <a:off x="10322500" y="4988533"/>
            <a:ext cx="1347200" cy="23916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54" name="Google Shape;54;p9"/>
          <p:cNvSpPr txBox="1">
            <a:spLocks noGrp="1"/>
          </p:cNvSpPr>
          <p:nvPr>
            <p:ph type="body" idx="1"/>
          </p:nvPr>
        </p:nvSpPr>
        <p:spPr>
          <a:xfrm>
            <a:off x="1140400" y="5875067"/>
            <a:ext cx="9911200" cy="692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304792" algn="ctr" rtl="0">
              <a:spcBef>
                <a:spcPts val="0"/>
              </a:spcBef>
              <a:spcAft>
                <a:spcPts val="1067"/>
              </a:spcAft>
              <a:buSzPts val="1800"/>
              <a:buNone/>
              <a:defRPr sz="2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5" name="Google Shape;55;p9"/>
          <p:cNvSpPr txBox="1">
            <a:spLocks noGrp="1"/>
          </p:cNvSpPr>
          <p:nvPr>
            <p:ph type="sldNum" idx="12"/>
          </p:nvPr>
        </p:nvSpPr>
        <p:spPr>
          <a:xfrm>
            <a:off x="11205845" y="6231535"/>
            <a:ext cx="731600" cy="524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>
                <a:solidFill>
                  <a:schemeClr val="dk1"/>
                </a:solidFill>
              </a:defRPr>
            </a:lvl1pPr>
            <a:lvl2pPr lvl="1" rtl="0">
              <a:buNone/>
              <a:defRPr>
                <a:solidFill>
                  <a:schemeClr val="dk1"/>
                </a:solidFill>
              </a:defRPr>
            </a:lvl2pPr>
            <a:lvl3pPr lvl="2" rtl="0">
              <a:buNone/>
              <a:defRPr>
                <a:solidFill>
                  <a:schemeClr val="dk1"/>
                </a:solidFill>
              </a:defRPr>
            </a:lvl3pPr>
            <a:lvl4pPr lvl="3" rtl="0">
              <a:buNone/>
              <a:defRPr>
                <a:solidFill>
                  <a:schemeClr val="dk1"/>
                </a:solidFill>
              </a:defRPr>
            </a:lvl4pPr>
            <a:lvl5pPr lvl="4" rtl="0">
              <a:buNone/>
              <a:defRPr>
                <a:solidFill>
                  <a:schemeClr val="dk1"/>
                </a:solidFill>
              </a:defRPr>
            </a:lvl5pPr>
            <a:lvl6pPr lvl="5" rtl="0">
              <a:buNone/>
              <a:defRPr>
                <a:solidFill>
                  <a:schemeClr val="dk1"/>
                </a:solidFill>
              </a:defRPr>
            </a:lvl6pPr>
            <a:lvl7pPr lvl="6" rtl="0">
              <a:buNone/>
              <a:defRPr>
                <a:solidFill>
                  <a:schemeClr val="dk1"/>
                </a:solidFill>
              </a:defRPr>
            </a:lvl7pPr>
            <a:lvl8pPr lvl="7" rtl="0">
              <a:buNone/>
              <a:defRPr>
                <a:solidFill>
                  <a:schemeClr val="dk1"/>
                </a:solidFill>
              </a:defRPr>
            </a:lvl8pPr>
            <a:lvl9pPr lvl="8" rtl="0">
              <a:buNone/>
              <a:defRPr>
                <a:solidFill>
                  <a:schemeClr val="dk1"/>
                </a:solidFill>
              </a:defRPr>
            </a:lvl9pPr>
          </a:lstStyle>
          <a:p>
            <a:fld id="{14939233-E1B2-49F2-A72B-2AEA50DF874D}" type="slidenum">
              <a:rPr lang="en-ID" smtClean="0"/>
              <a:t>‹#›</a:t>
            </a:fld>
            <a:endParaRPr lang="en-ID"/>
          </a:p>
        </p:txBody>
      </p:sp>
      <p:sp>
        <p:nvSpPr>
          <p:cNvPr id="56" name="Google Shape;56;p9"/>
          <p:cNvSpPr/>
          <p:nvPr/>
        </p:nvSpPr>
        <p:spPr>
          <a:xfrm rot="5400000">
            <a:off x="520800" y="-520800"/>
            <a:ext cx="1341200" cy="23828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12819903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" name="Google Shape;58;p10"/>
          <p:cNvPicPr preferRelativeResize="0"/>
          <p:nvPr/>
        </p:nvPicPr>
        <p:blipFill>
          <a:blip r:embed="rId2">
            <a:alphaModFix amt="75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10"/>
          <p:cNvSpPr/>
          <p:nvPr/>
        </p:nvSpPr>
        <p:spPr>
          <a:xfrm rot="5400000">
            <a:off x="520800" y="-520800"/>
            <a:ext cx="1341200" cy="2382800"/>
          </a:xfrm>
          <a:prstGeom prst="rtTriangle">
            <a:avLst/>
          </a:prstGeom>
          <a:gradFill>
            <a:gsLst>
              <a:gs pos="0">
                <a:schemeClr val="accent3"/>
              </a:gs>
              <a:gs pos="50000">
                <a:schemeClr val="accent2"/>
              </a:gs>
              <a:gs pos="100000">
                <a:schemeClr val="accent1"/>
              </a:gs>
            </a:gsLst>
            <a:lin ang="0" scaled="0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60" name="Google Shape;60;p10"/>
          <p:cNvSpPr/>
          <p:nvPr/>
        </p:nvSpPr>
        <p:spPr>
          <a:xfrm rot="-5400000">
            <a:off x="10322500" y="4988533"/>
            <a:ext cx="1347200" cy="2391600"/>
          </a:xfrm>
          <a:prstGeom prst="rtTriangle">
            <a:avLst/>
          </a:prstGeom>
          <a:gradFill>
            <a:gsLst>
              <a:gs pos="0">
                <a:schemeClr val="accent2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61" name="Google Shape;61;p10"/>
          <p:cNvSpPr txBox="1">
            <a:spLocks noGrp="1"/>
          </p:cNvSpPr>
          <p:nvPr>
            <p:ph type="sldNum" idx="12"/>
          </p:nvPr>
        </p:nvSpPr>
        <p:spPr>
          <a:xfrm>
            <a:off x="11205845" y="6231535"/>
            <a:ext cx="731600" cy="524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14939233-E1B2-49F2-A72B-2AEA50DF874D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0775953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A7F096-A174-4386-BB60-4744556124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969EB6-5AD5-890E-BCEA-8E93CD7957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A4D268-0835-A2F8-D510-26B212754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4D2E35-1595-42BE-8D7A-4133AEEBC892}" type="datetimeFigureOut">
              <a:rPr lang="en-ID" smtClean="0"/>
              <a:t>28/06/2022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A3948B-7635-BAEF-C899-D171FAF193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ED822A-82F1-5F52-DE75-5E65DBDD08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939233-E1B2-49F2-A72B-2AEA50DF874D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6342910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1140400" y="1114667"/>
            <a:ext cx="9920400" cy="52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Bebas Neue"/>
              <a:buNone/>
              <a:defRPr sz="36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Bebas Neue"/>
              <a:buNone/>
              <a:defRPr sz="36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Bebas Neue"/>
              <a:buNone/>
              <a:defRPr sz="36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Bebas Neue"/>
              <a:buNone/>
              <a:defRPr sz="36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Bebas Neue"/>
              <a:buNone/>
              <a:defRPr sz="36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Bebas Neue"/>
              <a:buNone/>
              <a:defRPr sz="36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Bebas Neue"/>
              <a:buNone/>
              <a:defRPr sz="36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Bebas Neue"/>
              <a:buNone/>
              <a:defRPr sz="36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Bebas Neue"/>
              <a:buNone/>
              <a:defRPr sz="36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1140400" y="2102067"/>
            <a:ext cx="9920400" cy="374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81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Barlow Light"/>
              <a:buChar char="▸"/>
              <a:defRPr sz="2400">
                <a:solidFill>
                  <a:schemeClr val="dk2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marL="914400" lvl="1" indent="-381000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2400"/>
              <a:buFont typeface="Barlow Light"/>
              <a:buChar char="▹"/>
              <a:defRPr sz="2400">
                <a:solidFill>
                  <a:schemeClr val="dk2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marL="1371600" lvl="2" indent="-381000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2400"/>
              <a:buFont typeface="Barlow Light"/>
              <a:buChar char="▹"/>
              <a:defRPr sz="2400">
                <a:solidFill>
                  <a:schemeClr val="dk2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marL="1828800" lvl="3" indent="-381000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Barlow Light"/>
              <a:buChar char="●"/>
              <a:defRPr sz="2400">
                <a:solidFill>
                  <a:schemeClr val="dk2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marL="2286000" lvl="4" indent="-381000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Barlow Light"/>
              <a:buChar char="○"/>
              <a:defRPr sz="2400">
                <a:solidFill>
                  <a:schemeClr val="dk2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marL="2743200" lvl="5" indent="-381000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Barlow Light"/>
              <a:buChar char="■"/>
              <a:defRPr sz="2400">
                <a:solidFill>
                  <a:schemeClr val="dk2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marL="3200400" lvl="6" indent="-381000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Barlow Light"/>
              <a:buChar char="●"/>
              <a:defRPr sz="2400">
                <a:solidFill>
                  <a:schemeClr val="dk2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marL="3657600" lvl="7" indent="-381000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Barlow Light"/>
              <a:buChar char="○"/>
              <a:defRPr sz="2400">
                <a:solidFill>
                  <a:schemeClr val="dk2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marL="4114800" lvl="8" indent="-381000" rtl="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dk2"/>
              </a:buClr>
              <a:buSzPts val="2400"/>
              <a:buFont typeface="Barlow Light"/>
              <a:buChar char="■"/>
              <a:defRPr sz="2400">
                <a:solidFill>
                  <a:schemeClr val="dk2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11205845" y="6231535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 rtl="0">
              <a:buNone/>
              <a:defRPr sz="20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algn="r" rtl="0">
              <a:buNone/>
              <a:defRPr sz="20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r" rtl="0">
              <a:buNone/>
              <a:defRPr sz="20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r" rtl="0">
              <a:buNone/>
              <a:defRPr sz="20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r" rtl="0">
              <a:buNone/>
              <a:defRPr sz="20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r" rtl="0">
              <a:buNone/>
              <a:defRPr sz="20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r" rtl="0">
              <a:buNone/>
              <a:defRPr sz="20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r" rtl="0">
              <a:buNone/>
              <a:defRPr sz="20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r" rtl="0">
              <a:buNone/>
              <a:defRPr sz="20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fld id="{14939233-E1B2-49F2-A72B-2AEA50DF874D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855446867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</p:sldLayoutIdLst>
  <p:transition>
    <p:fade thruBlk="1"/>
  </p:transition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6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548249-AA88-1140-38D8-FE821B32BF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5600" y="2367279"/>
            <a:ext cx="7591200" cy="1070887"/>
          </a:xfrm>
        </p:spPr>
        <p:txBody>
          <a:bodyPr/>
          <a:lstStyle/>
          <a:p>
            <a:r>
              <a:rPr lang="en-US" dirty="0"/>
              <a:t>ANALISIS KORELASI</a:t>
            </a:r>
            <a:endParaRPr lang="en-ID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EBC62F-9EF5-9E8F-8559-99E5A9E313B5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426720" y="3962400"/>
            <a:ext cx="8717280" cy="1295400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ASHRI SHABRINA AFRAH, S.ST., M.T</a:t>
            </a:r>
            <a:endParaRPr lang="en-ID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863459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C5DFE26-9248-261C-86CD-507A3316DA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PENGERTIAN ANALISIS KORELASI</a:t>
            </a:r>
            <a:endParaRPr lang="en-ID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011BA3F-6B1E-6A05-DC2A-C031073969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Analisis</a:t>
            </a:r>
            <a:r>
              <a:rPr lang="en-US" dirty="0"/>
              <a:t> </a:t>
            </a:r>
            <a:r>
              <a:rPr lang="en-US" dirty="0" err="1"/>
              <a:t>korelasi</a:t>
            </a:r>
            <a:r>
              <a:rPr lang="en-US" dirty="0"/>
              <a:t> </a:t>
            </a:r>
            <a:r>
              <a:rPr lang="en-US" dirty="0" err="1"/>
              <a:t>adalah</a:t>
            </a:r>
            <a:r>
              <a:rPr lang="en-US" dirty="0"/>
              <a:t> </a:t>
            </a:r>
            <a:r>
              <a:rPr lang="en-US" dirty="0" err="1"/>
              <a:t>suatu</a:t>
            </a:r>
            <a:r>
              <a:rPr lang="en-US" dirty="0"/>
              <a:t> </a:t>
            </a:r>
            <a:r>
              <a:rPr lang="en-US" dirty="0" err="1"/>
              <a:t>bentuk</a:t>
            </a:r>
            <a:r>
              <a:rPr lang="en-US" dirty="0"/>
              <a:t> </a:t>
            </a:r>
            <a:r>
              <a:rPr lang="en-US" dirty="0" err="1"/>
              <a:t>analisis</a:t>
            </a:r>
            <a:r>
              <a:rPr lang="en-US" dirty="0"/>
              <a:t> data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penelitian</a:t>
            </a:r>
            <a:r>
              <a:rPr lang="en-US" dirty="0"/>
              <a:t> yang </a:t>
            </a:r>
            <a:r>
              <a:rPr lang="en-US" dirty="0" err="1"/>
              <a:t>bertujuan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mengetahui</a:t>
            </a:r>
            <a:r>
              <a:rPr lang="en-US" dirty="0"/>
              <a:t> </a:t>
            </a:r>
            <a:r>
              <a:rPr lang="en-US" dirty="0" err="1"/>
              <a:t>kekuatan</a:t>
            </a:r>
            <a:r>
              <a:rPr lang="en-US" dirty="0"/>
              <a:t> </a:t>
            </a:r>
            <a:r>
              <a:rPr lang="en-US" dirty="0" err="1"/>
              <a:t>atau</a:t>
            </a:r>
            <a:r>
              <a:rPr lang="en-US" dirty="0"/>
              <a:t> </a:t>
            </a:r>
            <a:r>
              <a:rPr lang="en-US" dirty="0" err="1"/>
              <a:t>bentuk</a:t>
            </a:r>
            <a:r>
              <a:rPr lang="en-US" dirty="0"/>
              <a:t> </a:t>
            </a:r>
            <a:r>
              <a:rPr lang="en-US" dirty="0" err="1"/>
              <a:t>arah</a:t>
            </a:r>
            <a:r>
              <a:rPr lang="en-US" dirty="0"/>
              <a:t> </a:t>
            </a:r>
            <a:r>
              <a:rPr lang="en-US" dirty="0" err="1"/>
              <a:t>hubungan</a:t>
            </a:r>
            <a:r>
              <a:rPr lang="en-US" dirty="0"/>
              <a:t> di </a:t>
            </a:r>
            <a:r>
              <a:rPr lang="en-US" dirty="0" err="1"/>
              <a:t>antara</a:t>
            </a:r>
            <a:r>
              <a:rPr lang="en-US" dirty="0"/>
              <a:t> </a:t>
            </a:r>
            <a:r>
              <a:rPr lang="en-US" dirty="0" err="1"/>
              <a:t>dua</a:t>
            </a:r>
            <a:r>
              <a:rPr lang="en-US" dirty="0"/>
              <a:t> variable </a:t>
            </a:r>
            <a:r>
              <a:rPr lang="en-US" dirty="0" err="1"/>
              <a:t>atau</a:t>
            </a:r>
            <a:r>
              <a:rPr lang="en-US" dirty="0"/>
              <a:t> </a:t>
            </a:r>
            <a:r>
              <a:rPr lang="en-US" dirty="0" err="1"/>
              <a:t>lebih</a:t>
            </a:r>
            <a:r>
              <a:rPr lang="en-US" dirty="0"/>
              <a:t>, dan </a:t>
            </a:r>
            <a:r>
              <a:rPr lang="en-US" dirty="0" err="1"/>
              <a:t>besarnya</a:t>
            </a:r>
            <a:r>
              <a:rPr lang="en-US" dirty="0"/>
              <a:t> </a:t>
            </a:r>
            <a:r>
              <a:rPr lang="en-US" dirty="0" err="1"/>
              <a:t>pengaruh</a:t>
            </a:r>
            <a:r>
              <a:rPr lang="en-US" dirty="0"/>
              <a:t> yang </a:t>
            </a:r>
            <a:r>
              <a:rPr lang="en-US" dirty="0" err="1"/>
              <a:t>disebabkan</a:t>
            </a:r>
            <a:r>
              <a:rPr lang="en-US" dirty="0"/>
              <a:t> oleh </a:t>
            </a:r>
            <a:r>
              <a:rPr lang="en-US" dirty="0" err="1"/>
              <a:t>variabel</a:t>
            </a:r>
            <a:r>
              <a:rPr lang="en-US" dirty="0"/>
              <a:t> yang </a:t>
            </a:r>
            <a:r>
              <a:rPr lang="en-US" dirty="0" err="1"/>
              <a:t>satu</a:t>
            </a:r>
            <a:r>
              <a:rPr lang="en-US" dirty="0"/>
              <a:t> (</a:t>
            </a:r>
            <a:r>
              <a:rPr lang="en-US" dirty="0" err="1"/>
              <a:t>variabel</a:t>
            </a:r>
            <a:r>
              <a:rPr lang="en-US" dirty="0"/>
              <a:t> </a:t>
            </a:r>
            <a:r>
              <a:rPr lang="en-US" dirty="0" err="1"/>
              <a:t>bebas</a:t>
            </a:r>
            <a:r>
              <a:rPr lang="en-US" dirty="0"/>
              <a:t>) </a:t>
            </a:r>
            <a:r>
              <a:rPr lang="en-US" dirty="0" err="1"/>
              <a:t>terhadap</a:t>
            </a:r>
            <a:r>
              <a:rPr lang="en-US" dirty="0"/>
              <a:t> </a:t>
            </a:r>
            <a:r>
              <a:rPr lang="en-US" dirty="0" err="1"/>
              <a:t>variabel</a:t>
            </a:r>
            <a:r>
              <a:rPr lang="en-US" dirty="0"/>
              <a:t> </a:t>
            </a:r>
            <a:r>
              <a:rPr lang="en-US" dirty="0" err="1"/>
              <a:t>lainnya</a:t>
            </a:r>
            <a:r>
              <a:rPr lang="en-US" dirty="0"/>
              <a:t> (</a:t>
            </a:r>
            <a:r>
              <a:rPr lang="en-US" dirty="0" err="1"/>
              <a:t>variabel</a:t>
            </a:r>
            <a:r>
              <a:rPr lang="en-US" dirty="0"/>
              <a:t> </a:t>
            </a:r>
            <a:r>
              <a:rPr lang="en-US" dirty="0" err="1"/>
              <a:t>terikat</a:t>
            </a:r>
            <a:r>
              <a:rPr lang="en-US" dirty="0"/>
              <a:t>).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34417377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F40762-E98E-E6F4-D2CB-69C60925B1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HUBUNGAN ANTARA VARIABEL-VARIABEL</a:t>
            </a:r>
            <a:endParaRPr lang="en-ID" dirty="0"/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E846CBB1-537D-9BD1-CAF1-3578E9DF941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85377942"/>
              </p:ext>
            </p:extLst>
          </p:nvPr>
        </p:nvGraphicFramePr>
        <p:xfrm>
          <a:off x="3302000" y="2060787"/>
          <a:ext cx="5709920" cy="41876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6805711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F04236-382D-55F1-958C-52A9F88AF7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TEKNIK STATISTIK DALAM MENGANALISIS KORELASI</a:t>
            </a:r>
            <a:endParaRPr lang="en-ID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D08621-AEBC-3025-B45F-227C8B16BD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Terdapat</a:t>
            </a:r>
            <a:r>
              <a:rPr lang="en-US" dirty="0"/>
              <a:t> </a:t>
            </a:r>
            <a:r>
              <a:rPr lang="en-US" dirty="0" err="1"/>
              <a:t>beberapa</a:t>
            </a:r>
            <a:r>
              <a:rPr lang="en-US" dirty="0"/>
              <a:t> </a:t>
            </a:r>
            <a:r>
              <a:rPr lang="en-US" dirty="0" err="1"/>
              <a:t>teknik</a:t>
            </a:r>
            <a:r>
              <a:rPr lang="en-US" dirty="0"/>
              <a:t> </a:t>
            </a:r>
            <a:r>
              <a:rPr lang="en-US" dirty="0" err="1"/>
              <a:t>analisis</a:t>
            </a:r>
            <a:r>
              <a:rPr lang="en-US" dirty="0"/>
              <a:t> yang </a:t>
            </a:r>
            <a:r>
              <a:rPr lang="en-US" dirty="0" err="1"/>
              <a:t>digunakan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menganalisis</a:t>
            </a:r>
            <a:r>
              <a:rPr lang="en-US" dirty="0"/>
              <a:t> </a:t>
            </a:r>
            <a:r>
              <a:rPr lang="en-US" dirty="0" err="1"/>
              <a:t>hubungan</a:t>
            </a:r>
            <a:r>
              <a:rPr lang="en-US" dirty="0"/>
              <a:t> (</a:t>
            </a:r>
            <a:r>
              <a:rPr lang="en-US" dirty="0" err="1"/>
              <a:t>korelasi</a:t>
            </a:r>
            <a:r>
              <a:rPr lang="en-US" dirty="0"/>
              <a:t>) </a:t>
            </a:r>
            <a:r>
              <a:rPr lang="en-US" dirty="0" err="1"/>
              <a:t>antara</a:t>
            </a:r>
            <a:r>
              <a:rPr lang="en-US" dirty="0"/>
              <a:t> </a:t>
            </a:r>
            <a:r>
              <a:rPr lang="en-US" dirty="0" err="1"/>
              <a:t>variabel-variabel</a:t>
            </a:r>
            <a:r>
              <a:rPr lang="en-US" dirty="0"/>
              <a:t>:</a:t>
            </a:r>
          </a:p>
          <a:p>
            <a:pPr marL="558798" indent="-457200">
              <a:buFont typeface="+mj-lt"/>
              <a:buAutoNum type="arabicPeriod"/>
            </a:pPr>
            <a:r>
              <a:rPr lang="en-US" dirty="0" err="1"/>
              <a:t>Koefisien</a:t>
            </a:r>
            <a:r>
              <a:rPr lang="en-US" dirty="0"/>
              <a:t> </a:t>
            </a:r>
            <a:r>
              <a:rPr lang="en-US" dirty="0" err="1"/>
              <a:t>Korelasi</a:t>
            </a:r>
            <a:endParaRPr lang="en-US" dirty="0"/>
          </a:p>
          <a:p>
            <a:pPr marL="558798" indent="-457200">
              <a:buFont typeface="+mj-lt"/>
              <a:buAutoNum type="arabicPeriod"/>
            </a:pPr>
            <a:r>
              <a:rPr lang="en-US" dirty="0" err="1"/>
              <a:t>Koefisien</a:t>
            </a:r>
            <a:r>
              <a:rPr lang="en-US" dirty="0"/>
              <a:t> </a:t>
            </a:r>
            <a:r>
              <a:rPr lang="en-US" dirty="0" err="1"/>
              <a:t>Determinasi</a:t>
            </a:r>
            <a:endParaRPr lang="en-US" dirty="0"/>
          </a:p>
          <a:p>
            <a:pPr marL="558798" indent="-457200">
              <a:buFont typeface="+mj-lt"/>
              <a:buAutoNum type="arabicPeriod"/>
            </a:pPr>
            <a:r>
              <a:rPr lang="en-US" dirty="0" err="1"/>
              <a:t>Analisis</a:t>
            </a:r>
            <a:r>
              <a:rPr lang="en-US" dirty="0"/>
              <a:t> </a:t>
            </a:r>
            <a:r>
              <a:rPr lang="en-US" dirty="0" err="1"/>
              <a:t>Regresi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37171953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F04236-382D-55F1-958C-52A9F88AF7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0400" y="1399147"/>
            <a:ext cx="10147360" cy="528400"/>
          </a:xfrm>
        </p:spPr>
        <p:txBody>
          <a:bodyPr/>
          <a:lstStyle/>
          <a:p>
            <a:r>
              <a:rPr lang="en-US" dirty="0"/>
              <a:t>TEKNIK STATISTIK DALAM MENGANALISIS KORELASI </a:t>
            </a:r>
            <a:br>
              <a:rPr lang="en-US" dirty="0"/>
            </a:br>
            <a:r>
              <a:rPr lang="en-US" dirty="0"/>
              <a:t>(</a:t>
            </a:r>
            <a:r>
              <a:rPr lang="en-US" dirty="0" err="1"/>
              <a:t>koefisien</a:t>
            </a:r>
            <a:r>
              <a:rPr lang="en-US" dirty="0"/>
              <a:t> </a:t>
            </a:r>
            <a:r>
              <a:rPr lang="en-US" dirty="0" err="1"/>
              <a:t>korelasi</a:t>
            </a:r>
            <a:r>
              <a:rPr lang="en-US" dirty="0"/>
              <a:t>)</a:t>
            </a:r>
            <a:endParaRPr lang="en-ID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D08621-AEBC-3025-B45F-227C8B16BD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40400" y="2560319"/>
            <a:ext cx="9920400" cy="3290147"/>
          </a:xfrm>
        </p:spPr>
        <p:txBody>
          <a:bodyPr/>
          <a:lstStyle/>
          <a:p>
            <a:r>
              <a:rPr lang="en-US" dirty="0" err="1"/>
              <a:t>Koefisien</a:t>
            </a:r>
            <a:r>
              <a:rPr lang="en-US" dirty="0"/>
              <a:t> </a:t>
            </a:r>
            <a:r>
              <a:rPr lang="en-US" dirty="0" err="1"/>
              <a:t>korelasi</a:t>
            </a:r>
            <a:r>
              <a:rPr lang="en-US" dirty="0"/>
              <a:t> </a:t>
            </a:r>
            <a:r>
              <a:rPr lang="en-US" dirty="0" err="1"/>
              <a:t>adalah</a:t>
            </a:r>
            <a:r>
              <a:rPr lang="en-US" dirty="0"/>
              <a:t> </a:t>
            </a:r>
            <a:r>
              <a:rPr lang="en-US" dirty="0" err="1"/>
              <a:t>bilangan</a:t>
            </a:r>
            <a:r>
              <a:rPr lang="en-US" dirty="0"/>
              <a:t> yang </a:t>
            </a:r>
            <a:r>
              <a:rPr lang="en-US" dirty="0" err="1"/>
              <a:t>menyatakan</a:t>
            </a:r>
            <a:r>
              <a:rPr lang="en-US" dirty="0"/>
              <a:t> </a:t>
            </a:r>
            <a:r>
              <a:rPr lang="en-US" dirty="0" err="1"/>
              <a:t>kekuatan</a:t>
            </a:r>
            <a:r>
              <a:rPr lang="en-US" dirty="0"/>
              <a:t> </a:t>
            </a:r>
            <a:r>
              <a:rPr lang="en-US" dirty="0" err="1"/>
              <a:t>hubungan</a:t>
            </a:r>
            <a:r>
              <a:rPr lang="en-US" dirty="0"/>
              <a:t> </a:t>
            </a:r>
            <a:r>
              <a:rPr lang="en-US" dirty="0" err="1"/>
              <a:t>antara</a:t>
            </a:r>
            <a:r>
              <a:rPr lang="en-US" dirty="0"/>
              <a:t> </a:t>
            </a:r>
            <a:r>
              <a:rPr lang="en-US" dirty="0" err="1"/>
              <a:t>dua</a:t>
            </a:r>
            <a:r>
              <a:rPr lang="en-US" dirty="0"/>
              <a:t> </a:t>
            </a:r>
            <a:r>
              <a:rPr lang="en-US" dirty="0" err="1"/>
              <a:t>variabel</a:t>
            </a:r>
            <a:r>
              <a:rPr lang="en-US" dirty="0"/>
              <a:t> </a:t>
            </a:r>
            <a:r>
              <a:rPr lang="en-US" dirty="0" err="1"/>
              <a:t>atau</a:t>
            </a:r>
            <a:r>
              <a:rPr lang="en-US" dirty="0"/>
              <a:t> </a:t>
            </a:r>
            <a:r>
              <a:rPr lang="en-US" dirty="0" err="1"/>
              <a:t>lebih</a:t>
            </a:r>
            <a:r>
              <a:rPr lang="en-US" dirty="0"/>
              <a:t>, dan juga </a:t>
            </a:r>
            <a:r>
              <a:rPr lang="en-US" dirty="0" err="1"/>
              <a:t>dapat</a:t>
            </a:r>
            <a:r>
              <a:rPr lang="en-US" dirty="0"/>
              <a:t> </a:t>
            </a:r>
            <a:r>
              <a:rPr lang="en-US" dirty="0" err="1"/>
              <a:t>menentukan</a:t>
            </a:r>
            <a:r>
              <a:rPr lang="en-US" dirty="0"/>
              <a:t> </a:t>
            </a:r>
            <a:r>
              <a:rPr lang="en-US" dirty="0" err="1"/>
              <a:t>arah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kedua</a:t>
            </a:r>
            <a:r>
              <a:rPr lang="en-US" dirty="0"/>
              <a:t> </a:t>
            </a:r>
            <a:r>
              <a:rPr lang="en-US" dirty="0" err="1"/>
              <a:t>variabel</a:t>
            </a:r>
            <a:r>
              <a:rPr lang="en-US" dirty="0"/>
              <a:t>.</a:t>
            </a:r>
          </a:p>
          <a:p>
            <a:r>
              <a:rPr lang="en-US" dirty="0"/>
              <a:t>Nilai </a:t>
            </a:r>
            <a:r>
              <a:rPr lang="en-US" dirty="0" err="1"/>
              <a:t>koefisien</a:t>
            </a:r>
            <a:r>
              <a:rPr lang="en-US" dirty="0"/>
              <a:t> </a:t>
            </a:r>
            <a:r>
              <a:rPr lang="en-US" dirty="0" err="1"/>
              <a:t>korelasi</a:t>
            </a:r>
            <a:r>
              <a:rPr lang="en-US" dirty="0"/>
              <a:t> (r) </a:t>
            </a:r>
            <a:r>
              <a:rPr lang="en-US" dirty="0" err="1"/>
              <a:t>berada</a:t>
            </a:r>
            <a:r>
              <a:rPr lang="en-US" dirty="0"/>
              <a:t> di </a:t>
            </a:r>
            <a:r>
              <a:rPr lang="en-US" dirty="0" err="1"/>
              <a:t>antara</a:t>
            </a:r>
            <a:r>
              <a:rPr lang="en-US" dirty="0"/>
              <a:t> -1 dan 1  (-1 ≤ r ≤ 1). </a:t>
            </a:r>
          </a:p>
          <a:p>
            <a:r>
              <a:rPr lang="en-US" dirty="0"/>
              <a:t>Nilai </a:t>
            </a:r>
            <a:r>
              <a:rPr lang="en-US" dirty="0" err="1"/>
              <a:t>koefisien</a:t>
            </a:r>
            <a:r>
              <a:rPr lang="en-US" dirty="0"/>
              <a:t> </a:t>
            </a:r>
            <a:r>
              <a:rPr lang="en-US" dirty="0" err="1"/>
              <a:t>korelasi</a:t>
            </a:r>
            <a:r>
              <a:rPr lang="en-US" dirty="0"/>
              <a:t> </a:t>
            </a:r>
            <a:r>
              <a:rPr lang="en-US" dirty="0" err="1"/>
              <a:t>menunjukkan</a:t>
            </a:r>
            <a:r>
              <a:rPr lang="en-US" dirty="0"/>
              <a:t> </a:t>
            </a:r>
            <a:r>
              <a:rPr lang="en-US" dirty="0" err="1"/>
              <a:t>kuatnya</a:t>
            </a:r>
            <a:r>
              <a:rPr lang="en-US" dirty="0"/>
              <a:t> </a:t>
            </a:r>
            <a:r>
              <a:rPr lang="en-US" dirty="0" err="1"/>
              <a:t>hubungan</a:t>
            </a:r>
            <a:r>
              <a:rPr lang="en-US" dirty="0"/>
              <a:t> </a:t>
            </a:r>
            <a:r>
              <a:rPr lang="en-US" dirty="0" err="1"/>
              <a:t>antara</a:t>
            </a:r>
            <a:r>
              <a:rPr lang="en-US" dirty="0"/>
              <a:t> </a:t>
            </a:r>
            <a:r>
              <a:rPr lang="en-US" dirty="0" err="1"/>
              <a:t>variabel-veriabel</a:t>
            </a:r>
            <a:r>
              <a:rPr lang="en-US" dirty="0"/>
              <a:t>, </a:t>
            </a:r>
            <a:r>
              <a:rPr lang="en-US" dirty="0" err="1"/>
              <a:t>sedangkan</a:t>
            </a:r>
            <a:r>
              <a:rPr lang="en-US" dirty="0"/>
              <a:t> </a:t>
            </a:r>
            <a:r>
              <a:rPr lang="en-US" dirty="0" err="1"/>
              <a:t>tanda</a:t>
            </a:r>
            <a:r>
              <a:rPr lang="en-US" dirty="0"/>
              <a:t> + dan – </a:t>
            </a:r>
            <a:r>
              <a:rPr lang="en-US" dirty="0" err="1"/>
              <a:t>menunjukkan</a:t>
            </a:r>
            <a:r>
              <a:rPr lang="en-US" dirty="0"/>
              <a:t> </a:t>
            </a:r>
            <a:r>
              <a:rPr lang="en-US" dirty="0" err="1"/>
              <a:t>arah</a:t>
            </a:r>
            <a:r>
              <a:rPr lang="en-US" dirty="0"/>
              <a:t> </a:t>
            </a:r>
            <a:r>
              <a:rPr lang="en-US" dirty="0" err="1"/>
              <a:t>hubungan</a:t>
            </a:r>
            <a:r>
              <a:rPr lang="en-US" dirty="0"/>
              <a:t>.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6034914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F04236-382D-55F1-958C-52A9F88AF7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0400" y="1399147"/>
            <a:ext cx="10147360" cy="528400"/>
          </a:xfrm>
        </p:spPr>
        <p:txBody>
          <a:bodyPr/>
          <a:lstStyle/>
          <a:p>
            <a:r>
              <a:rPr lang="en-US" dirty="0"/>
              <a:t>TEKNIK STATISTIK DALAM MENGANALISIS KORELASI </a:t>
            </a:r>
            <a:br>
              <a:rPr lang="en-US" dirty="0"/>
            </a:br>
            <a:r>
              <a:rPr lang="en-US" dirty="0"/>
              <a:t>(</a:t>
            </a:r>
            <a:r>
              <a:rPr lang="en-US" dirty="0" err="1"/>
              <a:t>koefisien</a:t>
            </a:r>
            <a:r>
              <a:rPr lang="en-US" dirty="0"/>
              <a:t> </a:t>
            </a:r>
            <a:r>
              <a:rPr lang="en-US" dirty="0" err="1"/>
              <a:t>korelasi</a:t>
            </a:r>
            <a:r>
              <a:rPr lang="en-US" dirty="0"/>
              <a:t>)</a:t>
            </a:r>
            <a:endParaRPr lang="en-ID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D08621-AEBC-3025-B45F-227C8B16BD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40400" y="2560319"/>
            <a:ext cx="4854000" cy="3290147"/>
          </a:xfrm>
        </p:spPr>
        <p:txBody>
          <a:bodyPr/>
          <a:lstStyle/>
          <a:p>
            <a:pPr marL="558798" indent="-457200">
              <a:buAutoNum type="arabicPeriod"/>
            </a:pPr>
            <a:r>
              <a:rPr lang="en-US" sz="1800" dirty="0" err="1"/>
              <a:t>Apabila</a:t>
            </a:r>
            <a:r>
              <a:rPr lang="en-US" sz="1800" dirty="0"/>
              <a:t> r=-1, </a:t>
            </a:r>
            <a:r>
              <a:rPr lang="en-US" sz="1800" dirty="0" err="1"/>
              <a:t>artinya</a:t>
            </a:r>
            <a:r>
              <a:rPr lang="en-US" sz="1800" dirty="0"/>
              <a:t> </a:t>
            </a:r>
            <a:r>
              <a:rPr lang="en-US" sz="1800" dirty="0" err="1"/>
              <a:t>korelasi</a:t>
            </a:r>
            <a:r>
              <a:rPr lang="en-US" sz="1800" dirty="0"/>
              <a:t> </a:t>
            </a:r>
            <a:r>
              <a:rPr lang="en-US" sz="1800" dirty="0" err="1"/>
              <a:t>negatif</a:t>
            </a:r>
            <a:r>
              <a:rPr lang="en-US" sz="1800" dirty="0"/>
              <a:t> </a:t>
            </a:r>
            <a:r>
              <a:rPr lang="en-US" sz="1800" dirty="0" err="1"/>
              <a:t>sempurna</a:t>
            </a:r>
            <a:r>
              <a:rPr lang="en-US" sz="1800" dirty="0"/>
              <a:t>, </a:t>
            </a:r>
            <a:r>
              <a:rPr lang="en-US" sz="1800" dirty="0" err="1"/>
              <a:t>yaitu</a:t>
            </a:r>
            <a:r>
              <a:rPr lang="en-US" sz="1800" dirty="0"/>
              <a:t> </a:t>
            </a:r>
            <a:r>
              <a:rPr lang="en-US" sz="1800" dirty="0" err="1"/>
              <a:t>terjadi</a:t>
            </a:r>
            <a:r>
              <a:rPr lang="en-US" sz="1800" dirty="0"/>
              <a:t> </a:t>
            </a:r>
            <a:r>
              <a:rPr lang="en-US" sz="1800" dirty="0" err="1"/>
              <a:t>hubungan</a:t>
            </a:r>
            <a:r>
              <a:rPr lang="en-US" sz="1800" dirty="0"/>
              <a:t> </a:t>
            </a:r>
            <a:r>
              <a:rPr lang="en-US" sz="1800" dirty="0" err="1"/>
              <a:t>bertolak</a:t>
            </a:r>
            <a:r>
              <a:rPr lang="en-US" sz="1800" dirty="0"/>
              <a:t> </a:t>
            </a:r>
            <a:r>
              <a:rPr lang="en-US" sz="1800" dirty="0" err="1"/>
              <a:t>belakang</a:t>
            </a:r>
            <a:r>
              <a:rPr lang="en-US" sz="1800" dirty="0"/>
              <a:t> </a:t>
            </a:r>
            <a:r>
              <a:rPr lang="en-US" sz="1800" dirty="0" err="1"/>
              <a:t>antara</a:t>
            </a:r>
            <a:r>
              <a:rPr lang="en-US" sz="1800" dirty="0"/>
              <a:t> </a:t>
            </a:r>
            <a:r>
              <a:rPr lang="en-US" sz="1800" dirty="0" err="1"/>
              <a:t>variabel</a:t>
            </a:r>
            <a:r>
              <a:rPr lang="en-US" sz="1800" dirty="0"/>
              <a:t> X dan </a:t>
            </a:r>
            <a:r>
              <a:rPr lang="en-US" sz="1800" dirty="0" err="1"/>
              <a:t>variabel</a:t>
            </a:r>
            <a:r>
              <a:rPr lang="en-US" sz="1800" dirty="0"/>
              <a:t> Y.</a:t>
            </a:r>
          </a:p>
          <a:p>
            <a:pPr marL="558798" indent="-457200">
              <a:buAutoNum type="arabicPeriod"/>
            </a:pPr>
            <a:r>
              <a:rPr lang="en-US" sz="1800" dirty="0" err="1"/>
              <a:t>Apabila</a:t>
            </a:r>
            <a:r>
              <a:rPr lang="en-US" sz="1800" dirty="0"/>
              <a:t> r=0, </a:t>
            </a:r>
            <a:r>
              <a:rPr lang="en-US" sz="1800" dirty="0" err="1"/>
              <a:t>artinya</a:t>
            </a:r>
            <a:r>
              <a:rPr lang="en-US" sz="1800" dirty="0"/>
              <a:t> </a:t>
            </a:r>
            <a:r>
              <a:rPr lang="en-US" sz="1800" dirty="0" err="1"/>
              <a:t>tidak</a:t>
            </a:r>
            <a:r>
              <a:rPr lang="en-US" sz="1800" dirty="0"/>
              <a:t> </a:t>
            </a:r>
            <a:r>
              <a:rPr lang="en-US" sz="1800" dirty="0" err="1"/>
              <a:t>terdapat</a:t>
            </a:r>
            <a:r>
              <a:rPr lang="en-US" sz="1800" dirty="0"/>
              <a:t> </a:t>
            </a:r>
            <a:r>
              <a:rPr lang="en-US" sz="1800" dirty="0" err="1"/>
              <a:t>korelasi</a:t>
            </a:r>
            <a:r>
              <a:rPr lang="en-US" sz="1800" dirty="0"/>
              <a:t> </a:t>
            </a:r>
            <a:r>
              <a:rPr lang="en-US" sz="1800" dirty="0" err="1"/>
              <a:t>antara</a:t>
            </a:r>
            <a:r>
              <a:rPr lang="en-US" sz="1800" dirty="0"/>
              <a:t> </a:t>
            </a:r>
            <a:r>
              <a:rPr lang="en-US" sz="1800" dirty="0" err="1"/>
              <a:t>variabel</a:t>
            </a:r>
            <a:r>
              <a:rPr lang="en-US" sz="1800" dirty="0"/>
              <a:t> X dan </a:t>
            </a:r>
            <a:r>
              <a:rPr lang="en-US" sz="1800" dirty="0" err="1"/>
              <a:t>variabel</a:t>
            </a:r>
            <a:r>
              <a:rPr lang="en-US" sz="1800" dirty="0"/>
              <a:t> Y.</a:t>
            </a:r>
          </a:p>
          <a:p>
            <a:pPr marL="558798" indent="-457200">
              <a:buAutoNum type="arabicPeriod"/>
            </a:pPr>
            <a:r>
              <a:rPr lang="en-US" sz="1800" dirty="0" err="1"/>
              <a:t>Apabila</a:t>
            </a:r>
            <a:r>
              <a:rPr lang="en-US" sz="1800" dirty="0"/>
              <a:t> r=1, </a:t>
            </a:r>
            <a:r>
              <a:rPr lang="en-US" sz="1800" dirty="0" err="1"/>
              <a:t>artinya</a:t>
            </a:r>
            <a:r>
              <a:rPr lang="en-US" sz="1800" dirty="0"/>
              <a:t> </a:t>
            </a:r>
            <a:r>
              <a:rPr lang="en-US" sz="1800" dirty="0" err="1"/>
              <a:t>korelasi</a:t>
            </a:r>
            <a:r>
              <a:rPr lang="en-US" sz="1800" dirty="0"/>
              <a:t> </a:t>
            </a:r>
            <a:r>
              <a:rPr lang="en-US" sz="1800" dirty="0" err="1"/>
              <a:t>positif</a:t>
            </a:r>
            <a:r>
              <a:rPr lang="en-US" sz="1800" dirty="0"/>
              <a:t> </a:t>
            </a:r>
            <a:r>
              <a:rPr lang="en-US" sz="1800" dirty="0" err="1"/>
              <a:t>sempurna</a:t>
            </a:r>
            <a:r>
              <a:rPr lang="en-US" sz="1800" dirty="0"/>
              <a:t>, </a:t>
            </a:r>
            <a:r>
              <a:rPr lang="en-US" sz="1800" dirty="0" err="1"/>
              <a:t>yaitu</a:t>
            </a:r>
            <a:r>
              <a:rPr lang="en-US" sz="1800" dirty="0"/>
              <a:t> </a:t>
            </a:r>
            <a:r>
              <a:rPr lang="en-US" sz="1800" dirty="0" err="1"/>
              <a:t>terjadi</a:t>
            </a:r>
            <a:r>
              <a:rPr lang="en-US" sz="1800" dirty="0"/>
              <a:t> </a:t>
            </a:r>
            <a:r>
              <a:rPr lang="en-US" sz="1800" dirty="0" err="1"/>
              <a:t>hubungan</a:t>
            </a:r>
            <a:r>
              <a:rPr lang="en-US" sz="1800" dirty="0"/>
              <a:t> </a:t>
            </a:r>
            <a:r>
              <a:rPr lang="en-US" sz="1800" dirty="0" err="1"/>
              <a:t>searah</a:t>
            </a:r>
            <a:r>
              <a:rPr lang="en-US" sz="1800" dirty="0"/>
              <a:t> </a:t>
            </a:r>
            <a:r>
              <a:rPr lang="en-US" sz="1800" dirty="0" err="1"/>
              <a:t>antara</a:t>
            </a:r>
            <a:r>
              <a:rPr lang="en-US" sz="1800" dirty="0"/>
              <a:t> </a:t>
            </a:r>
            <a:r>
              <a:rPr lang="en-US" sz="1800" dirty="0" err="1"/>
              <a:t>variabel</a:t>
            </a:r>
            <a:r>
              <a:rPr lang="en-US" sz="1800" dirty="0"/>
              <a:t> X dan </a:t>
            </a:r>
            <a:r>
              <a:rPr lang="en-US" sz="1800" dirty="0" err="1"/>
              <a:t>variabel</a:t>
            </a:r>
            <a:r>
              <a:rPr lang="en-US" sz="1800" dirty="0"/>
              <a:t> Y.</a:t>
            </a:r>
            <a:endParaRPr lang="en-ID" sz="1800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B5E62389-2ABD-9F41-B52C-BF99CBFA88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1818261"/>
              </p:ext>
            </p:extLst>
          </p:nvPr>
        </p:nvGraphicFramePr>
        <p:xfrm>
          <a:off x="6624322" y="2593654"/>
          <a:ext cx="4307837" cy="22250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626003">
                  <a:extLst>
                    <a:ext uri="{9D8B030D-6E8A-4147-A177-3AD203B41FA5}">
                      <a16:colId xmlns:a16="http://schemas.microsoft.com/office/drawing/2014/main" val="438328203"/>
                    </a:ext>
                  </a:extLst>
                </a:gridCol>
                <a:gridCol w="1613690">
                  <a:extLst>
                    <a:ext uri="{9D8B030D-6E8A-4147-A177-3AD203B41FA5}">
                      <a16:colId xmlns:a16="http://schemas.microsoft.com/office/drawing/2014/main" val="1167406906"/>
                    </a:ext>
                  </a:extLst>
                </a:gridCol>
                <a:gridCol w="2068144">
                  <a:extLst>
                    <a:ext uri="{9D8B030D-6E8A-4147-A177-3AD203B41FA5}">
                      <a16:colId xmlns:a16="http://schemas.microsoft.com/office/drawing/2014/main" val="91855921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No.</a:t>
                      </a:r>
                      <a:endParaRPr lang="en-ID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Nilai </a:t>
                      </a:r>
                      <a:r>
                        <a:rPr lang="en-US" sz="1400" dirty="0" err="1"/>
                        <a:t>Korelasi</a:t>
                      </a:r>
                      <a:r>
                        <a:rPr lang="en-US" sz="1400" dirty="0"/>
                        <a:t> (r)</a:t>
                      </a:r>
                      <a:endParaRPr lang="en-ID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Tingkat </a:t>
                      </a:r>
                      <a:r>
                        <a:rPr lang="en-US" sz="1400" dirty="0" err="1"/>
                        <a:t>Hubungan</a:t>
                      </a:r>
                      <a:r>
                        <a:rPr lang="en-US" sz="1400" dirty="0"/>
                        <a:t> </a:t>
                      </a:r>
                      <a:endParaRPr lang="en-ID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17621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1.</a:t>
                      </a:r>
                      <a:endParaRPr lang="en-ID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0,00 – 0,199</a:t>
                      </a:r>
                      <a:endParaRPr lang="en-ID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Sangat </a:t>
                      </a:r>
                      <a:r>
                        <a:rPr lang="en-US" sz="1400" dirty="0" err="1"/>
                        <a:t>lemah</a:t>
                      </a:r>
                      <a:endParaRPr lang="en-ID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80885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2.</a:t>
                      </a:r>
                      <a:endParaRPr lang="en-ID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0,20 – 0,399</a:t>
                      </a:r>
                      <a:endParaRPr lang="en-ID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err="1"/>
                        <a:t>Lemah</a:t>
                      </a:r>
                      <a:endParaRPr lang="en-ID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76222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3.</a:t>
                      </a:r>
                      <a:endParaRPr lang="en-ID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0,40 – 0,599</a:t>
                      </a:r>
                      <a:endParaRPr lang="en-ID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err="1"/>
                        <a:t>Cukup</a:t>
                      </a:r>
                      <a:endParaRPr lang="en-ID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12651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4.</a:t>
                      </a:r>
                      <a:endParaRPr lang="en-ID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0,6 – 0,799</a:t>
                      </a:r>
                      <a:endParaRPr lang="en-ID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err="1"/>
                        <a:t>Kuat</a:t>
                      </a:r>
                      <a:endParaRPr lang="en-ID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0418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5.</a:t>
                      </a:r>
                      <a:endParaRPr lang="en-ID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0,8 - 1</a:t>
                      </a:r>
                      <a:endParaRPr lang="en-ID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Sangat </a:t>
                      </a:r>
                      <a:r>
                        <a:rPr lang="en-US" sz="1400" dirty="0" err="1"/>
                        <a:t>kuat</a:t>
                      </a:r>
                      <a:endParaRPr lang="en-ID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30444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152505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F04236-382D-55F1-958C-52A9F88AF7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0400" y="1399147"/>
            <a:ext cx="10147360" cy="528400"/>
          </a:xfrm>
        </p:spPr>
        <p:txBody>
          <a:bodyPr/>
          <a:lstStyle/>
          <a:p>
            <a:r>
              <a:rPr lang="en-US" dirty="0"/>
              <a:t>TEKNIK STATISTIK DALAM MENGANALISIS KORELASI </a:t>
            </a:r>
            <a:br>
              <a:rPr lang="en-US" dirty="0"/>
            </a:br>
            <a:r>
              <a:rPr lang="en-US" dirty="0"/>
              <a:t>(</a:t>
            </a:r>
            <a:r>
              <a:rPr lang="en-US" dirty="0" err="1"/>
              <a:t>koefisien</a:t>
            </a:r>
            <a:r>
              <a:rPr lang="en-US" dirty="0"/>
              <a:t> </a:t>
            </a:r>
            <a:r>
              <a:rPr lang="en-US" dirty="0" err="1"/>
              <a:t>determinasi</a:t>
            </a:r>
            <a:r>
              <a:rPr lang="en-US" dirty="0"/>
              <a:t>)</a:t>
            </a:r>
            <a:endParaRPr lang="en-ID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D08621-AEBC-3025-B45F-227C8B16BD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40400" y="2672079"/>
            <a:ext cx="4955600" cy="3178387"/>
          </a:xfrm>
        </p:spPr>
        <p:txBody>
          <a:bodyPr/>
          <a:lstStyle/>
          <a:p>
            <a:r>
              <a:rPr lang="en-US" sz="1800" dirty="0" err="1"/>
              <a:t>Koefisien</a:t>
            </a:r>
            <a:r>
              <a:rPr lang="en-US" sz="1800" dirty="0"/>
              <a:t> </a:t>
            </a:r>
            <a:r>
              <a:rPr lang="en-US" sz="1800" dirty="0" err="1"/>
              <a:t>Determinasi</a:t>
            </a:r>
            <a:r>
              <a:rPr lang="en-US" sz="1800" dirty="0"/>
              <a:t> (KD) </a:t>
            </a:r>
            <a:r>
              <a:rPr lang="en-US" sz="1800" dirty="0" err="1"/>
              <a:t>adalah</a:t>
            </a:r>
            <a:r>
              <a:rPr lang="en-US" sz="1800" dirty="0"/>
              <a:t> </a:t>
            </a:r>
            <a:r>
              <a:rPr lang="en-US" sz="1800" dirty="0" err="1"/>
              <a:t>angka</a:t>
            </a:r>
            <a:r>
              <a:rPr lang="en-US" sz="1800" dirty="0"/>
              <a:t> yang </a:t>
            </a:r>
            <a:r>
              <a:rPr lang="en-US" sz="1800" dirty="0" err="1"/>
              <a:t>menyatakan</a:t>
            </a:r>
            <a:r>
              <a:rPr lang="en-US" sz="1800" dirty="0"/>
              <a:t> </a:t>
            </a:r>
            <a:r>
              <a:rPr lang="en-US" sz="1800" dirty="0" err="1"/>
              <a:t>atau</a:t>
            </a:r>
            <a:r>
              <a:rPr lang="en-US" sz="1800" dirty="0"/>
              <a:t> </a:t>
            </a:r>
            <a:r>
              <a:rPr lang="en-US" sz="1800" dirty="0" err="1"/>
              <a:t>digunakan</a:t>
            </a:r>
            <a:r>
              <a:rPr lang="en-US" sz="1800" dirty="0"/>
              <a:t> </a:t>
            </a:r>
            <a:r>
              <a:rPr lang="en-US" sz="1800" dirty="0" err="1"/>
              <a:t>untuk</a:t>
            </a:r>
            <a:r>
              <a:rPr lang="en-US" sz="1800" dirty="0"/>
              <a:t> </a:t>
            </a:r>
            <a:r>
              <a:rPr lang="en-US" sz="1800" dirty="0" err="1"/>
              <a:t>mengetahui</a:t>
            </a:r>
            <a:r>
              <a:rPr lang="en-US" sz="1800" dirty="0"/>
              <a:t> </a:t>
            </a:r>
            <a:r>
              <a:rPr lang="en-US" sz="1800" dirty="0" err="1"/>
              <a:t>kontribusi</a:t>
            </a:r>
            <a:r>
              <a:rPr lang="en-US" sz="1800" dirty="0"/>
              <a:t> </a:t>
            </a:r>
            <a:r>
              <a:rPr lang="en-US" sz="1800" dirty="0" err="1"/>
              <a:t>atau</a:t>
            </a:r>
            <a:r>
              <a:rPr lang="en-US" sz="1800" dirty="0"/>
              <a:t> </a:t>
            </a:r>
            <a:r>
              <a:rPr lang="en-US" sz="1800" dirty="0" err="1"/>
              <a:t>sumbangan</a:t>
            </a:r>
            <a:r>
              <a:rPr lang="en-US" sz="1800" dirty="0"/>
              <a:t> yang </a:t>
            </a:r>
            <a:r>
              <a:rPr lang="en-US" sz="1800" dirty="0" err="1"/>
              <a:t>diberikan</a:t>
            </a:r>
            <a:r>
              <a:rPr lang="en-US" sz="1800" dirty="0"/>
              <a:t> oleh </a:t>
            </a:r>
            <a:r>
              <a:rPr lang="en-US" sz="1800" dirty="0" err="1"/>
              <a:t>sebuah</a:t>
            </a:r>
            <a:r>
              <a:rPr lang="en-US" sz="1800" dirty="0"/>
              <a:t> </a:t>
            </a:r>
            <a:r>
              <a:rPr lang="en-US" sz="1800" dirty="0" err="1"/>
              <a:t>variabel</a:t>
            </a:r>
            <a:r>
              <a:rPr lang="en-US" sz="1800" dirty="0"/>
              <a:t> </a:t>
            </a:r>
            <a:r>
              <a:rPr lang="en-US" sz="1800" dirty="0" err="1"/>
              <a:t>atau</a:t>
            </a:r>
            <a:r>
              <a:rPr lang="en-US" sz="1800" dirty="0"/>
              <a:t> </a:t>
            </a:r>
            <a:r>
              <a:rPr lang="en-US" sz="1800" dirty="0" err="1"/>
              <a:t>lebih</a:t>
            </a:r>
            <a:r>
              <a:rPr lang="en-US" sz="1800" dirty="0"/>
              <a:t>, </a:t>
            </a:r>
            <a:r>
              <a:rPr lang="en-US" sz="1800" dirty="0" err="1"/>
              <a:t>yaitu</a:t>
            </a:r>
            <a:r>
              <a:rPr lang="en-US" sz="1800" dirty="0"/>
              <a:t> </a:t>
            </a:r>
            <a:r>
              <a:rPr lang="en-US" sz="1800" dirty="0" err="1"/>
              <a:t>terhadap</a:t>
            </a:r>
            <a:r>
              <a:rPr lang="en-US" sz="1800" dirty="0"/>
              <a:t> </a:t>
            </a:r>
            <a:r>
              <a:rPr lang="en-US" sz="1800" dirty="0" err="1"/>
              <a:t>variabel</a:t>
            </a:r>
            <a:r>
              <a:rPr lang="en-US" sz="1800" dirty="0"/>
              <a:t> X (</a:t>
            </a:r>
            <a:r>
              <a:rPr lang="en-US" sz="1800" dirty="0" err="1"/>
              <a:t>bebas</a:t>
            </a:r>
            <a:r>
              <a:rPr lang="en-US" sz="1800" dirty="0"/>
              <a:t>) dan </a:t>
            </a:r>
            <a:r>
              <a:rPr lang="en-US" sz="1800" dirty="0" err="1"/>
              <a:t>variabel</a:t>
            </a:r>
            <a:r>
              <a:rPr lang="en-US" sz="1800" dirty="0"/>
              <a:t> Y (</a:t>
            </a:r>
            <a:r>
              <a:rPr lang="en-US" sz="1800" dirty="0" err="1"/>
              <a:t>terikat</a:t>
            </a:r>
            <a:r>
              <a:rPr lang="en-US" sz="1800" dirty="0"/>
              <a:t>).</a:t>
            </a:r>
            <a:endParaRPr lang="en-ID" sz="1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B76EDE8-8BB8-1E77-1983-73008591F80F}"/>
                  </a:ext>
                </a:extLst>
              </p:cNvPr>
              <p:cNvSpPr txBox="1"/>
              <p:nvPr/>
            </p:nvSpPr>
            <p:spPr>
              <a:xfrm>
                <a:off x="7569200" y="2968228"/>
                <a:ext cx="2545762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𝐾𝐷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×100%</m:t>
                      </m:r>
                    </m:oMath>
                  </m:oMathPara>
                </a14:m>
                <a:endParaRPr lang="en-ID" sz="24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B76EDE8-8BB8-1E77-1983-73008591F8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69200" y="2968228"/>
                <a:ext cx="2545762" cy="369332"/>
              </a:xfrm>
              <a:prstGeom prst="rect">
                <a:avLst/>
              </a:prstGeom>
              <a:blipFill>
                <a:blip r:embed="rId2"/>
                <a:stretch>
                  <a:fillRect l="-2158" r="-2398" b="-36066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A2DA020E-0248-2221-8C55-9507E0043429}"/>
              </a:ext>
            </a:extLst>
          </p:cNvPr>
          <p:cNvSpPr txBox="1"/>
          <p:nvPr/>
        </p:nvSpPr>
        <p:spPr>
          <a:xfrm>
            <a:off x="7467600" y="3824541"/>
            <a:ext cx="294343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KD	: </a:t>
            </a:r>
            <a:r>
              <a:rPr lang="en-US" dirty="0" err="1"/>
              <a:t>koefisien</a:t>
            </a:r>
            <a:r>
              <a:rPr lang="en-US" dirty="0"/>
              <a:t> </a:t>
            </a:r>
            <a:r>
              <a:rPr lang="en-US" dirty="0" err="1"/>
              <a:t>determinasi</a:t>
            </a:r>
            <a:endParaRPr lang="en-US" dirty="0"/>
          </a:p>
          <a:p>
            <a:r>
              <a:rPr lang="en-US" dirty="0"/>
              <a:t>r	: </a:t>
            </a:r>
            <a:r>
              <a:rPr lang="en-US" dirty="0" err="1"/>
              <a:t>koefisien</a:t>
            </a:r>
            <a:r>
              <a:rPr lang="en-US" dirty="0"/>
              <a:t> </a:t>
            </a:r>
            <a:r>
              <a:rPr lang="en-US" dirty="0" err="1"/>
              <a:t>korelasi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39109927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D1AD31-B9C4-464E-2154-17AB0325EB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Uji PEARSON PRODUCT MOMENT</a:t>
            </a:r>
            <a:endParaRPr lang="en-ID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CBEDE2-3883-FB96-0277-4C239ACA12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Uji Pearson Product Moment </a:t>
            </a:r>
            <a:r>
              <a:rPr lang="en-US" dirty="0" err="1"/>
              <a:t>atau</a:t>
            </a:r>
            <a:r>
              <a:rPr lang="en-US" dirty="0"/>
              <a:t> </a:t>
            </a:r>
            <a:r>
              <a:rPr lang="en-US" dirty="0" err="1"/>
              <a:t>analisis</a:t>
            </a:r>
            <a:r>
              <a:rPr lang="en-US" dirty="0"/>
              <a:t> </a:t>
            </a:r>
            <a:r>
              <a:rPr lang="en-US" dirty="0" err="1"/>
              <a:t>korelasi</a:t>
            </a:r>
            <a:r>
              <a:rPr lang="en-US" dirty="0"/>
              <a:t> </a:t>
            </a:r>
            <a:r>
              <a:rPr lang="en-US" dirty="0" err="1"/>
              <a:t>adalah</a:t>
            </a:r>
            <a:r>
              <a:rPr lang="en-US" dirty="0"/>
              <a:t> </a:t>
            </a:r>
            <a:r>
              <a:rPr lang="en-US" dirty="0" err="1"/>
              <a:t>mencari</a:t>
            </a:r>
            <a:r>
              <a:rPr lang="en-US" dirty="0"/>
              <a:t> </a:t>
            </a:r>
            <a:r>
              <a:rPr lang="en-US" dirty="0" err="1"/>
              <a:t>hubungan</a:t>
            </a:r>
            <a:r>
              <a:rPr lang="en-US" dirty="0"/>
              <a:t> </a:t>
            </a:r>
            <a:r>
              <a:rPr lang="en-US" dirty="0" err="1"/>
              <a:t>variabel</a:t>
            </a:r>
            <a:r>
              <a:rPr lang="en-US" dirty="0"/>
              <a:t> </a:t>
            </a:r>
            <a:r>
              <a:rPr lang="en-US" dirty="0" err="1"/>
              <a:t>bebas</a:t>
            </a:r>
            <a:r>
              <a:rPr lang="en-US" dirty="0"/>
              <a:t> (X) </a:t>
            </a:r>
            <a:r>
              <a:rPr lang="en-US" dirty="0" err="1"/>
              <a:t>dengan</a:t>
            </a:r>
            <a:r>
              <a:rPr lang="en-US" dirty="0"/>
              <a:t> variable </a:t>
            </a:r>
            <a:r>
              <a:rPr lang="en-US" dirty="0" err="1"/>
              <a:t>terikat</a:t>
            </a:r>
            <a:r>
              <a:rPr lang="en-US" dirty="0"/>
              <a:t> (Y) pada data yang </a:t>
            </a:r>
            <a:r>
              <a:rPr lang="en-US" dirty="0" err="1"/>
              <a:t>berbentuk</a:t>
            </a:r>
            <a:r>
              <a:rPr lang="en-US" dirty="0"/>
              <a:t> interval </a:t>
            </a:r>
            <a:r>
              <a:rPr lang="en-US" dirty="0" err="1"/>
              <a:t>atau</a:t>
            </a:r>
            <a:r>
              <a:rPr lang="en-US" dirty="0"/>
              <a:t> ratio. </a:t>
            </a:r>
          </a:p>
          <a:p>
            <a:pPr marL="101598" indent="0">
              <a:buNone/>
            </a:pPr>
            <a:endParaRPr lang="en-US" dirty="0"/>
          </a:p>
          <a:p>
            <a:r>
              <a:rPr lang="en-US" dirty="0" err="1"/>
              <a:t>Rumus</a:t>
            </a:r>
            <a:r>
              <a:rPr lang="en-US" dirty="0"/>
              <a:t> yang </a:t>
            </a:r>
            <a:r>
              <a:rPr lang="en-US" dirty="0" err="1"/>
              <a:t>dikemukakan</a:t>
            </a:r>
            <a:r>
              <a:rPr lang="en-US" dirty="0"/>
              <a:t> </a:t>
            </a:r>
            <a:r>
              <a:rPr lang="en-US" dirty="0" err="1"/>
              <a:t>adalah</a:t>
            </a:r>
            <a:r>
              <a:rPr lang="en-US" dirty="0"/>
              <a:t>:</a:t>
            </a:r>
          </a:p>
          <a:p>
            <a:pPr marL="101598" indent="0">
              <a:buNone/>
            </a:pPr>
            <a:endParaRPr lang="en-US" dirty="0"/>
          </a:p>
          <a:p>
            <a:pPr marL="101598" indent="0">
              <a:buNone/>
            </a:pPr>
            <a:endParaRPr lang="en-ID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5B3C193-3F27-6830-2280-635FAD6580A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4666" t="39704" r="51833" b="52444"/>
          <a:stretch/>
        </p:blipFill>
        <p:spPr>
          <a:xfrm>
            <a:off x="3933645" y="4470400"/>
            <a:ext cx="4324709" cy="81280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8393081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D1AD31-B9C4-464E-2154-17AB0325EB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Uji PEARSON PRODUCT MOMENT</a:t>
            </a:r>
            <a:endParaRPr lang="en-ID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CBEDE2-3883-FB96-0277-4C239ACA12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40400" y="2102067"/>
            <a:ext cx="4518720" cy="3748400"/>
          </a:xfrm>
        </p:spPr>
        <p:txBody>
          <a:bodyPr/>
          <a:lstStyle/>
          <a:p>
            <a:r>
              <a:rPr lang="en-US" sz="2000" dirty="0" err="1"/>
              <a:t>Korelasi</a:t>
            </a:r>
            <a:r>
              <a:rPr lang="en-US" sz="2000" dirty="0"/>
              <a:t> PPM </a:t>
            </a:r>
            <a:r>
              <a:rPr lang="en-US" sz="2000" dirty="0" err="1"/>
              <a:t>dilambangkan</a:t>
            </a:r>
            <a:r>
              <a:rPr lang="en-US" sz="2000" dirty="0"/>
              <a:t> </a:t>
            </a:r>
            <a:r>
              <a:rPr lang="en-US" sz="2000" dirty="0" err="1"/>
              <a:t>dengan</a:t>
            </a:r>
            <a:r>
              <a:rPr lang="en-US" sz="2000" dirty="0"/>
              <a:t> r </a:t>
            </a:r>
            <a:r>
              <a:rPr lang="en-US" sz="2000" dirty="0" err="1"/>
              <a:t>dengan</a:t>
            </a:r>
            <a:r>
              <a:rPr lang="en-US" sz="2000" dirty="0"/>
              <a:t> </a:t>
            </a:r>
            <a:r>
              <a:rPr lang="en-US" sz="2000" dirty="0" err="1"/>
              <a:t>ketentuan</a:t>
            </a:r>
            <a:r>
              <a:rPr lang="en-US" sz="2000" dirty="0"/>
              <a:t> </a:t>
            </a:r>
            <a:r>
              <a:rPr lang="en-US" sz="2000" dirty="0" err="1"/>
              <a:t>nilainya</a:t>
            </a:r>
            <a:r>
              <a:rPr lang="en-US" sz="2000" dirty="0"/>
              <a:t> </a:t>
            </a:r>
            <a:r>
              <a:rPr lang="en-US" sz="2000" dirty="0" err="1"/>
              <a:t>adalah</a:t>
            </a:r>
            <a:r>
              <a:rPr lang="en-US" sz="2000" dirty="0"/>
              <a:t> -1 ≤ r ≤ 1. </a:t>
            </a:r>
            <a:r>
              <a:rPr lang="en-US" sz="2000" dirty="0" err="1"/>
              <a:t>Apabila</a:t>
            </a:r>
            <a:r>
              <a:rPr lang="en-US" sz="2000" dirty="0"/>
              <a:t> r=-1 </a:t>
            </a:r>
            <a:r>
              <a:rPr lang="en-US" sz="2000" dirty="0" err="1"/>
              <a:t>artinya</a:t>
            </a:r>
            <a:r>
              <a:rPr lang="en-US" sz="2000" dirty="0"/>
              <a:t> </a:t>
            </a:r>
            <a:r>
              <a:rPr lang="en-US" sz="2000" dirty="0" err="1"/>
              <a:t>korelasi</a:t>
            </a:r>
            <a:r>
              <a:rPr lang="en-US" sz="2000" dirty="0"/>
              <a:t> </a:t>
            </a:r>
            <a:r>
              <a:rPr lang="en-US" sz="2000" dirty="0" err="1"/>
              <a:t>negatif</a:t>
            </a:r>
            <a:r>
              <a:rPr lang="en-US" sz="2000" dirty="0"/>
              <a:t> </a:t>
            </a:r>
            <a:r>
              <a:rPr lang="en-US" sz="2000" dirty="0" err="1"/>
              <a:t>sempurna</a:t>
            </a:r>
            <a:r>
              <a:rPr lang="en-US" sz="2000" dirty="0"/>
              <a:t>, </a:t>
            </a:r>
            <a:r>
              <a:rPr lang="en-US" sz="2000" dirty="0" err="1"/>
              <a:t>bilai</a:t>
            </a:r>
            <a:r>
              <a:rPr lang="en-US" sz="2000" dirty="0"/>
              <a:t> r=0 </a:t>
            </a:r>
            <a:r>
              <a:rPr lang="en-US" sz="2000" dirty="0" err="1"/>
              <a:t>artinya</a:t>
            </a:r>
            <a:r>
              <a:rPr lang="en-US" sz="2000" dirty="0"/>
              <a:t> </a:t>
            </a:r>
            <a:r>
              <a:rPr lang="en-US" sz="2000" dirty="0" err="1"/>
              <a:t>tidak</a:t>
            </a:r>
            <a:r>
              <a:rPr lang="en-US" sz="2000" dirty="0"/>
              <a:t> </a:t>
            </a:r>
            <a:r>
              <a:rPr lang="en-US" sz="2000" dirty="0" err="1"/>
              <a:t>terdapat</a:t>
            </a:r>
            <a:r>
              <a:rPr lang="en-US" sz="2000" dirty="0"/>
              <a:t> </a:t>
            </a:r>
            <a:r>
              <a:rPr lang="en-US" sz="2000" dirty="0" err="1"/>
              <a:t>korelasi</a:t>
            </a:r>
            <a:r>
              <a:rPr lang="en-US" sz="2000" dirty="0"/>
              <a:t>, dan </a:t>
            </a:r>
            <a:r>
              <a:rPr lang="en-US" sz="2000" dirty="0" err="1"/>
              <a:t>bila</a:t>
            </a:r>
            <a:r>
              <a:rPr lang="en-US" sz="2000" dirty="0"/>
              <a:t>  r=1 </a:t>
            </a:r>
            <a:r>
              <a:rPr lang="en-US" sz="2000" dirty="0" err="1"/>
              <a:t>artinya</a:t>
            </a:r>
            <a:r>
              <a:rPr lang="en-US" sz="2000" dirty="0"/>
              <a:t> </a:t>
            </a:r>
            <a:r>
              <a:rPr lang="en-US" sz="2000" dirty="0" err="1"/>
              <a:t>korelasi</a:t>
            </a:r>
            <a:r>
              <a:rPr lang="en-US" sz="2000" dirty="0"/>
              <a:t> </a:t>
            </a:r>
            <a:r>
              <a:rPr lang="en-US" sz="2000" dirty="0" err="1"/>
              <a:t>positif</a:t>
            </a:r>
            <a:r>
              <a:rPr lang="en-US" sz="2000" dirty="0"/>
              <a:t> </a:t>
            </a:r>
            <a:r>
              <a:rPr lang="en-US" sz="2000" dirty="0" err="1"/>
              <a:t>sempurna</a:t>
            </a:r>
            <a:r>
              <a:rPr lang="en-US" sz="2000" dirty="0"/>
              <a:t>.</a:t>
            </a:r>
          </a:p>
          <a:p>
            <a:endParaRPr lang="en-US" sz="2000" dirty="0"/>
          </a:p>
          <a:p>
            <a:r>
              <a:rPr lang="en-US" sz="2000" dirty="0"/>
              <a:t>Nilai r </a:t>
            </a:r>
            <a:r>
              <a:rPr lang="en-US" sz="2000" dirty="0" err="1"/>
              <a:t>akan</a:t>
            </a:r>
            <a:r>
              <a:rPr lang="en-US" sz="2000" dirty="0"/>
              <a:t> </a:t>
            </a:r>
            <a:r>
              <a:rPr lang="en-US" sz="2000" dirty="0" err="1"/>
              <a:t>diinterpretasikan</a:t>
            </a:r>
            <a:r>
              <a:rPr lang="en-US" sz="2000" dirty="0"/>
              <a:t> </a:t>
            </a:r>
            <a:r>
              <a:rPr lang="en-US" sz="2000" dirty="0" err="1"/>
              <a:t>dengan</a:t>
            </a:r>
            <a:r>
              <a:rPr lang="en-US" sz="2000" dirty="0"/>
              <a:t> </a:t>
            </a:r>
            <a:r>
              <a:rPr lang="en-US" sz="2000" dirty="0" err="1"/>
              <a:t>ketentuan</a:t>
            </a:r>
            <a:r>
              <a:rPr lang="en-US" sz="2000" dirty="0"/>
              <a:t> </a:t>
            </a:r>
            <a:r>
              <a:rPr lang="en-US" sz="2000" dirty="0" err="1"/>
              <a:t>dalam</a:t>
            </a:r>
            <a:r>
              <a:rPr lang="en-US" sz="2000" dirty="0"/>
              <a:t> </a:t>
            </a:r>
            <a:r>
              <a:rPr lang="en-US" sz="2000" dirty="0" err="1"/>
              <a:t>tabel</a:t>
            </a:r>
            <a:r>
              <a:rPr lang="en-US" sz="2000" dirty="0"/>
              <a:t> di </a:t>
            </a:r>
            <a:r>
              <a:rPr lang="en-US" sz="2000" dirty="0" err="1"/>
              <a:t>sebelah</a:t>
            </a:r>
            <a:r>
              <a:rPr lang="en-US" sz="2000" dirty="0"/>
              <a:t> </a:t>
            </a:r>
            <a:r>
              <a:rPr lang="en-US" sz="2000" dirty="0" err="1"/>
              <a:t>kanan</a:t>
            </a:r>
            <a:r>
              <a:rPr lang="en-US" sz="2000" dirty="0"/>
              <a:t>.</a:t>
            </a:r>
          </a:p>
        </p:txBody>
      </p:sp>
      <p:graphicFrame>
        <p:nvGraphicFramePr>
          <p:cNvPr id="6" name="Table 4">
            <a:extLst>
              <a:ext uri="{FF2B5EF4-FFF2-40B4-BE49-F238E27FC236}">
                <a16:creationId xmlns:a16="http://schemas.microsoft.com/office/drawing/2014/main" id="{BDF615C6-0740-2D60-C1DE-7AC22FD017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9444931"/>
              </p:ext>
            </p:extLst>
          </p:nvPr>
        </p:nvGraphicFramePr>
        <p:xfrm>
          <a:off x="6661523" y="2438400"/>
          <a:ext cx="4307837" cy="22250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626003">
                  <a:extLst>
                    <a:ext uri="{9D8B030D-6E8A-4147-A177-3AD203B41FA5}">
                      <a16:colId xmlns:a16="http://schemas.microsoft.com/office/drawing/2014/main" val="438328203"/>
                    </a:ext>
                  </a:extLst>
                </a:gridCol>
                <a:gridCol w="1613690">
                  <a:extLst>
                    <a:ext uri="{9D8B030D-6E8A-4147-A177-3AD203B41FA5}">
                      <a16:colId xmlns:a16="http://schemas.microsoft.com/office/drawing/2014/main" val="1167406906"/>
                    </a:ext>
                  </a:extLst>
                </a:gridCol>
                <a:gridCol w="2068144">
                  <a:extLst>
                    <a:ext uri="{9D8B030D-6E8A-4147-A177-3AD203B41FA5}">
                      <a16:colId xmlns:a16="http://schemas.microsoft.com/office/drawing/2014/main" val="91855921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No.</a:t>
                      </a:r>
                      <a:endParaRPr lang="en-ID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Nilai </a:t>
                      </a:r>
                      <a:r>
                        <a:rPr lang="en-US" sz="1400" dirty="0" err="1"/>
                        <a:t>Korelasi</a:t>
                      </a:r>
                      <a:r>
                        <a:rPr lang="en-US" sz="1400" dirty="0"/>
                        <a:t> (r)</a:t>
                      </a:r>
                      <a:endParaRPr lang="en-ID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Tingkat </a:t>
                      </a:r>
                      <a:r>
                        <a:rPr lang="en-US" sz="1400" dirty="0" err="1"/>
                        <a:t>Hubungan</a:t>
                      </a:r>
                      <a:r>
                        <a:rPr lang="en-US" sz="1400" dirty="0"/>
                        <a:t> </a:t>
                      </a:r>
                      <a:endParaRPr lang="en-ID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17621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1.</a:t>
                      </a:r>
                      <a:endParaRPr lang="en-ID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0,00 – 0,199</a:t>
                      </a:r>
                      <a:endParaRPr lang="en-ID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Sangat </a:t>
                      </a:r>
                      <a:r>
                        <a:rPr lang="en-US" sz="1400" dirty="0" err="1"/>
                        <a:t>lemah</a:t>
                      </a:r>
                      <a:endParaRPr lang="en-ID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80885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2.</a:t>
                      </a:r>
                      <a:endParaRPr lang="en-ID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0,20 – 0,399</a:t>
                      </a:r>
                      <a:endParaRPr lang="en-ID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err="1"/>
                        <a:t>Lemah</a:t>
                      </a:r>
                      <a:endParaRPr lang="en-ID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76222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3.</a:t>
                      </a:r>
                      <a:endParaRPr lang="en-ID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0,40 – 0,599</a:t>
                      </a:r>
                      <a:endParaRPr lang="en-ID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err="1"/>
                        <a:t>Cukup</a:t>
                      </a:r>
                      <a:endParaRPr lang="en-ID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12651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4.</a:t>
                      </a:r>
                      <a:endParaRPr lang="en-ID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0,6 – 0,799</a:t>
                      </a:r>
                      <a:endParaRPr lang="en-ID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err="1"/>
                        <a:t>Kuat</a:t>
                      </a:r>
                      <a:endParaRPr lang="en-ID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0418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5.</a:t>
                      </a:r>
                      <a:endParaRPr lang="en-ID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0,8 - 1</a:t>
                      </a:r>
                      <a:endParaRPr lang="en-ID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Sangat </a:t>
                      </a:r>
                      <a:r>
                        <a:rPr lang="en-US" sz="1400" dirty="0" err="1"/>
                        <a:t>kuat</a:t>
                      </a:r>
                      <a:endParaRPr lang="en-ID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30444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904441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D1AD31-B9C4-464E-2154-17AB0325EB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Uji PEARSON PRODUCT MOMENT</a:t>
            </a:r>
            <a:endParaRPr lang="en-ID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CBEDE2-3883-FB96-0277-4C239ACA12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40400" y="2102067"/>
            <a:ext cx="10106720" cy="3748400"/>
          </a:xfrm>
        </p:spPr>
        <p:txBody>
          <a:bodyPr/>
          <a:lstStyle/>
          <a:p>
            <a:r>
              <a:rPr lang="en-US" sz="2000" dirty="0" err="1"/>
              <a:t>Sedangkan</a:t>
            </a:r>
            <a:r>
              <a:rPr lang="en-US" sz="2000" dirty="0"/>
              <a:t> </a:t>
            </a:r>
            <a:r>
              <a:rPr lang="en-US" sz="2000" dirty="0" err="1"/>
              <a:t>untuk</a:t>
            </a:r>
            <a:r>
              <a:rPr lang="en-US" sz="2000" dirty="0"/>
              <a:t> </a:t>
            </a:r>
            <a:r>
              <a:rPr lang="en-US" sz="2000" dirty="0" err="1"/>
              <a:t>menyatakan</a:t>
            </a:r>
            <a:r>
              <a:rPr lang="en-US" sz="2000" dirty="0"/>
              <a:t> </a:t>
            </a:r>
            <a:r>
              <a:rPr lang="en-US" sz="2000" dirty="0" err="1"/>
              <a:t>besar</a:t>
            </a:r>
            <a:r>
              <a:rPr lang="en-US" sz="2000" dirty="0"/>
              <a:t> </a:t>
            </a:r>
            <a:r>
              <a:rPr lang="en-US" sz="2000" dirty="0" err="1"/>
              <a:t>kecilnya</a:t>
            </a:r>
            <a:r>
              <a:rPr lang="en-US" sz="2000" dirty="0"/>
              <a:t> </a:t>
            </a:r>
            <a:r>
              <a:rPr lang="en-US" sz="2000" dirty="0" err="1"/>
              <a:t>sumbangan</a:t>
            </a:r>
            <a:r>
              <a:rPr lang="en-US" sz="2000" dirty="0"/>
              <a:t> variable X </a:t>
            </a:r>
            <a:r>
              <a:rPr lang="en-US" sz="2000" dirty="0" err="1"/>
              <a:t>terhadap</a:t>
            </a:r>
            <a:r>
              <a:rPr lang="en-US" sz="2000" dirty="0"/>
              <a:t> Y </a:t>
            </a:r>
            <a:r>
              <a:rPr lang="en-US" sz="2000" dirty="0" err="1"/>
              <a:t>dapat</a:t>
            </a:r>
            <a:r>
              <a:rPr lang="en-US" sz="2000" dirty="0"/>
              <a:t> </a:t>
            </a:r>
            <a:r>
              <a:rPr lang="en-US" sz="2000" dirty="0" err="1"/>
              <a:t>ditentukan</a:t>
            </a:r>
            <a:r>
              <a:rPr lang="en-US" sz="2000" dirty="0"/>
              <a:t> </a:t>
            </a:r>
            <a:r>
              <a:rPr lang="en-US" sz="2000" dirty="0" err="1"/>
              <a:t>dengan</a:t>
            </a:r>
            <a:r>
              <a:rPr lang="en-US" sz="2000" dirty="0"/>
              <a:t> </a:t>
            </a:r>
            <a:r>
              <a:rPr lang="en-US" sz="2000" dirty="0" err="1"/>
              <a:t>rumus</a:t>
            </a:r>
            <a:r>
              <a:rPr lang="en-US" sz="2000" dirty="0"/>
              <a:t> </a:t>
            </a:r>
            <a:r>
              <a:rPr lang="en-US" sz="2000" dirty="0" err="1"/>
              <a:t>koefisien</a:t>
            </a:r>
            <a:r>
              <a:rPr lang="en-US" sz="2000" dirty="0"/>
              <a:t> </a:t>
            </a:r>
            <a:r>
              <a:rPr lang="en-US" sz="2000" dirty="0" err="1"/>
              <a:t>determinan</a:t>
            </a:r>
            <a:r>
              <a:rPr lang="en-US" sz="2000" dirty="0"/>
              <a:t> </a:t>
            </a:r>
            <a:r>
              <a:rPr lang="en-US" sz="2000" dirty="0" err="1"/>
              <a:t>sebagai</a:t>
            </a:r>
            <a:r>
              <a:rPr lang="en-US" sz="2000" dirty="0"/>
              <a:t> </a:t>
            </a:r>
            <a:r>
              <a:rPr lang="en-US" sz="2000" dirty="0" err="1"/>
              <a:t>berikut</a:t>
            </a:r>
            <a:r>
              <a:rPr lang="en-US" sz="2000" dirty="0"/>
              <a:t>:</a:t>
            </a:r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pPr marL="101598" indent="0">
              <a:buNone/>
            </a:pPr>
            <a:r>
              <a:rPr lang="en-US" sz="2000" dirty="0" err="1"/>
              <a:t>dimana</a:t>
            </a:r>
            <a:r>
              <a:rPr lang="en-US" sz="2000" dirty="0"/>
              <a:t>:</a:t>
            </a:r>
          </a:p>
          <a:p>
            <a:pPr marL="101598" indent="0">
              <a:buNone/>
            </a:pPr>
            <a:r>
              <a:rPr lang="en-US" sz="2000" dirty="0"/>
              <a:t>KD 	= </a:t>
            </a:r>
            <a:r>
              <a:rPr lang="en-US" sz="2000" dirty="0" err="1"/>
              <a:t>koefisien</a:t>
            </a:r>
            <a:r>
              <a:rPr lang="en-US" sz="2000" dirty="0"/>
              <a:t> </a:t>
            </a:r>
            <a:r>
              <a:rPr lang="en-US" sz="2000" dirty="0" err="1"/>
              <a:t>determinan</a:t>
            </a:r>
            <a:endParaRPr lang="en-US" sz="2000" dirty="0"/>
          </a:p>
          <a:p>
            <a:pPr marL="101598" indent="0">
              <a:buNone/>
            </a:pPr>
            <a:r>
              <a:rPr lang="en-US" sz="2000" dirty="0"/>
              <a:t>r	= </a:t>
            </a:r>
            <a:r>
              <a:rPr lang="en-US" sz="2000" dirty="0" err="1"/>
              <a:t>koefisien</a:t>
            </a:r>
            <a:r>
              <a:rPr lang="en-US" sz="2000" dirty="0"/>
              <a:t> </a:t>
            </a:r>
            <a:r>
              <a:rPr lang="en-US" sz="2000" dirty="0" err="1"/>
              <a:t>korelasi</a:t>
            </a:r>
            <a:endParaRPr lang="en-US" sz="2000" dirty="0"/>
          </a:p>
          <a:p>
            <a:pPr marL="101598" indent="0">
              <a:buNone/>
            </a:pPr>
            <a:endParaRPr lang="en-US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2DAA066-162C-F388-A976-4E67F4E74D3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4583" t="51704" r="62667" b="42962"/>
          <a:stretch/>
        </p:blipFill>
        <p:spPr>
          <a:xfrm>
            <a:off x="4704080" y="3286760"/>
            <a:ext cx="3017520" cy="71000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1356261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D1AD31-B9C4-464E-2154-17AB0325EB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Uji PEARSON PRODUCT MOMENT</a:t>
            </a:r>
            <a:endParaRPr lang="en-ID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CBEDE2-3883-FB96-0277-4C239ACA12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40400" y="2102067"/>
            <a:ext cx="10106720" cy="3748400"/>
          </a:xfrm>
        </p:spPr>
        <p:txBody>
          <a:bodyPr/>
          <a:lstStyle/>
          <a:p>
            <a:pPr marL="101598" indent="0">
              <a:buNone/>
            </a:pPr>
            <a:r>
              <a:rPr lang="en-US" sz="1800" dirty="0"/>
              <a:t>Langkah-</a:t>
            </a:r>
            <a:r>
              <a:rPr lang="en-US" sz="1800" dirty="0" err="1"/>
              <a:t>langkah</a:t>
            </a:r>
            <a:r>
              <a:rPr lang="en-US" sz="1800" dirty="0"/>
              <a:t> Uji Pearson Product Moment:</a:t>
            </a:r>
          </a:p>
          <a:p>
            <a:pPr marL="101598" indent="0">
              <a:buNone/>
            </a:pPr>
            <a:r>
              <a:rPr lang="en-US" sz="1800" dirty="0"/>
              <a:t>1.  </a:t>
            </a:r>
            <a:r>
              <a:rPr lang="en-US" sz="1800" dirty="0" err="1"/>
              <a:t>Buatlah</a:t>
            </a:r>
            <a:r>
              <a:rPr lang="en-US" sz="1800" dirty="0"/>
              <a:t> </a:t>
            </a:r>
            <a:r>
              <a:rPr lang="en-US" sz="1800" dirty="0" err="1"/>
              <a:t>tabel</a:t>
            </a:r>
            <a:r>
              <a:rPr lang="en-US" sz="1800" dirty="0"/>
              <a:t> </a:t>
            </a:r>
            <a:r>
              <a:rPr lang="en-US" sz="1800" dirty="0" err="1"/>
              <a:t>penolong</a:t>
            </a:r>
            <a:r>
              <a:rPr lang="en-US" sz="1800" dirty="0"/>
              <a:t> </a:t>
            </a:r>
            <a:r>
              <a:rPr lang="en-US" sz="1800" dirty="0" err="1"/>
              <a:t>untuk</a:t>
            </a:r>
            <a:r>
              <a:rPr lang="en-US" sz="1800" dirty="0"/>
              <a:t> </a:t>
            </a:r>
            <a:r>
              <a:rPr lang="en-US" sz="1800" dirty="0" err="1"/>
              <a:t>menghitung</a:t>
            </a:r>
            <a:r>
              <a:rPr lang="en-US" sz="1800" dirty="0"/>
              <a:t> </a:t>
            </a:r>
            <a:r>
              <a:rPr lang="en-US" sz="1800" dirty="0" err="1"/>
              <a:t>nilai</a:t>
            </a:r>
            <a:r>
              <a:rPr lang="en-US" sz="1800" dirty="0"/>
              <a:t> </a:t>
            </a:r>
            <a:r>
              <a:rPr lang="en-US" sz="1800" dirty="0" err="1"/>
              <a:t>korelasi</a:t>
            </a:r>
            <a:r>
              <a:rPr lang="en-US" sz="1800" dirty="0"/>
              <a:t>.</a:t>
            </a:r>
          </a:p>
          <a:p>
            <a:pPr marL="101598" indent="0">
              <a:buNone/>
            </a:pPr>
            <a:r>
              <a:rPr lang="en-US" sz="1800" dirty="0"/>
              <a:t>2. </a:t>
            </a:r>
            <a:r>
              <a:rPr lang="en-US" sz="1800" dirty="0" err="1"/>
              <a:t>Tentukan</a:t>
            </a:r>
            <a:r>
              <a:rPr lang="en-US" sz="1800" dirty="0"/>
              <a:t> </a:t>
            </a:r>
            <a:r>
              <a:rPr lang="en-US" sz="1800" dirty="0" err="1"/>
              <a:t>nilai</a:t>
            </a:r>
            <a:r>
              <a:rPr lang="en-US" sz="1800" dirty="0"/>
              <a:t> r </a:t>
            </a:r>
            <a:r>
              <a:rPr lang="en-US" sz="1800" dirty="0" err="1"/>
              <a:t>dengan</a:t>
            </a:r>
            <a:r>
              <a:rPr lang="en-US" sz="1800" dirty="0"/>
              <a:t> </a:t>
            </a:r>
            <a:r>
              <a:rPr lang="en-US" sz="1800" dirty="0" err="1"/>
              <a:t>rumus</a:t>
            </a:r>
            <a:r>
              <a:rPr lang="en-US" sz="1800" dirty="0"/>
              <a:t>:</a:t>
            </a:r>
          </a:p>
          <a:p>
            <a:pPr marL="558798" indent="-457200">
              <a:buAutoNum type="arabicPeriod"/>
            </a:pPr>
            <a:endParaRPr lang="en-US" sz="1800" dirty="0"/>
          </a:p>
          <a:p>
            <a:pPr marL="558798" indent="-457200">
              <a:buAutoNum type="arabicPeriod"/>
            </a:pPr>
            <a:endParaRPr lang="en-US" sz="1800" dirty="0"/>
          </a:p>
          <a:p>
            <a:pPr marL="558798" indent="-457200">
              <a:buAutoNum type="arabicPeriod"/>
            </a:pPr>
            <a:endParaRPr lang="en-US" sz="1800" dirty="0"/>
          </a:p>
          <a:p>
            <a:pPr marL="558798" indent="-457200">
              <a:buAutoNum type="arabicPeriod"/>
            </a:pPr>
            <a:endParaRPr lang="en-US" sz="1800" dirty="0"/>
          </a:p>
          <a:p>
            <a:pPr marL="101598" indent="0">
              <a:buNone/>
            </a:pPr>
            <a:r>
              <a:rPr lang="en-US" sz="1800" dirty="0"/>
              <a:t>3.  </a:t>
            </a:r>
            <a:r>
              <a:rPr lang="en-US" sz="1800" dirty="0" err="1"/>
              <a:t>Menentukan</a:t>
            </a:r>
            <a:r>
              <a:rPr lang="en-US" sz="1800" dirty="0"/>
              <a:t> </a:t>
            </a:r>
            <a:r>
              <a:rPr lang="en-US" sz="1800" dirty="0" err="1"/>
              <a:t>besarnya</a:t>
            </a:r>
            <a:r>
              <a:rPr lang="en-US" sz="1800" dirty="0"/>
              <a:t> </a:t>
            </a:r>
            <a:r>
              <a:rPr lang="en-US" sz="1800" dirty="0" err="1"/>
              <a:t>sumbangan</a:t>
            </a:r>
            <a:r>
              <a:rPr lang="en-US" sz="1800" dirty="0"/>
              <a:t> variable X </a:t>
            </a:r>
            <a:r>
              <a:rPr lang="en-US" sz="1800" dirty="0" err="1"/>
              <a:t>terhadap</a:t>
            </a:r>
            <a:r>
              <a:rPr lang="en-US" sz="1800" dirty="0"/>
              <a:t> variable Y </a:t>
            </a:r>
            <a:r>
              <a:rPr lang="en-US" sz="1800" dirty="0" err="1"/>
              <a:t>dengan</a:t>
            </a:r>
            <a:r>
              <a:rPr lang="en-US" sz="1800" dirty="0"/>
              <a:t> </a:t>
            </a:r>
            <a:r>
              <a:rPr lang="en-US" sz="1800" dirty="0" err="1"/>
              <a:t>rumus</a:t>
            </a:r>
            <a:r>
              <a:rPr lang="en-US" sz="1800" dirty="0"/>
              <a:t>:</a:t>
            </a:r>
          </a:p>
          <a:p>
            <a:pPr marL="558798" indent="-457200">
              <a:buAutoNum type="arabicPeriod"/>
            </a:pPr>
            <a:endParaRPr lang="en-US" sz="1800" dirty="0"/>
          </a:p>
          <a:p>
            <a:pPr marL="101598" indent="0">
              <a:buNone/>
            </a:pPr>
            <a:endParaRPr lang="en-US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BE10048-076F-29A4-CBFA-D134A4631B8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4666" t="39704" r="51833" b="52444"/>
          <a:stretch/>
        </p:blipFill>
        <p:spPr>
          <a:xfrm>
            <a:off x="1771291" y="3221959"/>
            <a:ext cx="4324709" cy="8128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0803A42-F52D-92A4-98A7-B1D957FCC33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4583" t="51704" r="62667" b="42962"/>
          <a:stretch/>
        </p:blipFill>
        <p:spPr>
          <a:xfrm>
            <a:off x="1953935" y="4900651"/>
            <a:ext cx="2404705" cy="56581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355067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D1AD31-B9C4-464E-2154-17AB0325EB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Uji PEARSON PRODUCT MOMENT</a:t>
            </a:r>
            <a:endParaRPr lang="en-ID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CBEDE2-3883-FB96-0277-4C239ACA12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40400" y="2102067"/>
            <a:ext cx="10106720" cy="3748400"/>
          </a:xfrm>
        </p:spPr>
        <p:txBody>
          <a:bodyPr/>
          <a:lstStyle/>
          <a:p>
            <a:pPr marL="101598" indent="0">
              <a:buNone/>
            </a:pPr>
            <a:r>
              <a:rPr lang="en-US" sz="1800" dirty="0"/>
              <a:t>4. </a:t>
            </a:r>
            <a:r>
              <a:rPr lang="en-US" sz="1800" dirty="0" err="1"/>
              <a:t>Menghitung</a:t>
            </a:r>
            <a:r>
              <a:rPr lang="en-US" sz="1800" dirty="0"/>
              <a:t> </a:t>
            </a:r>
            <a:r>
              <a:rPr lang="en-US" sz="1800" dirty="0" err="1"/>
              <a:t>nilai</a:t>
            </a:r>
            <a:r>
              <a:rPr lang="en-US" sz="1800" dirty="0"/>
              <a:t>                   </a:t>
            </a:r>
            <a:r>
              <a:rPr lang="en-US" sz="1800" dirty="0" err="1"/>
              <a:t>dengan</a:t>
            </a:r>
            <a:r>
              <a:rPr lang="en-US" sz="1800" dirty="0"/>
              <a:t> </a:t>
            </a:r>
            <a:r>
              <a:rPr lang="en-US" sz="1800" dirty="0" err="1"/>
              <a:t>rumus</a:t>
            </a:r>
            <a:r>
              <a:rPr lang="en-US" sz="1800" dirty="0"/>
              <a:t>:</a:t>
            </a:r>
          </a:p>
          <a:p>
            <a:pPr marL="558798" indent="-457200">
              <a:buAutoNum type="arabicPeriod"/>
            </a:pPr>
            <a:endParaRPr lang="en-US" sz="1800" dirty="0"/>
          </a:p>
          <a:p>
            <a:pPr marL="558798" indent="-457200">
              <a:buAutoNum type="arabicPeriod"/>
            </a:pPr>
            <a:endParaRPr lang="en-US" sz="1800" dirty="0"/>
          </a:p>
          <a:p>
            <a:pPr marL="558798" indent="-457200">
              <a:buAutoNum type="arabicPeriod"/>
            </a:pPr>
            <a:endParaRPr lang="en-US" sz="1800" dirty="0"/>
          </a:p>
          <a:p>
            <a:pPr marL="558798" indent="-457200">
              <a:buAutoNum type="arabicPeriod"/>
            </a:pPr>
            <a:endParaRPr lang="en-US" sz="1800" dirty="0"/>
          </a:p>
          <a:p>
            <a:pPr marL="101598" indent="0">
              <a:buNone/>
            </a:pPr>
            <a:r>
              <a:rPr lang="en-US" sz="1800" dirty="0"/>
              <a:t>5. </a:t>
            </a:r>
            <a:r>
              <a:rPr lang="en-US" sz="1800" dirty="0" err="1"/>
              <a:t>Menentukan</a:t>
            </a:r>
            <a:r>
              <a:rPr lang="en-US" sz="1800" dirty="0"/>
              <a:t>                  </a:t>
            </a:r>
            <a:r>
              <a:rPr lang="en-US" sz="1800" dirty="0" err="1"/>
              <a:t>berdasarkan</a:t>
            </a:r>
            <a:r>
              <a:rPr lang="en-US" sz="1800" dirty="0"/>
              <a:t> </a:t>
            </a:r>
            <a:r>
              <a:rPr lang="en-US" sz="1800" dirty="0" err="1"/>
              <a:t>Tabel</a:t>
            </a:r>
            <a:r>
              <a:rPr lang="en-US" sz="1800" dirty="0"/>
              <a:t> </a:t>
            </a:r>
            <a:r>
              <a:rPr lang="en-US" sz="1800" dirty="0" err="1"/>
              <a:t>Distribusi</a:t>
            </a:r>
            <a:r>
              <a:rPr lang="en-US" sz="1800" dirty="0"/>
              <a:t> t-Student. </a:t>
            </a:r>
            <a:r>
              <a:rPr lang="en-US" sz="1800" dirty="0" err="1"/>
              <a:t>Sebelumnya</a:t>
            </a:r>
            <a:r>
              <a:rPr lang="en-US" sz="1800" dirty="0"/>
              <a:t>, </a:t>
            </a:r>
            <a:r>
              <a:rPr lang="en-US" sz="1800" dirty="0" err="1"/>
              <a:t>perlu</a:t>
            </a:r>
            <a:r>
              <a:rPr lang="en-US" sz="1800" dirty="0"/>
              <a:t> </a:t>
            </a:r>
            <a:r>
              <a:rPr lang="en-US" sz="1800" dirty="0" err="1"/>
              <a:t>ditentukan</a:t>
            </a:r>
            <a:r>
              <a:rPr lang="en-US" sz="1800" dirty="0"/>
              <a:t> </a:t>
            </a:r>
            <a:r>
              <a:rPr lang="en-US" sz="1800" dirty="0" err="1"/>
              <a:t>taraf</a:t>
            </a:r>
            <a:r>
              <a:rPr lang="en-US" sz="1800" dirty="0"/>
              <a:t> </a:t>
            </a:r>
            <a:r>
              <a:rPr lang="en-US" sz="1800" dirty="0" err="1"/>
              <a:t>signifikansi</a:t>
            </a:r>
            <a:r>
              <a:rPr lang="en-US" sz="1800" dirty="0"/>
              <a:t> (</a:t>
            </a:r>
            <a:r>
              <a:rPr lang="en-US" sz="1800" dirty="0">
                <a:latin typeface="Corbel" panose="020B0503020204020204" pitchFamily="34" charset="0"/>
              </a:rPr>
              <a:t>α) </a:t>
            </a:r>
            <a:r>
              <a:rPr lang="en-US" sz="1800" dirty="0" err="1">
                <a:latin typeface="Corbel" panose="020B0503020204020204" pitchFamily="34" charset="0"/>
              </a:rPr>
              <a:t>terlebih</a:t>
            </a:r>
            <a:r>
              <a:rPr lang="en-US" sz="1800" dirty="0">
                <a:latin typeface="Corbel" panose="020B0503020204020204" pitchFamily="34" charset="0"/>
              </a:rPr>
              <a:t> </a:t>
            </a:r>
            <a:r>
              <a:rPr lang="en-US" sz="1800" dirty="0" err="1">
                <a:latin typeface="Corbel" panose="020B0503020204020204" pitchFamily="34" charset="0"/>
              </a:rPr>
              <a:t>dahulu</a:t>
            </a:r>
            <a:r>
              <a:rPr lang="en-US" sz="1800" dirty="0">
                <a:latin typeface="Corbel" panose="020B0503020204020204" pitchFamily="34" charset="0"/>
              </a:rPr>
              <a:t> (</a:t>
            </a:r>
            <a:r>
              <a:rPr lang="en-US" sz="1800" dirty="0" err="1">
                <a:latin typeface="Corbel" panose="020B0503020204020204" pitchFamily="34" charset="0"/>
              </a:rPr>
              <a:t>biasanya</a:t>
            </a:r>
            <a:r>
              <a:rPr lang="en-US" sz="1800" dirty="0">
                <a:latin typeface="Corbel" panose="020B0503020204020204" pitchFamily="34" charset="0"/>
              </a:rPr>
              <a:t> </a:t>
            </a:r>
            <a:r>
              <a:rPr lang="en-US" sz="1800" dirty="0" err="1">
                <a:latin typeface="Corbel" panose="020B0503020204020204" pitchFamily="34" charset="0"/>
              </a:rPr>
              <a:t>bernilai</a:t>
            </a:r>
            <a:r>
              <a:rPr lang="en-US" sz="1800" dirty="0">
                <a:latin typeface="Corbel" panose="020B0503020204020204" pitchFamily="34" charset="0"/>
              </a:rPr>
              <a:t> 0,01 </a:t>
            </a:r>
            <a:r>
              <a:rPr lang="en-US" sz="1800" dirty="0" err="1">
                <a:latin typeface="Corbel" panose="020B0503020204020204" pitchFamily="34" charset="0"/>
              </a:rPr>
              <a:t>atau</a:t>
            </a:r>
            <a:r>
              <a:rPr lang="en-US" sz="1800" dirty="0">
                <a:latin typeface="Corbel" panose="020B0503020204020204" pitchFamily="34" charset="0"/>
              </a:rPr>
              <a:t> 0,05). </a:t>
            </a:r>
          </a:p>
          <a:p>
            <a:pPr marL="101598" indent="0">
              <a:buNone/>
            </a:pPr>
            <a:endParaRPr lang="en-US" sz="1800" dirty="0"/>
          </a:p>
          <a:p>
            <a:pPr marL="558798" indent="-457200">
              <a:buAutoNum type="arabicPeriod"/>
            </a:pPr>
            <a:endParaRPr lang="en-US" sz="1800" dirty="0"/>
          </a:p>
          <a:p>
            <a:pPr marL="101598" indent="0">
              <a:buNone/>
            </a:pPr>
            <a:endParaRPr lang="en-US" sz="2000" dirty="0"/>
          </a:p>
          <a:p>
            <a:pPr marL="101598" indent="0">
              <a:buNone/>
            </a:pPr>
            <a:r>
              <a:rPr lang="en-US" sz="2000" dirty="0" err="1"/>
              <a:t>dimana</a:t>
            </a:r>
            <a:r>
              <a:rPr lang="en-US" sz="2000" dirty="0"/>
              <a:t>: n </a:t>
            </a:r>
            <a:r>
              <a:rPr lang="en-US" sz="2000" dirty="0" err="1"/>
              <a:t>adalah</a:t>
            </a:r>
            <a:r>
              <a:rPr lang="en-US" sz="2000" dirty="0"/>
              <a:t> </a:t>
            </a:r>
            <a:r>
              <a:rPr lang="en-US" sz="2000" dirty="0" err="1"/>
              <a:t>banyaknya</a:t>
            </a:r>
            <a:r>
              <a:rPr lang="en-US" sz="2000" dirty="0"/>
              <a:t> </a:t>
            </a:r>
            <a:r>
              <a:rPr lang="en-US" sz="2000" dirty="0" err="1"/>
              <a:t>pasangan</a:t>
            </a:r>
            <a:r>
              <a:rPr lang="en-US" sz="2000" dirty="0"/>
              <a:t> data dan k </a:t>
            </a:r>
            <a:r>
              <a:rPr lang="en-US" sz="2000" dirty="0" err="1"/>
              <a:t>adalah</a:t>
            </a:r>
            <a:r>
              <a:rPr lang="en-US" sz="2000" dirty="0"/>
              <a:t> </a:t>
            </a:r>
            <a:r>
              <a:rPr lang="en-US" sz="2000" dirty="0" err="1"/>
              <a:t>banyaknya</a:t>
            </a:r>
            <a:r>
              <a:rPr lang="en-US" sz="2000" dirty="0"/>
              <a:t> variable.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4">
                <a:extLst>
                  <a:ext uri="{FF2B5EF4-FFF2-40B4-BE49-F238E27FC236}">
                    <a16:creationId xmlns:a16="http://schemas.microsoft.com/office/drawing/2014/main" id="{897DE382-A4FD-60F9-576F-09627DB8131C}"/>
                  </a:ext>
                </a:extLst>
              </p:cNvPr>
              <p:cNvSpPr txBox="1"/>
              <p:nvPr/>
            </p:nvSpPr>
            <p:spPr>
              <a:xfrm>
                <a:off x="3153027" y="2113592"/>
                <a:ext cx="730393" cy="299569"/>
              </a:xfrm>
              <a:prstGeom prst="rect">
                <a:avLst/>
              </a:prstGeom>
              <a:noFill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  <p:txBody>
              <a:bodyPr wrap="none" lIns="0" tIns="0" rIns="0" bIns="0" rtlCol="0" anchor="t">
                <a:spAutoFit/>
              </a:bodyPr>
              <a:lstStyle>
                <a:lvl1pPr marL="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D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sz="1800" b="0" i="1">
                              <a:latin typeface="Cambria Math" panose="02040503050406030204" pitchFamily="18" charset="0"/>
                            </a:rPr>
                            <m:t>h𝑖𝑡𝑢𝑛𝑔</m:t>
                          </m:r>
                        </m:sub>
                      </m:sSub>
                    </m:oMath>
                  </m:oMathPara>
                </a14:m>
                <a:endParaRPr lang="en-ID" sz="1800" dirty="0"/>
              </a:p>
            </p:txBody>
          </p:sp>
        </mc:Choice>
        <mc:Fallback xmlns="">
          <p:sp>
            <p:nvSpPr>
              <p:cNvPr id="8" name="TextBox 4">
                <a:extLst>
                  <a:ext uri="{FF2B5EF4-FFF2-40B4-BE49-F238E27FC236}">
                    <a16:creationId xmlns:a16="http://schemas.microsoft.com/office/drawing/2014/main" id="{897DE382-A4FD-60F9-576F-09627DB813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53027" y="2113592"/>
                <a:ext cx="730393" cy="299569"/>
              </a:xfrm>
              <a:prstGeom prst="rect">
                <a:avLst/>
              </a:prstGeom>
              <a:blipFill>
                <a:blip r:embed="rId2"/>
                <a:stretch>
                  <a:fillRect l="-5000" r="-5833" b="-28571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D5F743FA-4465-66BF-6890-DFAE5DF93AC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4750" t="60296" r="62250" b="31111"/>
          <a:stretch/>
        </p:blipFill>
        <p:spPr>
          <a:xfrm>
            <a:off x="1793211" y="2634936"/>
            <a:ext cx="2227142" cy="828040"/>
          </a:xfrm>
          <a:prstGeom prst="rect">
            <a:avLst/>
          </a:prstGeom>
          <a:ln>
            <a:solidFill>
              <a:schemeClr val="tx1"/>
            </a:solidFill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4">
                <a:extLst>
                  <a:ext uri="{FF2B5EF4-FFF2-40B4-BE49-F238E27FC236}">
                    <a16:creationId xmlns:a16="http://schemas.microsoft.com/office/drawing/2014/main" id="{D33B5397-CD36-38D1-43DB-E4BF2B260284}"/>
                  </a:ext>
                </a:extLst>
              </p:cNvPr>
              <p:cNvSpPr txBox="1"/>
              <p:nvPr/>
            </p:nvSpPr>
            <p:spPr>
              <a:xfrm>
                <a:off x="2791645" y="3699484"/>
                <a:ext cx="598625" cy="276999"/>
              </a:xfrm>
              <a:prstGeom prst="rect">
                <a:avLst/>
              </a:prstGeom>
              <a:noFill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  <p:txBody>
              <a:bodyPr wrap="none" lIns="0" tIns="0" rIns="0" bIns="0" rtlCol="0" anchor="t">
                <a:spAutoFit/>
              </a:bodyPr>
              <a:lstStyle>
                <a:lvl1pPr marL="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D" sz="1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𝑡𝑎𝑏𝑒𝑙</m:t>
                          </m:r>
                        </m:sub>
                      </m:sSub>
                    </m:oMath>
                  </m:oMathPara>
                </a14:m>
                <a:endParaRPr lang="en-ID" sz="1800" dirty="0"/>
              </a:p>
            </p:txBody>
          </p:sp>
        </mc:Choice>
        <mc:Fallback xmlns="">
          <p:sp>
            <p:nvSpPr>
              <p:cNvPr id="9" name="TextBox 4">
                <a:extLst>
                  <a:ext uri="{FF2B5EF4-FFF2-40B4-BE49-F238E27FC236}">
                    <a16:creationId xmlns:a16="http://schemas.microsoft.com/office/drawing/2014/main" id="{D33B5397-CD36-38D1-43DB-E4BF2B2602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91645" y="3699484"/>
                <a:ext cx="598625" cy="276999"/>
              </a:xfrm>
              <a:prstGeom prst="rect">
                <a:avLst/>
              </a:prstGeom>
              <a:blipFill>
                <a:blip r:embed="rId4"/>
                <a:stretch>
                  <a:fillRect l="-7143" r="-3061" b="-20000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" name="Picture 11">
            <a:extLst>
              <a:ext uri="{FF2B5EF4-FFF2-40B4-BE49-F238E27FC236}">
                <a16:creationId xmlns:a16="http://schemas.microsoft.com/office/drawing/2014/main" id="{858413C8-9B1A-6196-A7A4-AE16593BB89C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24866" t="35259" r="62167" b="58581"/>
          <a:stretch/>
        </p:blipFill>
        <p:spPr>
          <a:xfrm>
            <a:off x="1738963" y="4547715"/>
            <a:ext cx="2281390" cy="60960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0594412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D1AD31-B9C4-464E-2154-17AB0325EB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Uji PEARSON PRODUCT MOMENT</a:t>
            </a:r>
            <a:endParaRPr lang="en-ID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77CBEDE2-3883-FB96-0277-4C239ACA121C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1140400" y="2102067"/>
                <a:ext cx="10106720" cy="3748400"/>
              </a:xfrm>
            </p:spPr>
            <p:txBody>
              <a:bodyPr/>
              <a:lstStyle/>
              <a:p>
                <a:pPr marL="101598" indent="0">
                  <a:buNone/>
                </a:pPr>
                <a:r>
                  <a:rPr lang="en-US" sz="1800" dirty="0"/>
                  <a:t>6. </a:t>
                </a:r>
                <a:r>
                  <a:rPr lang="en-US" sz="1800" dirty="0" err="1"/>
                  <a:t>Melakukan</a:t>
                </a:r>
                <a:r>
                  <a:rPr lang="en-US" sz="1800" dirty="0"/>
                  <a:t> uji </a:t>
                </a:r>
                <a:r>
                  <a:rPr lang="en-US" sz="1800" dirty="0" err="1"/>
                  <a:t>signifikansi</a:t>
                </a:r>
                <a:r>
                  <a:rPr lang="en-US" sz="1800" dirty="0"/>
                  <a:t>, </a:t>
                </a:r>
                <a:r>
                  <a:rPr lang="en-US" sz="1800" dirty="0" err="1"/>
                  <a:t>dengan</a:t>
                </a:r>
                <a:r>
                  <a:rPr lang="en-US" sz="1800" dirty="0"/>
                  <a:t> </a:t>
                </a:r>
                <a:r>
                  <a:rPr lang="en-US" sz="1800" dirty="0" err="1"/>
                  <a:t>kaidah</a:t>
                </a:r>
                <a:r>
                  <a:rPr lang="en-US" sz="1800" dirty="0"/>
                  <a:t> </a:t>
                </a:r>
                <a:r>
                  <a:rPr lang="en-US" sz="1800" dirty="0" err="1"/>
                  <a:t>pengujian</a:t>
                </a:r>
                <a:r>
                  <a:rPr lang="en-US" sz="1800" dirty="0"/>
                  <a:t>:</a:t>
                </a:r>
              </a:p>
              <a:p>
                <a:pPr marL="101598" indent="0">
                  <a:buNone/>
                </a:pPr>
                <a:endParaRPr lang="en-US" sz="1800" dirty="0"/>
              </a:p>
              <a:p>
                <a:pPr marL="101598" indent="0">
                  <a:buNone/>
                </a:pP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𝐴𝑝𝑎𝑏𝑖𝑙𝑎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𝑡𝑎𝑏𝑒𝑙</m:t>
                        </m:r>
                      </m:sub>
                    </m:sSub>
                    <m:r>
                      <a:rPr lang="en-US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h𝑖𝑡𝑢𝑛𝑔</m:t>
                        </m:r>
                      </m:sub>
                    </m:sSub>
                    <m:r>
                      <a:rPr lang="en-US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𝑡𝑎𝑏𝑒𝑙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𝑚𝑎𝑘𝑎</m:t>
                    </m:r>
                    <m:r>
                      <a:rPr lang="en-US" sz="20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2000" b="1" i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𝐭𝐢𝐝𝐚𝐤</m:t>
                    </m:r>
                    <m:r>
                      <a:rPr lang="en-US" sz="2000" b="1" i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2000" b="1" i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𝐚𝐝𝐚</m:t>
                    </m:r>
                    <m:r>
                      <a:rPr lang="en-US" sz="2000" b="1" i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2000" b="1" i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𝐡𝐮𝐛𝐮𝐧𝐠𝐚𝐧</m:t>
                    </m:r>
                    <m:r>
                      <a:rPr lang="en-US" sz="20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</m:oMath>
                </a14:m>
                <a:r>
                  <a:rPr lang="en-US" sz="2000" b="0" i="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</a:p>
              <a:p>
                <a:pPr marL="101598" indent="0">
                  <a:buNone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dan</m:t>
                    </m:r>
                    <m:r>
                      <a:rPr lang="en-US" sz="20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20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apabila</m:t>
                    </m:r>
                    <m:r>
                      <a:rPr lang="en-US" sz="20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h𝑖𝑡𝑢𝑛𝑔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𝑡𝑎𝑏𝑙𝑒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𝑚𝑎𝑘𝑎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2000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𝒂𝒅𝒂</m:t>
                    </m:r>
                    <m:r>
                      <a:rPr lang="en-US" sz="2000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2000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𝒉𝒖𝒃𝒖𝒏𝒈𝒂𝒏</m:t>
                    </m:r>
                  </m:oMath>
                </a14:m>
                <a:r>
                  <a:rPr lang="en-US" sz="2000" dirty="0"/>
                  <a:t>.</a:t>
                </a:r>
              </a:p>
              <a:p>
                <a:pPr marL="101598" indent="0">
                  <a:buNone/>
                </a:pPr>
                <a:endParaRPr lang="en-US" sz="2000" dirty="0"/>
              </a:p>
              <a:p>
                <a:pPr marL="101598" indent="0">
                  <a:buNone/>
                </a:pPr>
                <a:r>
                  <a:rPr lang="en-US" sz="2000" dirty="0"/>
                  <a:t>7. </a:t>
                </a:r>
                <a:r>
                  <a:rPr lang="en-US" sz="2000" dirty="0" err="1"/>
                  <a:t>Penarikan</a:t>
                </a:r>
                <a:r>
                  <a:rPr lang="en-US" sz="2000" dirty="0"/>
                  <a:t> </a:t>
                </a:r>
                <a:r>
                  <a:rPr lang="en-US" sz="2000" dirty="0" err="1"/>
                  <a:t>kesimpulan</a:t>
                </a:r>
                <a:r>
                  <a:rPr lang="en-US" sz="2000" dirty="0"/>
                  <a:t>.</a:t>
                </a:r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77CBEDE2-3883-FB96-0277-4C239ACA121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1140400" y="2102067"/>
                <a:ext cx="10106720" cy="3748400"/>
              </a:xfrm>
              <a:blipFill>
                <a:blip r:embed="rId2"/>
                <a:stretch>
                  <a:fillRect l="-483" t="-1789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629215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D1AD31-B9C4-464E-2154-17AB0325EB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Uji PEARSON PRODUCT MOMENT (</a:t>
            </a:r>
            <a:r>
              <a:rPr lang="en-US" dirty="0" err="1"/>
              <a:t>Studi</a:t>
            </a:r>
            <a:r>
              <a:rPr lang="en-US" dirty="0"/>
              <a:t> </a:t>
            </a:r>
            <a:r>
              <a:rPr lang="en-US" dirty="0" err="1"/>
              <a:t>Kasus</a:t>
            </a:r>
            <a:r>
              <a:rPr lang="en-US" dirty="0"/>
              <a:t>)</a:t>
            </a:r>
            <a:endParaRPr lang="en-ID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CBEDE2-3883-FB96-0277-4C239ACA12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40400" y="2102067"/>
            <a:ext cx="4640640" cy="3748400"/>
          </a:xfrm>
        </p:spPr>
        <p:txBody>
          <a:bodyPr/>
          <a:lstStyle/>
          <a:p>
            <a:pPr marL="101598" indent="0">
              <a:buNone/>
            </a:pPr>
            <a:endParaRPr lang="en-US" sz="1800" dirty="0"/>
          </a:p>
          <a:p>
            <a:pPr marL="101598" indent="0">
              <a:buNone/>
            </a:pPr>
            <a:r>
              <a:rPr lang="en-US" sz="1600" dirty="0" err="1"/>
              <a:t>Sebuah</a:t>
            </a:r>
            <a:r>
              <a:rPr lang="en-US" sz="1600" dirty="0"/>
              <a:t> </a:t>
            </a:r>
            <a:r>
              <a:rPr lang="en-US" sz="1600" dirty="0" err="1"/>
              <a:t>perusahaan</a:t>
            </a:r>
            <a:r>
              <a:rPr lang="en-US" sz="1600" dirty="0"/>
              <a:t> </a:t>
            </a:r>
            <a:r>
              <a:rPr lang="en-US" sz="1600" dirty="0" err="1"/>
              <a:t>periklanan</a:t>
            </a:r>
            <a:r>
              <a:rPr lang="en-US" sz="1600" dirty="0"/>
              <a:t> </a:t>
            </a:r>
            <a:r>
              <a:rPr lang="en-US" sz="1600" dirty="0" err="1"/>
              <a:t>ingin</a:t>
            </a:r>
            <a:r>
              <a:rPr lang="en-US" sz="1600" dirty="0"/>
              <a:t> </a:t>
            </a:r>
            <a:r>
              <a:rPr lang="en-US" sz="1600" dirty="0" err="1"/>
              <a:t>mengetahui</a:t>
            </a:r>
            <a:r>
              <a:rPr lang="en-US" sz="1600" dirty="0"/>
              <a:t> </a:t>
            </a:r>
            <a:r>
              <a:rPr lang="en-US" sz="1600" dirty="0" err="1"/>
              <a:t>hubungan</a:t>
            </a:r>
            <a:r>
              <a:rPr lang="en-US" sz="1600" dirty="0"/>
              <a:t> </a:t>
            </a:r>
            <a:r>
              <a:rPr lang="en-US" sz="1600" dirty="0" err="1"/>
              <a:t>antara</a:t>
            </a:r>
            <a:r>
              <a:rPr lang="en-US" sz="1600" dirty="0"/>
              <a:t> </a:t>
            </a:r>
            <a:r>
              <a:rPr lang="en-US" sz="1600" dirty="0" err="1"/>
              <a:t>durasi</a:t>
            </a:r>
            <a:r>
              <a:rPr lang="en-US" sz="1600" dirty="0"/>
              <a:t> </a:t>
            </a:r>
            <a:r>
              <a:rPr lang="en-US" sz="1600" dirty="0" err="1"/>
              <a:t>iklan</a:t>
            </a:r>
            <a:r>
              <a:rPr lang="en-US" sz="1600" dirty="0"/>
              <a:t> </a:t>
            </a:r>
            <a:r>
              <a:rPr lang="en-US" sz="1600" dirty="0" err="1"/>
              <a:t>produk</a:t>
            </a:r>
            <a:r>
              <a:rPr lang="en-US" sz="1600" dirty="0"/>
              <a:t> (X) yang </a:t>
            </a:r>
            <a:r>
              <a:rPr lang="en-US" sz="1600" dirty="0" err="1"/>
              <a:t>ditayangkan</a:t>
            </a:r>
            <a:r>
              <a:rPr lang="en-US" sz="1600" dirty="0"/>
              <a:t> per </a:t>
            </a:r>
            <a:r>
              <a:rPr lang="en-US" sz="1600" dirty="0" err="1"/>
              <a:t>bulan</a:t>
            </a:r>
            <a:r>
              <a:rPr lang="en-US" sz="1600" dirty="0"/>
              <a:t> oleh salah </a:t>
            </a:r>
            <a:r>
              <a:rPr lang="en-US" sz="1600" dirty="0" err="1"/>
              <a:t>satu</a:t>
            </a:r>
            <a:r>
              <a:rPr lang="en-US" sz="1600" dirty="0"/>
              <a:t> TV </a:t>
            </a:r>
            <a:r>
              <a:rPr lang="en-US" sz="1600" dirty="0" err="1"/>
              <a:t>swasta</a:t>
            </a:r>
            <a:r>
              <a:rPr lang="en-US" sz="1600" dirty="0"/>
              <a:t> </a:t>
            </a:r>
            <a:r>
              <a:rPr lang="en-US" sz="1600" dirty="0" err="1"/>
              <a:t>terhadap</a:t>
            </a:r>
            <a:r>
              <a:rPr lang="en-US" sz="1600" dirty="0"/>
              <a:t> </a:t>
            </a:r>
            <a:r>
              <a:rPr lang="en-US" sz="1600" dirty="0" err="1"/>
              <a:t>tingkat</a:t>
            </a:r>
            <a:r>
              <a:rPr lang="en-US" sz="1600" dirty="0"/>
              <a:t> </a:t>
            </a:r>
            <a:r>
              <a:rPr lang="en-US" sz="1600" dirty="0" err="1"/>
              <a:t>penjualan</a:t>
            </a:r>
            <a:r>
              <a:rPr lang="en-US" sz="1600" dirty="0"/>
              <a:t> </a:t>
            </a:r>
            <a:r>
              <a:rPr lang="en-US" sz="1600" dirty="0" err="1"/>
              <a:t>barang</a:t>
            </a:r>
            <a:r>
              <a:rPr lang="en-US" sz="1600" dirty="0"/>
              <a:t> (Y). </a:t>
            </a:r>
            <a:r>
              <a:rPr lang="en-US" sz="1600" dirty="0" err="1"/>
              <a:t>Kemudian</a:t>
            </a:r>
            <a:r>
              <a:rPr lang="en-US" sz="1600" dirty="0"/>
              <a:t> </a:t>
            </a:r>
            <a:r>
              <a:rPr lang="en-US" sz="1600" dirty="0" err="1"/>
              <a:t>diambil</a:t>
            </a:r>
            <a:r>
              <a:rPr lang="en-US" sz="1600" dirty="0"/>
              <a:t> data </a:t>
            </a:r>
            <a:r>
              <a:rPr lang="en-US" sz="1600" dirty="0" err="1"/>
              <a:t>durasi</a:t>
            </a:r>
            <a:r>
              <a:rPr lang="en-US" sz="1600" dirty="0"/>
              <a:t> </a:t>
            </a:r>
            <a:r>
              <a:rPr lang="en-US" sz="1600" dirty="0" err="1"/>
              <a:t>penayangan</a:t>
            </a:r>
            <a:r>
              <a:rPr lang="en-US" sz="1600" dirty="0"/>
              <a:t> </a:t>
            </a:r>
            <a:r>
              <a:rPr lang="en-US" sz="1600" dirty="0" err="1"/>
              <a:t>iklan</a:t>
            </a:r>
            <a:r>
              <a:rPr lang="en-US" sz="1600" dirty="0"/>
              <a:t> dan </a:t>
            </a:r>
            <a:r>
              <a:rPr lang="en-US" sz="1600" dirty="0" err="1"/>
              <a:t>tingkat</a:t>
            </a:r>
            <a:r>
              <a:rPr lang="en-US" sz="1600" dirty="0"/>
              <a:t> </a:t>
            </a:r>
            <a:r>
              <a:rPr lang="en-US" sz="1600" dirty="0" err="1"/>
              <a:t>penjualan</a:t>
            </a:r>
            <a:r>
              <a:rPr lang="en-US" sz="1600" dirty="0"/>
              <a:t> </a:t>
            </a:r>
            <a:r>
              <a:rPr lang="en-US" sz="1600" dirty="0" err="1"/>
              <a:t>selama</a:t>
            </a:r>
            <a:r>
              <a:rPr lang="en-US" sz="1600" dirty="0"/>
              <a:t> 12 </a:t>
            </a:r>
            <a:r>
              <a:rPr lang="en-US" sz="1600" dirty="0" err="1"/>
              <a:t>bulan</a:t>
            </a:r>
            <a:r>
              <a:rPr lang="en-US" sz="1600" dirty="0"/>
              <a:t>, </a:t>
            </a:r>
            <a:r>
              <a:rPr lang="en-US" sz="1600" dirty="0" err="1"/>
              <a:t>sebagai</a:t>
            </a:r>
            <a:r>
              <a:rPr lang="en-US" sz="1600" dirty="0"/>
              <a:t> </a:t>
            </a:r>
            <a:r>
              <a:rPr lang="en-US" sz="1600" dirty="0" err="1"/>
              <a:t>berikut</a:t>
            </a:r>
            <a:r>
              <a:rPr lang="en-US" sz="1600" dirty="0"/>
              <a:t> (</a:t>
            </a:r>
            <a:r>
              <a:rPr lang="en-US" sz="1600" dirty="0" err="1"/>
              <a:t>Siregar</a:t>
            </a:r>
            <a:r>
              <a:rPr lang="en-US" sz="1600" dirty="0"/>
              <a:t>, 2017).</a:t>
            </a:r>
          </a:p>
          <a:p>
            <a:pPr marL="101598" indent="0">
              <a:buNone/>
            </a:pPr>
            <a:endParaRPr lang="en-US" sz="1600" dirty="0"/>
          </a:p>
          <a:p>
            <a:pPr marL="101598" indent="0">
              <a:buNone/>
            </a:pPr>
            <a:r>
              <a:rPr lang="en-US" sz="1600" dirty="0" err="1"/>
              <a:t>Tentukanlah</a:t>
            </a:r>
            <a:r>
              <a:rPr lang="en-US" sz="1600" dirty="0"/>
              <a:t>:</a:t>
            </a:r>
          </a:p>
          <a:p>
            <a:pPr marL="444498" indent="-342900">
              <a:buAutoNum type="arabicPeriod"/>
            </a:pPr>
            <a:r>
              <a:rPr lang="en-US" sz="1600" dirty="0" err="1"/>
              <a:t>Berapa</a:t>
            </a:r>
            <a:r>
              <a:rPr lang="en-US" sz="1600" dirty="0"/>
              <a:t> </a:t>
            </a:r>
            <a:r>
              <a:rPr lang="en-US" sz="1600" dirty="0" err="1"/>
              <a:t>besar</a:t>
            </a:r>
            <a:r>
              <a:rPr lang="en-US" sz="1600" dirty="0"/>
              <a:t> </a:t>
            </a:r>
            <a:r>
              <a:rPr lang="en-US" sz="1600" dirty="0" err="1"/>
              <a:t>korelasi</a:t>
            </a:r>
            <a:r>
              <a:rPr lang="en-US" sz="1600" dirty="0"/>
              <a:t> </a:t>
            </a:r>
            <a:r>
              <a:rPr lang="en-US" sz="1600" dirty="0" err="1"/>
              <a:t>antara</a:t>
            </a:r>
            <a:r>
              <a:rPr lang="en-US" sz="1600" dirty="0"/>
              <a:t> variable X dan Y?</a:t>
            </a:r>
          </a:p>
          <a:p>
            <a:pPr marL="444498" indent="-342900">
              <a:buAutoNum type="arabicPeriod"/>
            </a:pPr>
            <a:r>
              <a:rPr lang="en-US" sz="1600" dirty="0" err="1"/>
              <a:t>Berapa</a:t>
            </a:r>
            <a:r>
              <a:rPr lang="en-US" sz="1600" dirty="0"/>
              <a:t> </a:t>
            </a:r>
            <a:r>
              <a:rPr lang="en-US" sz="1600" dirty="0" err="1"/>
              <a:t>besar</a:t>
            </a:r>
            <a:r>
              <a:rPr lang="en-US" sz="1600" dirty="0"/>
              <a:t> </a:t>
            </a:r>
            <a:r>
              <a:rPr lang="en-US" sz="1600" dirty="0" err="1"/>
              <a:t>sumbangan</a:t>
            </a:r>
            <a:r>
              <a:rPr lang="en-US" sz="1600" dirty="0"/>
              <a:t> variable X dan variable Y dan </a:t>
            </a:r>
            <a:r>
              <a:rPr lang="en-US" sz="1600" dirty="0" err="1"/>
              <a:t>apakah</a:t>
            </a:r>
            <a:r>
              <a:rPr lang="en-US" sz="1600" dirty="0"/>
              <a:t> </a:t>
            </a:r>
            <a:r>
              <a:rPr lang="en-US" sz="1600" dirty="0" err="1"/>
              <a:t>ada</a:t>
            </a:r>
            <a:r>
              <a:rPr lang="en-US" sz="1600" dirty="0"/>
              <a:t> </a:t>
            </a:r>
            <a:r>
              <a:rPr lang="en-US" sz="1600" dirty="0" err="1"/>
              <a:t>hubungan</a:t>
            </a:r>
            <a:r>
              <a:rPr lang="en-US" sz="1600" dirty="0"/>
              <a:t> yang </a:t>
            </a:r>
            <a:r>
              <a:rPr lang="en-US" sz="1600" dirty="0" err="1"/>
              <a:t>signifikan</a:t>
            </a:r>
            <a:r>
              <a:rPr lang="en-US" sz="1600" dirty="0"/>
              <a:t> </a:t>
            </a:r>
            <a:r>
              <a:rPr lang="en-US" sz="1600" dirty="0" err="1"/>
              <a:t>antara</a:t>
            </a:r>
            <a:r>
              <a:rPr lang="en-US" sz="1600" dirty="0"/>
              <a:t> </a:t>
            </a:r>
            <a:r>
              <a:rPr lang="en-US" sz="1600" dirty="0" err="1"/>
              <a:t>keduanya</a:t>
            </a:r>
            <a:r>
              <a:rPr lang="en-US" sz="1600" dirty="0"/>
              <a:t>?</a:t>
            </a:r>
          </a:p>
          <a:p>
            <a:pPr marL="558798" indent="-457200">
              <a:buAutoNum type="arabicPeriod"/>
            </a:pPr>
            <a:endParaRPr lang="en-US" sz="200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728EB76-CBDD-D84A-0EB1-5215FB7B5F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76234308"/>
              </p:ext>
            </p:extLst>
          </p:nvPr>
        </p:nvGraphicFramePr>
        <p:xfrm>
          <a:off x="6709410" y="2193507"/>
          <a:ext cx="3771900" cy="306959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52500">
                  <a:extLst>
                    <a:ext uri="{9D8B030D-6E8A-4147-A177-3AD203B41FA5}">
                      <a16:colId xmlns:a16="http://schemas.microsoft.com/office/drawing/2014/main" val="3916251241"/>
                    </a:ext>
                  </a:extLst>
                </a:gridCol>
                <a:gridCol w="1308100">
                  <a:extLst>
                    <a:ext uri="{9D8B030D-6E8A-4147-A177-3AD203B41FA5}">
                      <a16:colId xmlns:a16="http://schemas.microsoft.com/office/drawing/2014/main" val="2987079811"/>
                    </a:ext>
                  </a:extLst>
                </a:gridCol>
                <a:gridCol w="1511300">
                  <a:extLst>
                    <a:ext uri="{9D8B030D-6E8A-4147-A177-3AD203B41FA5}">
                      <a16:colId xmlns:a16="http://schemas.microsoft.com/office/drawing/2014/main" val="161840285"/>
                    </a:ext>
                  </a:extLst>
                </a:gridCol>
              </a:tblGrid>
              <a:tr h="184150">
                <a:tc>
                  <a:txBody>
                    <a:bodyPr/>
                    <a:lstStyle/>
                    <a:p>
                      <a:pPr algn="ctr" fontAlgn="b"/>
                      <a:r>
                        <a:rPr lang="en-ID" sz="1400" u="none" strike="noStrike" dirty="0" err="1">
                          <a:effectLst/>
                        </a:rPr>
                        <a:t>Periode</a:t>
                      </a:r>
                      <a:endParaRPr lang="en-ID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1400" u="none" strike="noStrike">
                          <a:effectLst/>
                        </a:rPr>
                        <a:t>Durasi Iklan (menit)</a:t>
                      </a:r>
                      <a:endParaRPr lang="en-ID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1400" u="none" strike="noStrike">
                          <a:effectLst/>
                        </a:rPr>
                        <a:t>Penjualan Barang (unit)</a:t>
                      </a:r>
                      <a:endParaRPr lang="en-ID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40544534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/>
                      <a:r>
                        <a:rPr lang="en-ID" sz="1400" u="none" strike="noStrike">
                          <a:effectLst/>
                        </a:rPr>
                        <a:t>Januari</a:t>
                      </a:r>
                      <a:endParaRPr lang="en-ID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400" u="none" strike="noStrike">
                          <a:effectLst/>
                        </a:rPr>
                        <a:t>45</a:t>
                      </a:r>
                      <a:endParaRPr lang="en-ID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400" u="none" strike="noStrike" dirty="0">
                          <a:effectLst/>
                        </a:rPr>
                        <a:t>35240</a:t>
                      </a:r>
                      <a:endParaRPr lang="en-ID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77684972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/>
                      <a:r>
                        <a:rPr lang="en-ID" sz="1400" u="none" strike="noStrike">
                          <a:effectLst/>
                        </a:rPr>
                        <a:t>Februari</a:t>
                      </a:r>
                      <a:endParaRPr lang="en-ID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400" u="none" strike="noStrike">
                          <a:effectLst/>
                        </a:rPr>
                        <a:t>55</a:t>
                      </a:r>
                      <a:endParaRPr lang="en-ID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400" u="none" strike="noStrike">
                          <a:effectLst/>
                        </a:rPr>
                        <a:t>36540</a:t>
                      </a:r>
                      <a:endParaRPr lang="en-ID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8783066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/>
                      <a:r>
                        <a:rPr lang="en-ID" sz="1400" u="none" strike="noStrike">
                          <a:effectLst/>
                        </a:rPr>
                        <a:t>Maret</a:t>
                      </a:r>
                      <a:endParaRPr lang="en-ID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400" u="none" strike="noStrike">
                          <a:effectLst/>
                        </a:rPr>
                        <a:t>40</a:t>
                      </a:r>
                      <a:endParaRPr lang="en-ID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400" u="none" strike="noStrike">
                          <a:effectLst/>
                        </a:rPr>
                        <a:t>35000</a:t>
                      </a:r>
                      <a:endParaRPr lang="en-ID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28428146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/>
                      <a:r>
                        <a:rPr lang="en-ID" sz="1400" u="none" strike="noStrike">
                          <a:effectLst/>
                        </a:rPr>
                        <a:t>April</a:t>
                      </a:r>
                      <a:endParaRPr lang="en-ID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400" u="none" strike="noStrike">
                          <a:effectLst/>
                        </a:rPr>
                        <a:t>60</a:t>
                      </a:r>
                      <a:endParaRPr lang="en-ID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400" u="none" strike="noStrike">
                          <a:effectLst/>
                        </a:rPr>
                        <a:t>42500</a:t>
                      </a:r>
                      <a:endParaRPr lang="en-ID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02052846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/>
                      <a:r>
                        <a:rPr lang="en-ID" sz="1400" u="none" strike="noStrike">
                          <a:effectLst/>
                        </a:rPr>
                        <a:t>Mei</a:t>
                      </a:r>
                      <a:endParaRPr lang="en-ID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400" u="none" strike="noStrike">
                          <a:effectLst/>
                        </a:rPr>
                        <a:t>70</a:t>
                      </a:r>
                      <a:endParaRPr lang="en-ID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400" u="none" strike="noStrike">
                          <a:effectLst/>
                        </a:rPr>
                        <a:t>43000</a:t>
                      </a:r>
                      <a:endParaRPr lang="en-ID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86640741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/>
                      <a:r>
                        <a:rPr lang="en-ID" sz="1400" u="none" strike="noStrike">
                          <a:effectLst/>
                        </a:rPr>
                        <a:t>Juni</a:t>
                      </a:r>
                      <a:endParaRPr lang="en-ID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400" u="none" strike="noStrike">
                          <a:effectLst/>
                        </a:rPr>
                        <a:t>60</a:t>
                      </a:r>
                      <a:endParaRPr lang="en-ID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400" u="none" strike="noStrike">
                          <a:effectLst/>
                        </a:rPr>
                        <a:t>42500</a:t>
                      </a:r>
                      <a:endParaRPr lang="en-ID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71675003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/>
                      <a:r>
                        <a:rPr lang="en-ID" sz="1400" u="none" strike="noStrike">
                          <a:effectLst/>
                        </a:rPr>
                        <a:t>Juli</a:t>
                      </a:r>
                      <a:endParaRPr lang="en-ID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400" u="none" strike="noStrike">
                          <a:effectLst/>
                        </a:rPr>
                        <a:t>50</a:t>
                      </a:r>
                      <a:endParaRPr lang="en-ID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400" u="none" strike="noStrike">
                          <a:effectLst/>
                        </a:rPr>
                        <a:t>37500</a:t>
                      </a:r>
                      <a:endParaRPr lang="en-ID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77883152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/>
                      <a:r>
                        <a:rPr lang="en-ID" sz="1400" u="none" strike="noStrike">
                          <a:effectLst/>
                        </a:rPr>
                        <a:t>Agustus</a:t>
                      </a:r>
                      <a:endParaRPr lang="en-ID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400" u="none" strike="noStrike">
                          <a:effectLst/>
                        </a:rPr>
                        <a:t>45</a:t>
                      </a:r>
                      <a:endParaRPr lang="en-ID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400" u="none" strike="noStrike">
                          <a:effectLst/>
                        </a:rPr>
                        <a:t>40000</a:t>
                      </a:r>
                      <a:endParaRPr lang="en-ID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83005464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/>
                      <a:r>
                        <a:rPr lang="en-ID" sz="1400" u="none" strike="noStrike">
                          <a:effectLst/>
                        </a:rPr>
                        <a:t>September</a:t>
                      </a:r>
                      <a:endParaRPr lang="en-ID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400" u="none" strike="noStrike">
                          <a:effectLst/>
                        </a:rPr>
                        <a:t>35</a:t>
                      </a:r>
                      <a:endParaRPr lang="en-ID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400" u="none" strike="noStrike">
                          <a:effectLst/>
                        </a:rPr>
                        <a:t>32000</a:t>
                      </a:r>
                      <a:endParaRPr lang="en-ID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46659815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/>
                      <a:r>
                        <a:rPr lang="en-ID" sz="1400" u="none" strike="noStrike">
                          <a:effectLst/>
                        </a:rPr>
                        <a:t>Oktober</a:t>
                      </a:r>
                      <a:endParaRPr lang="en-ID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400" u="none" strike="noStrike">
                          <a:effectLst/>
                        </a:rPr>
                        <a:t>55</a:t>
                      </a:r>
                      <a:endParaRPr lang="en-ID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400" u="none" strike="noStrike">
                          <a:effectLst/>
                        </a:rPr>
                        <a:t>41500</a:t>
                      </a:r>
                      <a:endParaRPr lang="en-ID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38582312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/>
                      <a:r>
                        <a:rPr lang="en-ID" sz="1400" u="none" strike="noStrike">
                          <a:effectLst/>
                        </a:rPr>
                        <a:t>November</a:t>
                      </a:r>
                      <a:endParaRPr lang="en-ID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400" u="none" strike="noStrike">
                          <a:effectLst/>
                        </a:rPr>
                        <a:t>65</a:t>
                      </a:r>
                      <a:endParaRPr lang="en-ID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400" u="none" strike="noStrike">
                          <a:effectLst/>
                        </a:rPr>
                        <a:t>42500</a:t>
                      </a:r>
                      <a:endParaRPr lang="en-ID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51411087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/>
                      <a:r>
                        <a:rPr lang="en-ID" sz="1400" u="none" strike="noStrike">
                          <a:effectLst/>
                        </a:rPr>
                        <a:t>Desember</a:t>
                      </a:r>
                      <a:endParaRPr lang="en-ID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400" u="none" strike="noStrike">
                          <a:effectLst/>
                        </a:rPr>
                        <a:t>60</a:t>
                      </a:r>
                      <a:endParaRPr lang="en-ID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400" u="none" strike="noStrike" dirty="0">
                          <a:effectLst/>
                        </a:rPr>
                        <a:t>43000</a:t>
                      </a:r>
                      <a:endParaRPr lang="en-ID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765797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469252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D1AD31-B9C4-464E-2154-17AB0325EB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Uji PEARSON PRODUCT MOMENT (</a:t>
            </a:r>
            <a:r>
              <a:rPr lang="en-US" dirty="0" err="1"/>
              <a:t>Studi</a:t>
            </a:r>
            <a:r>
              <a:rPr lang="en-US" dirty="0"/>
              <a:t> </a:t>
            </a:r>
            <a:r>
              <a:rPr lang="en-US" dirty="0" err="1"/>
              <a:t>Kasus</a:t>
            </a:r>
            <a:r>
              <a:rPr lang="en-US" dirty="0"/>
              <a:t>)</a:t>
            </a:r>
            <a:endParaRPr lang="en-ID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CBEDE2-3883-FB96-0277-4C239ACA12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40400" y="2102067"/>
            <a:ext cx="9791760" cy="3748400"/>
          </a:xfrm>
        </p:spPr>
        <p:txBody>
          <a:bodyPr/>
          <a:lstStyle/>
          <a:p>
            <a:pPr marL="101598" indent="0">
              <a:buNone/>
            </a:pPr>
            <a:r>
              <a:rPr lang="en-US" sz="1800" dirty="0" err="1"/>
              <a:t>Contoh</a:t>
            </a:r>
            <a:r>
              <a:rPr lang="en-US" sz="1800" dirty="0"/>
              <a:t> </a:t>
            </a:r>
            <a:r>
              <a:rPr lang="en-US" sz="1800" dirty="0" err="1"/>
              <a:t>kasus</a:t>
            </a:r>
            <a:r>
              <a:rPr lang="en-US" sz="1800" dirty="0"/>
              <a:t> </a:t>
            </a:r>
            <a:r>
              <a:rPr lang="en-US" sz="1800" dirty="0" err="1"/>
              <a:t>tersebut</a:t>
            </a:r>
            <a:r>
              <a:rPr lang="en-US" sz="1800" dirty="0"/>
              <a:t> </a:t>
            </a:r>
            <a:r>
              <a:rPr lang="en-US" sz="1800" dirty="0" err="1"/>
              <a:t>bisa</a:t>
            </a:r>
            <a:r>
              <a:rPr lang="en-US" sz="1800" dirty="0"/>
              <a:t> </a:t>
            </a:r>
            <a:r>
              <a:rPr lang="en-US" sz="1800" dirty="0" err="1"/>
              <a:t>diselesaikan</a:t>
            </a:r>
            <a:r>
              <a:rPr lang="en-US" sz="1800" dirty="0"/>
              <a:t> </a:t>
            </a:r>
            <a:r>
              <a:rPr lang="en-US" sz="1800" dirty="0" err="1"/>
              <a:t>dengan</a:t>
            </a:r>
            <a:r>
              <a:rPr lang="en-US" sz="1800" dirty="0"/>
              <a:t> Uji Pearson Product Moment (PPM).</a:t>
            </a:r>
          </a:p>
          <a:p>
            <a:pPr marL="101598" indent="0">
              <a:buNone/>
            </a:pPr>
            <a:r>
              <a:rPr lang="en-US" sz="1800" dirty="0"/>
              <a:t>Langkah-</a:t>
            </a:r>
            <a:r>
              <a:rPr lang="en-US" sz="1800" dirty="0" err="1"/>
              <a:t>langkah</a:t>
            </a:r>
            <a:r>
              <a:rPr lang="en-US" sz="1800" dirty="0"/>
              <a:t> </a:t>
            </a:r>
            <a:r>
              <a:rPr lang="en-US" sz="1800" dirty="0" err="1"/>
              <a:t>pengujian</a:t>
            </a:r>
            <a:r>
              <a:rPr lang="en-US" sz="1800" dirty="0"/>
              <a:t> </a:t>
            </a:r>
            <a:r>
              <a:rPr lang="en-US" sz="1800" dirty="0" err="1"/>
              <a:t>adalah</a:t>
            </a:r>
            <a:r>
              <a:rPr lang="en-US" sz="1800" dirty="0"/>
              <a:t> </a:t>
            </a:r>
            <a:r>
              <a:rPr lang="en-US" sz="1800" dirty="0" err="1"/>
              <a:t>sebagai</a:t>
            </a:r>
            <a:r>
              <a:rPr lang="en-US" sz="1800" dirty="0"/>
              <a:t> </a:t>
            </a:r>
            <a:r>
              <a:rPr lang="en-US" sz="1800" dirty="0" err="1"/>
              <a:t>berikut</a:t>
            </a:r>
            <a:r>
              <a:rPr lang="en-US" sz="1800" dirty="0"/>
              <a:t>:</a:t>
            </a:r>
          </a:p>
          <a:p>
            <a:pPr marL="444498" indent="-342900">
              <a:buAutoNum type="arabicPeriod"/>
            </a:pPr>
            <a:r>
              <a:rPr lang="en-US" sz="1800" dirty="0" err="1"/>
              <a:t>Membuat</a:t>
            </a:r>
            <a:r>
              <a:rPr lang="en-US" sz="1800" dirty="0"/>
              <a:t> </a:t>
            </a:r>
            <a:r>
              <a:rPr lang="en-US" sz="1800" dirty="0" err="1"/>
              <a:t>tabel</a:t>
            </a:r>
            <a:r>
              <a:rPr lang="en-US" sz="1800" dirty="0"/>
              <a:t> </a:t>
            </a:r>
            <a:r>
              <a:rPr lang="en-US" sz="1800" dirty="0" err="1"/>
              <a:t>penolong</a:t>
            </a:r>
            <a:r>
              <a:rPr lang="en-US" sz="1800" dirty="0"/>
              <a:t>. </a:t>
            </a:r>
            <a:r>
              <a:rPr lang="en-US" sz="1800" dirty="0" err="1"/>
              <a:t>Contoh</a:t>
            </a:r>
            <a:r>
              <a:rPr lang="en-US" sz="1800" dirty="0"/>
              <a:t> </a:t>
            </a:r>
            <a:r>
              <a:rPr lang="en-US" sz="1800" dirty="0" err="1"/>
              <a:t>tabel</a:t>
            </a:r>
            <a:r>
              <a:rPr lang="en-US" sz="1800" dirty="0"/>
              <a:t> </a:t>
            </a:r>
            <a:r>
              <a:rPr lang="en-US" sz="1800" dirty="0" err="1"/>
              <a:t>penolong</a:t>
            </a:r>
            <a:r>
              <a:rPr lang="en-US" sz="1800" dirty="0"/>
              <a:t> </a:t>
            </a:r>
            <a:r>
              <a:rPr lang="en-US" sz="1800" dirty="0" err="1"/>
              <a:t>dapat</a:t>
            </a:r>
            <a:r>
              <a:rPr lang="en-US" sz="1800" dirty="0"/>
              <a:t> </a:t>
            </a:r>
            <a:r>
              <a:rPr lang="en-US" sz="1800" dirty="0" err="1"/>
              <a:t>dilihat</a:t>
            </a:r>
            <a:r>
              <a:rPr lang="en-US" sz="1800" dirty="0"/>
              <a:t> pada slide </a:t>
            </a:r>
            <a:r>
              <a:rPr lang="en-US" sz="1800" dirty="0" err="1"/>
              <a:t>selanjutnya</a:t>
            </a:r>
            <a:r>
              <a:rPr lang="en-US" sz="1800" dirty="0"/>
              <a:t>.</a:t>
            </a:r>
          </a:p>
          <a:p>
            <a:pPr marL="444498" indent="-342900">
              <a:buAutoNum type="arabicPeriod"/>
            </a:pPr>
            <a:r>
              <a:rPr lang="en-US" sz="1800" dirty="0" err="1"/>
              <a:t>Menghitung</a:t>
            </a:r>
            <a:r>
              <a:rPr lang="en-US" sz="1800" dirty="0"/>
              <a:t> </a:t>
            </a:r>
            <a:r>
              <a:rPr lang="en-US" sz="1800" dirty="0" err="1"/>
              <a:t>nilai</a:t>
            </a:r>
            <a:r>
              <a:rPr lang="en-US" sz="1800" dirty="0"/>
              <a:t> </a:t>
            </a:r>
            <a:r>
              <a:rPr lang="en-US" sz="1800" dirty="0" err="1"/>
              <a:t>koefisien</a:t>
            </a:r>
            <a:r>
              <a:rPr lang="en-US" sz="1800" dirty="0"/>
              <a:t> </a:t>
            </a:r>
            <a:r>
              <a:rPr lang="en-US" sz="1800" dirty="0" err="1"/>
              <a:t>korelasi</a:t>
            </a:r>
            <a:r>
              <a:rPr lang="en-US" sz="1800" dirty="0"/>
              <a:t> (r) </a:t>
            </a:r>
            <a:r>
              <a:rPr lang="en-US" sz="1800" dirty="0" err="1"/>
              <a:t>dengan</a:t>
            </a:r>
            <a:r>
              <a:rPr lang="en-US" sz="1800" dirty="0"/>
              <a:t> </a:t>
            </a:r>
            <a:r>
              <a:rPr lang="en-US" sz="1800" dirty="0" err="1"/>
              <a:t>rumus</a:t>
            </a:r>
            <a:r>
              <a:rPr lang="en-US" sz="1800" dirty="0"/>
              <a:t>:</a:t>
            </a:r>
          </a:p>
          <a:p>
            <a:pPr marL="444498" indent="-342900">
              <a:buAutoNum type="arabicPeriod"/>
            </a:pPr>
            <a:endParaRPr lang="en-US" sz="1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2842696-10CD-CB8C-AA01-BFD099DCB68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4666" t="39704" r="51833" b="52444"/>
          <a:stretch/>
        </p:blipFill>
        <p:spPr>
          <a:xfrm>
            <a:off x="1711571" y="3569867"/>
            <a:ext cx="4324709" cy="812800"/>
          </a:xfrm>
          <a:prstGeom prst="rect">
            <a:avLst/>
          </a:prstGeom>
          <a:ln>
            <a:solidFill>
              <a:schemeClr val="tx1"/>
            </a:solidFill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25C948F-C66C-7DE2-391C-115ABDD41C47}"/>
                  </a:ext>
                </a:extLst>
              </p:cNvPr>
              <p:cNvSpPr txBox="1"/>
              <p:nvPr/>
            </p:nvSpPr>
            <p:spPr>
              <a:xfrm>
                <a:off x="1711571" y="5085080"/>
                <a:ext cx="6262355" cy="50475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(12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m:rPr>
                              <m:nor/>
                            </m:rPr>
                            <a:rPr lang="en-ID"/>
                            <m:t>25525500</m:t>
                          </m:r>
                          <m:r>
                            <m:rPr>
                              <m:nor/>
                            </m:rPr>
                            <a:rPr lang="en-US" b="0" i="0" smtClean="0"/>
                            <m:t>)−(</m:t>
                          </m:r>
                          <m:r>
                            <m:rPr>
                              <m:nor/>
                            </m:rPr>
                            <a:rPr lang="en-ID"/>
                            <m:t>640</m:t>
                          </m:r>
                          <m:r>
                            <a:rPr lang="en-ID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m:rPr>
                              <m:nor/>
                            </m:rPr>
                            <a:rPr lang="en-ID"/>
                            <m:t>471280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12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×</m:t>
                                      </m:r>
                                      <m:r>
                                        <m:rPr>
                                          <m:nor/>
                                        </m:rPr>
                                        <a:rPr lang="en-ID"/>
                                        <m:t>35350</m:t>
                                      </m:r>
                                    </m:e>
                                  </m:d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p>
                                    <m:sSup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m:rPr>
                                          <m:nor/>
                                        </m:rPr>
                                        <a:rPr lang="en-ID"/>
                                        <m:t>640</m:t>
                                      </m:r>
                                    </m:e>
                                    <m:sup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×[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12×</m:t>
                                  </m:r>
                                  <m:r>
                                    <m:rPr>
                                      <m:nor/>
                                    </m:rPr>
                                    <a:rPr lang="en-ID"/>
                                    <m:t>1.8671</m:t>
                                  </m:r>
                                  <m:r>
                                    <m:rPr>
                                      <m:nor/>
                                    </m:rPr>
                                    <a:rPr lang="en-ID"/>
                                    <m:t>E</m:t>
                                  </m:r>
                                  <m:r>
                                    <m:rPr>
                                      <m:nor/>
                                    </m:rPr>
                                    <a:rPr lang="en-ID"/>
                                    <m:t>+10</m:t>
                                  </m:r>
                                </m:e>
                              </m:d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nor/>
                                    </m:rPr>
                                    <a:rPr lang="en-ID"/>
                                    <m:t>471280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e>
                          </m:rad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ID" b="1"/>
                        <m:t>0.87826521</m:t>
                      </m:r>
                    </m:oMath>
                  </m:oMathPara>
                </a14:m>
                <a:endParaRPr lang="en-ID" b="1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25C948F-C66C-7DE2-391C-115ABDD41C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11571" y="5085080"/>
                <a:ext cx="6262355" cy="504754"/>
              </a:xfrm>
              <a:prstGeom prst="rect">
                <a:avLst/>
              </a:prstGeom>
              <a:blipFill>
                <a:blip r:embed="rId3"/>
                <a:stretch>
                  <a:fillRect t="-2410" r="-97" b="-14458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13566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D1AD31-B9C4-464E-2154-17AB0325EB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Uji PEARSON PRODUCT MOMENT (</a:t>
            </a:r>
            <a:r>
              <a:rPr lang="en-US" dirty="0" err="1"/>
              <a:t>Studi</a:t>
            </a:r>
            <a:r>
              <a:rPr lang="en-US" dirty="0"/>
              <a:t> </a:t>
            </a:r>
            <a:r>
              <a:rPr lang="en-US" dirty="0" err="1"/>
              <a:t>Kasus</a:t>
            </a:r>
            <a:r>
              <a:rPr lang="en-US" dirty="0"/>
              <a:t>) – </a:t>
            </a:r>
            <a:r>
              <a:rPr lang="en-US" dirty="0" err="1"/>
              <a:t>tabel</a:t>
            </a:r>
            <a:r>
              <a:rPr lang="en-US" dirty="0"/>
              <a:t> </a:t>
            </a:r>
            <a:r>
              <a:rPr lang="en-US" dirty="0" err="1"/>
              <a:t>penolong</a:t>
            </a:r>
            <a:endParaRPr lang="en-ID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391CC0C-60CC-04D5-E22D-BDB775D53ED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3500" t="30650" r="17916" b="26815"/>
          <a:stretch/>
        </p:blipFill>
        <p:spPr>
          <a:xfrm>
            <a:off x="3073557" y="2157493"/>
            <a:ext cx="6044885" cy="374840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83563052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D1AD31-B9C4-464E-2154-17AB0325EB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Uji PEARSON PRODUCT MOMENT (</a:t>
            </a:r>
            <a:r>
              <a:rPr lang="en-US" dirty="0" err="1"/>
              <a:t>Studi</a:t>
            </a:r>
            <a:r>
              <a:rPr lang="en-US" dirty="0"/>
              <a:t> </a:t>
            </a:r>
            <a:r>
              <a:rPr lang="en-US" dirty="0" err="1"/>
              <a:t>Kasus</a:t>
            </a:r>
            <a:r>
              <a:rPr lang="en-US" dirty="0"/>
              <a:t>)</a:t>
            </a:r>
            <a:endParaRPr lang="en-ID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CBEDE2-3883-FB96-0277-4C239ACA12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40400" y="2102067"/>
            <a:ext cx="9791760" cy="3748400"/>
          </a:xfrm>
        </p:spPr>
        <p:txBody>
          <a:bodyPr/>
          <a:lstStyle/>
          <a:p>
            <a:pPr marL="444498" indent="-342900">
              <a:buFont typeface="+mj-lt"/>
              <a:buAutoNum type="arabicPeriod" startAt="3"/>
            </a:pPr>
            <a:r>
              <a:rPr lang="en-US" sz="1800" dirty="0" err="1"/>
              <a:t>Menentukan</a:t>
            </a:r>
            <a:r>
              <a:rPr lang="en-US" sz="1800" dirty="0"/>
              <a:t> </a:t>
            </a:r>
            <a:r>
              <a:rPr lang="en-US" sz="1800" dirty="0" err="1"/>
              <a:t>besarnya</a:t>
            </a:r>
            <a:r>
              <a:rPr lang="en-US" sz="1800" dirty="0"/>
              <a:t> </a:t>
            </a:r>
            <a:r>
              <a:rPr lang="en-US" sz="1800" dirty="0" err="1"/>
              <a:t>sumbangan</a:t>
            </a:r>
            <a:r>
              <a:rPr lang="en-US" sz="1800" dirty="0"/>
              <a:t> </a:t>
            </a:r>
            <a:r>
              <a:rPr lang="en-US" sz="1800" dirty="0" err="1"/>
              <a:t>variabel</a:t>
            </a:r>
            <a:r>
              <a:rPr lang="en-US" sz="1800" dirty="0"/>
              <a:t> X </a:t>
            </a:r>
            <a:r>
              <a:rPr lang="en-US" sz="1800" dirty="0" err="1"/>
              <a:t>terhadap</a:t>
            </a:r>
            <a:r>
              <a:rPr lang="en-US" sz="1800" dirty="0"/>
              <a:t> variable Y, </a:t>
            </a:r>
            <a:r>
              <a:rPr lang="en-US" sz="1800" dirty="0" err="1"/>
              <a:t>melalui</a:t>
            </a:r>
            <a:r>
              <a:rPr lang="en-US" sz="1800" dirty="0"/>
              <a:t> </a:t>
            </a:r>
            <a:r>
              <a:rPr lang="en-US" sz="1800" dirty="0" err="1"/>
              <a:t>perhitungan</a:t>
            </a:r>
            <a:r>
              <a:rPr lang="en-US" sz="1800" dirty="0"/>
              <a:t> </a:t>
            </a:r>
            <a:r>
              <a:rPr lang="en-US" sz="1800" dirty="0" err="1"/>
              <a:t>nilai</a:t>
            </a:r>
            <a:r>
              <a:rPr lang="en-US" sz="1800" dirty="0"/>
              <a:t> </a:t>
            </a:r>
            <a:r>
              <a:rPr lang="en-US" sz="1800" dirty="0" err="1"/>
              <a:t>Koefisien</a:t>
            </a:r>
            <a:r>
              <a:rPr lang="en-US" sz="1800" dirty="0"/>
              <a:t> </a:t>
            </a:r>
            <a:r>
              <a:rPr lang="en-US" sz="1800" dirty="0" err="1"/>
              <a:t>Determinasi</a:t>
            </a:r>
            <a:r>
              <a:rPr lang="en-US" sz="1800" dirty="0"/>
              <a:t> (KD), </a:t>
            </a:r>
            <a:r>
              <a:rPr lang="en-US" sz="1800" dirty="0" err="1"/>
              <a:t>dengan</a:t>
            </a:r>
            <a:r>
              <a:rPr lang="en-US" sz="1800" dirty="0"/>
              <a:t> </a:t>
            </a:r>
            <a:r>
              <a:rPr lang="en-US" sz="1800" dirty="0" err="1"/>
              <a:t>rumus</a:t>
            </a:r>
            <a:r>
              <a:rPr lang="en-US" sz="1800" dirty="0"/>
              <a:t>: </a:t>
            </a:r>
          </a:p>
          <a:p>
            <a:pPr marL="444498" indent="-342900">
              <a:buFont typeface="+mj-lt"/>
              <a:buAutoNum type="arabicPeriod" startAt="3"/>
            </a:pPr>
            <a:endParaRPr lang="en-US" sz="1800" dirty="0"/>
          </a:p>
          <a:p>
            <a:pPr marL="444498" indent="-342900">
              <a:buFont typeface="+mj-lt"/>
              <a:buAutoNum type="arabicPeriod" startAt="3"/>
            </a:pPr>
            <a:endParaRPr lang="en-US" sz="1800" dirty="0"/>
          </a:p>
          <a:p>
            <a:pPr marL="444498" indent="-342900">
              <a:buFont typeface="+mj-lt"/>
              <a:buAutoNum type="arabicPeriod" startAt="3"/>
            </a:pPr>
            <a:endParaRPr lang="en-US" sz="1800" dirty="0"/>
          </a:p>
          <a:p>
            <a:pPr marL="444498" indent="-342900">
              <a:buFont typeface="+mj-lt"/>
              <a:buAutoNum type="arabicPeriod" startAt="3"/>
            </a:pPr>
            <a:endParaRPr lang="en-US" sz="1800" dirty="0"/>
          </a:p>
          <a:p>
            <a:pPr marL="444498" indent="-342900">
              <a:buFont typeface="+mj-lt"/>
              <a:buAutoNum type="arabicPeriod" startAt="3"/>
            </a:pPr>
            <a:endParaRPr lang="en-US" sz="1800" dirty="0"/>
          </a:p>
          <a:p>
            <a:pPr marL="444498" indent="-342900">
              <a:buFont typeface="+mj-lt"/>
              <a:buAutoNum type="arabicPeriod" startAt="3"/>
            </a:pPr>
            <a:endParaRPr lang="en-US" sz="1800" dirty="0"/>
          </a:p>
          <a:p>
            <a:pPr marL="101598" indent="0">
              <a:buNone/>
            </a:pPr>
            <a:endParaRPr lang="en-US" sz="1800" dirty="0"/>
          </a:p>
          <a:p>
            <a:pPr marL="101598" indent="0">
              <a:buNone/>
            </a:pPr>
            <a:endParaRPr lang="en-US" sz="1800" dirty="0"/>
          </a:p>
          <a:p>
            <a:pPr marL="101598" indent="0">
              <a:buNone/>
            </a:pPr>
            <a:endParaRPr lang="en-US" sz="1800" dirty="0"/>
          </a:p>
          <a:p>
            <a:pPr marL="444498" indent="-342900">
              <a:buAutoNum type="arabicPeriod"/>
            </a:pPr>
            <a:endParaRPr lang="en-US" sz="18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B3F3E64-C1D9-33C3-0132-E652E4302A9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4583" t="51704" r="62667" b="42962"/>
          <a:stretch/>
        </p:blipFill>
        <p:spPr>
          <a:xfrm>
            <a:off x="1974491" y="3073997"/>
            <a:ext cx="3017520" cy="710005"/>
          </a:xfrm>
          <a:prstGeom prst="rect">
            <a:avLst/>
          </a:prstGeom>
          <a:ln>
            <a:solidFill>
              <a:schemeClr val="tx1"/>
            </a:solidFill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8932170-671C-936B-8292-A510626BD8DE}"/>
                  </a:ext>
                </a:extLst>
              </p:cNvPr>
              <p:cNvSpPr txBox="1"/>
              <p:nvPr/>
            </p:nvSpPr>
            <p:spPr>
              <a:xfrm>
                <a:off x="1974491" y="4243002"/>
                <a:ext cx="4439920" cy="24622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𝐾𝐷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ID" sz="1600"/>
                          <m:t>0.87826521</m:t>
                        </m:r>
                      </m:e>
                      <m:sup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×100%=</m:t>
                    </m:r>
                    <m:r>
                      <m:rPr>
                        <m:nor/>
                      </m:rPr>
                      <a:rPr lang="en-ID" sz="1600" b="1"/>
                      <m:t>77.13498</m:t>
                    </m:r>
                  </m:oMath>
                </a14:m>
                <a:r>
                  <a:rPr lang="en-ID" sz="1600" b="1" dirty="0"/>
                  <a:t> %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8932170-671C-936B-8292-A510626BD8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74491" y="4243002"/>
                <a:ext cx="4439920" cy="246221"/>
              </a:xfrm>
              <a:prstGeom prst="rect">
                <a:avLst/>
              </a:prstGeom>
              <a:blipFill>
                <a:blip r:embed="rId3"/>
                <a:stretch>
                  <a:fillRect l="-1648" t="-25000" b="-52500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5068819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D1AD31-B9C4-464E-2154-17AB0325EB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Uji PEARSON PRODUCT MOMENT (</a:t>
            </a:r>
            <a:r>
              <a:rPr lang="en-US" dirty="0" err="1"/>
              <a:t>Studi</a:t>
            </a:r>
            <a:r>
              <a:rPr lang="en-US" dirty="0"/>
              <a:t> </a:t>
            </a:r>
            <a:r>
              <a:rPr lang="en-US" dirty="0" err="1"/>
              <a:t>Kasus</a:t>
            </a:r>
            <a:r>
              <a:rPr lang="en-US" dirty="0"/>
              <a:t>)</a:t>
            </a:r>
            <a:endParaRPr lang="en-ID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77CBEDE2-3883-FB96-0277-4C239ACA121C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1140400" y="2102067"/>
                <a:ext cx="9791760" cy="3748400"/>
              </a:xfrm>
            </p:spPr>
            <p:txBody>
              <a:bodyPr/>
              <a:lstStyle/>
              <a:p>
                <a:pPr marL="444498" indent="-342900">
                  <a:buFont typeface="+mj-lt"/>
                  <a:buAutoNum type="arabicPeriod" startAt="4"/>
                </a:pPr>
                <a:r>
                  <a:rPr lang="en-US" sz="1800" dirty="0"/>
                  <a:t>Menghitung </a:t>
                </a:r>
                <a:r>
                  <a:rPr lang="en-US" sz="1800" dirty="0" err="1"/>
                  <a:t>nilai</a:t>
                </a:r>
                <a:r>
                  <a:rPr lang="en-US" sz="18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h𝑖𝑡𝑢𝑛𝑔</m:t>
                        </m:r>
                      </m:sub>
                    </m:sSub>
                  </m:oMath>
                </a14:m>
                <a:r>
                  <a:rPr lang="en-US" sz="1800" dirty="0"/>
                  <a:t>, </a:t>
                </a:r>
                <a:r>
                  <a:rPr lang="en-US" sz="1800" dirty="0" err="1"/>
                  <a:t>dengan</a:t>
                </a:r>
                <a:r>
                  <a:rPr lang="en-US" sz="1800" dirty="0"/>
                  <a:t> </a:t>
                </a:r>
                <a:r>
                  <a:rPr lang="en-US" sz="1800" dirty="0" err="1"/>
                  <a:t>rumus</a:t>
                </a:r>
                <a:r>
                  <a:rPr lang="en-US" sz="1800" dirty="0"/>
                  <a:t>:</a:t>
                </a:r>
              </a:p>
              <a:p>
                <a:pPr marL="444498" indent="-342900">
                  <a:buFont typeface="+mj-lt"/>
                  <a:buAutoNum type="arabicPeriod" startAt="4"/>
                </a:pPr>
                <a:endParaRPr lang="en-US" sz="1800" dirty="0"/>
              </a:p>
              <a:p>
                <a:pPr marL="444498" indent="-342900">
                  <a:buFont typeface="+mj-lt"/>
                  <a:buAutoNum type="arabicPeriod" startAt="4"/>
                </a:pPr>
                <a:endParaRPr lang="en-US" sz="1800" dirty="0"/>
              </a:p>
              <a:p>
                <a:pPr marL="444498" indent="-342900">
                  <a:buFont typeface="+mj-lt"/>
                  <a:buAutoNum type="arabicPeriod" startAt="4"/>
                </a:pPr>
                <a:endParaRPr lang="en-US" sz="1800" dirty="0"/>
              </a:p>
              <a:p>
                <a:pPr marL="444498" indent="-342900">
                  <a:buFont typeface="+mj-lt"/>
                  <a:buAutoNum type="arabicPeriod" startAt="4"/>
                </a:pPr>
                <a:endParaRPr lang="en-US" sz="1800" dirty="0"/>
              </a:p>
              <a:p>
                <a:pPr marL="444498" indent="-342900">
                  <a:buFont typeface="+mj-lt"/>
                  <a:buAutoNum type="arabicPeriod" startAt="4"/>
                </a:pPr>
                <a:endParaRPr lang="en-US" sz="1800" dirty="0"/>
              </a:p>
              <a:p>
                <a:pPr marL="444498" indent="-342900">
                  <a:buFont typeface="+mj-lt"/>
                  <a:buAutoNum type="arabicPeriod" startAt="4"/>
                </a:pPr>
                <a:r>
                  <a:rPr lang="en-US" sz="1800" dirty="0" err="1"/>
                  <a:t>Menentukan</a:t>
                </a:r>
                <a:r>
                  <a:rPr lang="en-US" sz="1800" dirty="0"/>
                  <a:t> </a:t>
                </a:r>
                <a14:m>
                  <m:oMath xmlns:m="http://schemas.openxmlformats.org/officeDocument/2006/math">
                    <m:r>
                      <a:rPr lang="en-US" sz="1800" b="0" i="0" smtClean="0">
                        <a:latin typeface="Cambria Math" panose="02040503050406030204" pitchFamily="18" charset="0"/>
                      </a:rPr>
                      <m:t>  </m:t>
                    </m:r>
                    <m:sSub>
                      <m:sSubPr>
                        <m:ctrlPr>
                          <a:rPr lang="en-US" sz="1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𝑡𝑎𝑏𝑒𝑙</m:t>
                        </m:r>
                      </m:sub>
                    </m:sSub>
                  </m:oMath>
                </a14:m>
                <a:r>
                  <a:rPr lang="en-US" sz="1800" dirty="0"/>
                  <a:t>   berdasarkan </a:t>
                </a:r>
                <a:r>
                  <a:rPr lang="en-US" sz="1800" dirty="0" err="1"/>
                  <a:t>Tabel</a:t>
                </a:r>
                <a:r>
                  <a:rPr lang="en-US" sz="1800" dirty="0"/>
                  <a:t> </a:t>
                </a:r>
                <a:r>
                  <a:rPr lang="en-US" sz="1800" dirty="0" err="1"/>
                  <a:t>Distribusi</a:t>
                </a:r>
                <a:r>
                  <a:rPr lang="en-US" sz="1800" dirty="0"/>
                  <a:t> t-Student. </a:t>
                </a:r>
                <a:r>
                  <a:rPr lang="en-US" sz="1800" dirty="0" err="1"/>
                  <a:t>Ditentukan</a:t>
                </a:r>
                <a:r>
                  <a:rPr lang="en-US" sz="1800" dirty="0"/>
                  <a:t> </a:t>
                </a:r>
                <a:r>
                  <a:rPr lang="en-US" sz="1800" dirty="0" err="1"/>
                  <a:t>taraf</a:t>
                </a:r>
                <a:r>
                  <a:rPr lang="en-US" sz="1800" dirty="0"/>
                  <a:t> </a:t>
                </a:r>
                <a:r>
                  <a:rPr lang="en-US" sz="1800" dirty="0" err="1"/>
                  <a:t>signifikansi</a:t>
                </a:r>
                <a:r>
                  <a:rPr lang="en-US" sz="1800" dirty="0"/>
                  <a:t> (</a:t>
                </a:r>
                <a:r>
                  <a:rPr lang="en-US" sz="1800" dirty="0">
                    <a:latin typeface="Corbel" panose="020B0503020204020204" pitchFamily="34" charset="0"/>
                  </a:rPr>
                  <a:t>α)</a:t>
                </a:r>
              </a:p>
              <a:p>
                <a:pPr marL="101598" indent="0">
                  <a:buNone/>
                </a:pPr>
                <a:r>
                  <a:rPr lang="en-US" sz="1800" dirty="0"/>
                  <a:t>        </a:t>
                </a:r>
                <a:r>
                  <a:rPr lang="en-US" sz="1800" dirty="0" err="1"/>
                  <a:t>sebesar</a:t>
                </a:r>
                <a:r>
                  <a:rPr lang="en-US" sz="1800" dirty="0"/>
                  <a:t> 0.05.</a:t>
                </a:r>
              </a:p>
              <a:p>
                <a:pPr marL="101598" indent="0">
                  <a:buNone/>
                </a:pPr>
                <a:endParaRPr lang="en-US" sz="1800" dirty="0"/>
              </a:p>
              <a:p>
                <a:pPr marL="101598" indent="0">
                  <a:buNone/>
                </a:pPr>
                <a:r>
                  <a:rPr lang="en-ID" sz="1800" dirty="0">
                    <a:solidFill>
                      <a:srgbClr val="000000"/>
                    </a:solidFill>
                    <a:effectLst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D" sz="180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𝑡</m:t>
                        </m:r>
                      </m:e>
                      <m:sub>
                        <m:r>
                          <a:rPr lang="en-US" sz="1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𝑡𝑎𝑏</m:t>
                        </m:r>
                        <m:r>
                          <a:rPr lang="en-US" sz="1800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𝑒𝑙</m:t>
                        </m:r>
                      </m:sub>
                    </m:sSub>
                    <m:r>
                      <a:rPr lang="en-US" sz="18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n-ID" sz="1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𝑡</m:t>
                        </m:r>
                      </m:e>
                      <m:sub>
                        <m:r>
                          <a:rPr lang="en-US" sz="1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a:rPr lang="en-US" sz="1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𝑛</m:t>
                        </m:r>
                        <m:r>
                          <a:rPr lang="en-US" sz="1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−</m:t>
                        </m:r>
                        <m:r>
                          <a:rPr lang="en-US" sz="1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𝑘</m:t>
                        </m:r>
                        <m:r>
                          <a:rPr lang="en-US" sz="1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,   </m:t>
                        </m:r>
                        <m:r>
                          <a:rPr lang="en-US" sz="1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𝛼</m:t>
                        </m:r>
                        <m:r>
                          <a:rPr lang="en-US" sz="1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/2)</m:t>
                        </m:r>
                      </m:sub>
                    </m:sSub>
                  </m:oMath>
                </a14:m>
                <a:r>
                  <a:rPr lang="en-ID" sz="18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= 2,2281</a:t>
                </a:r>
              </a:p>
              <a:p>
                <a:pPr marL="101598" indent="0">
                  <a:buNone/>
                </a:pPr>
                <a:endParaRPr lang="en-US" sz="1800" dirty="0"/>
              </a:p>
              <a:p>
                <a:pPr marL="444498" indent="-342900">
                  <a:buFont typeface="+mj-lt"/>
                  <a:buAutoNum type="arabicPeriod" startAt="3"/>
                </a:pPr>
                <a:endParaRPr lang="en-US" sz="1800" dirty="0"/>
              </a:p>
              <a:p>
                <a:pPr marL="444498" indent="-342900">
                  <a:buFont typeface="+mj-lt"/>
                  <a:buAutoNum type="arabicPeriod" startAt="3"/>
                </a:pPr>
                <a:endParaRPr lang="en-US" sz="1800" dirty="0"/>
              </a:p>
              <a:p>
                <a:pPr marL="444498" indent="-342900">
                  <a:buFont typeface="+mj-lt"/>
                  <a:buAutoNum type="arabicPeriod" startAt="3"/>
                </a:pPr>
                <a:endParaRPr lang="en-US" sz="1800" dirty="0"/>
              </a:p>
              <a:p>
                <a:pPr marL="444498" indent="-342900">
                  <a:buFont typeface="+mj-lt"/>
                  <a:buAutoNum type="arabicPeriod" startAt="3"/>
                </a:pPr>
                <a:endParaRPr lang="en-US" sz="1800" dirty="0"/>
              </a:p>
              <a:p>
                <a:pPr marL="444498" indent="-342900">
                  <a:buFont typeface="+mj-lt"/>
                  <a:buAutoNum type="arabicPeriod" startAt="3"/>
                </a:pPr>
                <a:endParaRPr lang="en-US" sz="1800" dirty="0"/>
              </a:p>
              <a:p>
                <a:pPr marL="444498" indent="-342900">
                  <a:buFont typeface="+mj-lt"/>
                  <a:buAutoNum type="arabicPeriod" startAt="3"/>
                </a:pPr>
                <a:endParaRPr lang="en-US" sz="1800" dirty="0"/>
              </a:p>
              <a:p>
                <a:pPr marL="101598" indent="0">
                  <a:buNone/>
                </a:pPr>
                <a:endParaRPr lang="en-US" sz="1800" dirty="0"/>
              </a:p>
              <a:p>
                <a:pPr marL="101598" indent="0">
                  <a:buNone/>
                </a:pPr>
                <a:endParaRPr lang="en-US" sz="1800" dirty="0"/>
              </a:p>
              <a:p>
                <a:pPr marL="101598" indent="0">
                  <a:buNone/>
                </a:pPr>
                <a:endParaRPr lang="en-US" sz="1800" dirty="0"/>
              </a:p>
              <a:p>
                <a:pPr marL="444498" indent="-342900">
                  <a:buAutoNum type="arabicPeriod"/>
                </a:pPr>
                <a:endParaRPr lang="en-US" sz="1800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77CBEDE2-3883-FB96-0277-4C239ACA121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1140400" y="2102067"/>
                <a:ext cx="9791760" cy="3748400"/>
              </a:xfrm>
              <a:blipFill>
                <a:blip r:embed="rId2"/>
                <a:stretch>
                  <a:fillRect l="-809" t="-3902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2B408F5B-24DC-A0A1-D9BC-FC236D82FA8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4750" t="60296" r="62250" b="31111"/>
          <a:stretch/>
        </p:blipFill>
        <p:spPr>
          <a:xfrm>
            <a:off x="2138651" y="2881758"/>
            <a:ext cx="2227142" cy="828040"/>
          </a:xfrm>
          <a:prstGeom prst="rect">
            <a:avLst/>
          </a:prstGeom>
          <a:ln>
            <a:solidFill>
              <a:schemeClr val="tx1"/>
            </a:solidFill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084F187-FF11-011C-23DF-72ECAC5361A1}"/>
                  </a:ext>
                </a:extLst>
              </p:cNvPr>
              <p:cNvSpPr txBox="1"/>
              <p:nvPr/>
            </p:nvSpPr>
            <p:spPr>
              <a:xfrm>
                <a:off x="5814724" y="3068344"/>
                <a:ext cx="3668505" cy="45486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ID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h𝑖𝑡𝑢𝑛𝑔</m:t>
                        </m:r>
                      </m:sub>
                    </m:sSub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ID" sz="1600"/>
                          <m:t>0.87826521</m:t>
                        </m:r>
                        <m:r>
                          <a:rPr lang="en-ID" sz="16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ad>
                          <m:radPr>
                            <m:degHide m:val="on"/>
                            <m:ctrlPr>
                              <a:rPr lang="en-ID" sz="16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12−2</m:t>
                            </m:r>
                          </m:e>
                        </m:rad>
                      </m:num>
                      <m:den>
                        <m:rad>
                          <m:radPr>
                            <m:degHide m:val="on"/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1−</m:t>
                            </m:r>
                            <m:sSup>
                              <m:sSupPr>
                                <m:ctrlPr>
                                  <a:rPr lang="en-US" sz="16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nor/>
                                  </m:rPr>
                                  <a:rPr lang="en-ID" sz="1600"/>
                                  <m:t>0.87826521</m:t>
                                </m:r>
                              </m:e>
                              <m:sup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</m:oMath>
                </a14:m>
                <a:r>
                  <a:rPr lang="en-ID" sz="1600" dirty="0"/>
                  <a:t> = </a:t>
                </a:r>
                <a:r>
                  <a:rPr lang="en-ID" sz="1600" b="1" dirty="0"/>
                  <a:t>5.808177</a:t>
                </a:r>
                <a:r>
                  <a:rPr lang="en-ID" sz="1600" dirty="0"/>
                  <a:t> 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084F187-FF11-011C-23DF-72ECAC5361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14724" y="3068344"/>
                <a:ext cx="3668505" cy="454868"/>
              </a:xfrm>
              <a:prstGeom prst="rect">
                <a:avLst/>
              </a:prstGeom>
              <a:blipFill>
                <a:blip r:embed="rId4"/>
                <a:stretch>
                  <a:fillRect l="-1827" t="-1333" r="-166" b="-13333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6791411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D1AD31-B9C4-464E-2154-17AB0325EB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Uji PEARSON PRODUCT MOMENT (</a:t>
            </a:r>
            <a:r>
              <a:rPr lang="en-US" dirty="0" err="1"/>
              <a:t>Studi</a:t>
            </a:r>
            <a:r>
              <a:rPr lang="en-US" dirty="0"/>
              <a:t> </a:t>
            </a:r>
            <a:r>
              <a:rPr lang="en-US" dirty="0" err="1"/>
              <a:t>Kasus</a:t>
            </a:r>
            <a:r>
              <a:rPr lang="en-US" dirty="0"/>
              <a:t>)</a:t>
            </a:r>
            <a:endParaRPr lang="en-ID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77CBEDE2-3883-FB96-0277-4C239ACA121C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1140400" y="2102067"/>
                <a:ext cx="9791760" cy="3748400"/>
              </a:xfrm>
            </p:spPr>
            <p:txBody>
              <a:bodyPr/>
              <a:lstStyle/>
              <a:p>
                <a:pPr marL="444498" indent="-342900">
                  <a:buFont typeface="+mj-lt"/>
                  <a:buAutoNum type="arabicPeriod" startAt="6"/>
                </a:pPr>
                <a:r>
                  <a:rPr lang="en-US" sz="1600" dirty="0"/>
                  <a:t> </a:t>
                </a:r>
                <a:r>
                  <a:rPr lang="en-US" sz="1600" dirty="0" err="1"/>
                  <a:t>Melakukan</a:t>
                </a:r>
                <a:r>
                  <a:rPr lang="en-US" sz="1600" dirty="0"/>
                  <a:t> uji </a:t>
                </a:r>
                <a:r>
                  <a:rPr lang="en-US" sz="1600" dirty="0" err="1"/>
                  <a:t>signifikansi</a:t>
                </a:r>
                <a:r>
                  <a:rPr lang="en-US" sz="1600" dirty="0"/>
                  <a:t> </a:t>
                </a:r>
                <a:r>
                  <a:rPr lang="en-US" sz="1600" dirty="0" err="1"/>
                  <a:t>dengan</a:t>
                </a:r>
                <a:r>
                  <a:rPr lang="en-US" sz="1600" dirty="0"/>
                  <a:t> </a:t>
                </a:r>
                <a:r>
                  <a:rPr lang="en-US" sz="1600" dirty="0" err="1"/>
                  <a:t>kaidah</a:t>
                </a:r>
                <a:r>
                  <a:rPr lang="en-US" sz="1600" dirty="0"/>
                  <a:t> </a:t>
                </a:r>
                <a:r>
                  <a:rPr lang="en-US" sz="1600" dirty="0" err="1"/>
                  <a:t>pengujian</a:t>
                </a:r>
                <a:r>
                  <a:rPr lang="en-US" sz="1600" dirty="0"/>
                  <a:t>:</a:t>
                </a:r>
              </a:p>
              <a:p>
                <a:pPr marL="101598" indent="0">
                  <a:buNone/>
                </a:pP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𝐴𝑝𝑎𝑏𝑖𝑙𝑎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𝑡𝑎𝑏𝑒𝑙</m:t>
                        </m:r>
                      </m:sub>
                    </m:sSub>
                    <m:r>
                      <a:rPr lang="en-US" sz="16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en-US" sz="16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h𝑖𝑡𝑢𝑛𝑔</m:t>
                        </m:r>
                      </m:sub>
                    </m:sSub>
                    <m:r>
                      <a:rPr lang="en-US" sz="16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en-US" sz="16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𝑡𝑎𝑏𝑒𝑙</m:t>
                        </m:r>
                      </m:sub>
                    </m:sSub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𝑚𝑎𝑘𝑎</m:t>
                    </m:r>
                    <m:r>
                      <a:rPr lang="en-US" sz="16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1600" b="1" i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𝐭𝐢𝐝𝐚𝐤</m:t>
                    </m:r>
                    <m:r>
                      <a:rPr lang="en-US" sz="1600" b="1" i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1600" b="1" i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𝐚𝐝𝐚</m:t>
                    </m:r>
                    <m:r>
                      <a:rPr lang="en-US" sz="1600" b="1" i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1600" b="1" i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𝐡𝐮𝐛𝐮𝐧𝐠𝐚𝐧</m:t>
                    </m:r>
                    <m:r>
                      <a:rPr lang="en-US" sz="1600" b="1" i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1600" b="1" i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𝐲𝐚𝐧𝐠</m:t>
                    </m:r>
                    <m:r>
                      <a:rPr lang="en-US" sz="1600" b="1" i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1600" b="1" i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𝐬𝐢𝐠𝐧𝐢𝐟𝐢𝐤𝐚𝐧</m:t>
                    </m:r>
                    <m:r>
                      <a:rPr lang="en-US" sz="16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</m:oMath>
                </a14:m>
                <a:r>
                  <a:rPr lang="en-US" sz="1600" b="0" i="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</a:p>
              <a:p>
                <a:pPr marL="101598" indent="0">
                  <a:buNone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6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dan</m:t>
                    </m:r>
                    <m:r>
                      <a:rPr lang="en-US" sz="16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16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apabila</m:t>
                    </m:r>
                    <m:r>
                      <a:rPr lang="en-US" sz="16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h𝑖𝑡𝑢𝑛𝑔</m:t>
                        </m:r>
                      </m:sub>
                    </m:sSub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</m:t>
                    </m:r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𝑡𝑎𝑏𝑙𝑒</m:t>
                        </m:r>
                      </m:sub>
                    </m:sSub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𝑚𝑎𝑘𝑎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1600" b="1" i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𝐚𝐝𝐚</m:t>
                    </m:r>
                    <m:r>
                      <a:rPr lang="en-US" sz="1600" b="1" i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1600" b="1" i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𝐡𝐮𝐛𝐮𝐧𝐠𝐚𝐧</m:t>
                    </m:r>
                    <m:r>
                      <a:rPr lang="en-US" sz="1600" b="1" i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1600" b="1" i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𝐲𝐚𝐧𝐠</m:t>
                    </m:r>
                    <m:r>
                      <a:rPr lang="en-US" sz="1600" b="1" i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1600" b="1" i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𝐬𝐢𝐠𝐧𝐢𝐟𝐢𝐤𝐚𝐧</m:t>
                    </m:r>
                  </m:oMath>
                </a14:m>
                <a:r>
                  <a:rPr lang="en-US" sz="1600" dirty="0"/>
                  <a:t>.</a:t>
                </a:r>
              </a:p>
              <a:p>
                <a:pPr marL="101598" indent="0">
                  <a:buNone/>
                </a:pPr>
                <a:endParaRPr lang="en-US" sz="1800" dirty="0"/>
              </a:p>
              <a:p>
                <a:pPr marL="101598" indent="0">
                  <a:buNone/>
                </a:pPr>
                <a:r>
                  <a:rPr lang="en-US" sz="1600" dirty="0"/>
                  <a:t>Karena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h𝑖𝑡𝑢𝑛𝑔</m:t>
                        </m:r>
                      </m:sub>
                    </m:sSub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ID" sz="1600" b="1" dirty="0"/>
                      <m:t>5.808177</m:t>
                    </m:r>
                    <m:r>
                      <a:rPr lang="en-US" sz="1600" b="0" i="1" dirty="0" smtClean="0">
                        <a:latin typeface="Cambria Math" panose="02040503050406030204" pitchFamily="18" charset="0"/>
                      </a:rPr>
                      <m:t>  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𝑑𝑎𝑛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𝑡𝑎𝑏𝑒𝑙</m:t>
                        </m:r>
                      </m:sub>
                    </m:sSub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ID" sz="1600" dirty="0"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2,2281</m:t>
                    </m:r>
                  </m:oMath>
                </a14:m>
                <a:r>
                  <a:rPr lang="en-US" sz="1600" dirty="0"/>
                  <a:t>, </a:t>
                </a:r>
                <a:r>
                  <a:rPr lang="en-US" sz="1600" dirty="0" err="1"/>
                  <a:t>maka</a:t>
                </a:r>
                <a:r>
                  <a:rPr lang="en-US" sz="16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h𝑖𝑡𝑢𝑛𝑔</m:t>
                        </m:r>
                      </m:sub>
                    </m:sSub>
                    <m:r>
                      <a:rPr lang="en-US" sz="16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</m:t>
                    </m:r>
                    <m:sSub>
                      <m:sSubPr>
                        <m:ctrlPr>
                          <a:rPr lang="en-US" sz="16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𝑡𝑎𝑏𝑒𝑙</m:t>
                        </m:r>
                      </m:sub>
                    </m:sSub>
                  </m:oMath>
                </a14:m>
                <a:r>
                  <a:rPr lang="en-US" sz="1600" dirty="0"/>
                  <a:t> </a:t>
                </a:r>
                <a:r>
                  <a:rPr lang="en-US" sz="1600" dirty="0" err="1"/>
                  <a:t>sehingga</a:t>
                </a:r>
                <a:r>
                  <a:rPr lang="en-US" sz="1600" dirty="0"/>
                  <a:t> </a:t>
                </a:r>
                <a:r>
                  <a:rPr lang="en-US" sz="1600" b="1" dirty="0" err="1">
                    <a:solidFill>
                      <a:srgbClr val="0070C0"/>
                    </a:solidFill>
                  </a:rPr>
                  <a:t>ada</a:t>
                </a:r>
                <a:r>
                  <a:rPr lang="en-US" sz="1600" b="1" dirty="0">
                    <a:solidFill>
                      <a:srgbClr val="0070C0"/>
                    </a:solidFill>
                  </a:rPr>
                  <a:t> </a:t>
                </a:r>
                <a:r>
                  <a:rPr lang="en-US" sz="1600" b="1" dirty="0" err="1">
                    <a:solidFill>
                      <a:srgbClr val="0070C0"/>
                    </a:solidFill>
                  </a:rPr>
                  <a:t>hubungan</a:t>
                </a:r>
                <a:r>
                  <a:rPr lang="en-US" sz="1600" b="1" dirty="0">
                    <a:solidFill>
                      <a:srgbClr val="0070C0"/>
                    </a:solidFill>
                  </a:rPr>
                  <a:t> yang </a:t>
                </a:r>
                <a:r>
                  <a:rPr lang="en-US" sz="1600" b="1" dirty="0" err="1">
                    <a:solidFill>
                      <a:srgbClr val="0070C0"/>
                    </a:solidFill>
                  </a:rPr>
                  <a:t>signifikan</a:t>
                </a:r>
                <a:r>
                  <a:rPr lang="en-US" sz="1600" dirty="0"/>
                  <a:t> </a:t>
                </a:r>
                <a:r>
                  <a:rPr lang="en-US" sz="1600" dirty="0" err="1"/>
                  <a:t>antara</a:t>
                </a:r>
                <a:r>
                  <a:rPr lang="en-US" sz="1600" dirty="0"/>
                  <a:t> variable X dan variable Y.</a:t>
                </a:r>
              </a:p>
              <a:p>
                <a:pPr marL="101598" indent="0">
                  <a:buNone/>
                </a:pPr>
                <a:endParaRPr lang="en-US" sz="1800" dirty="0"/>
              </a:p>
              <a:p>
                <a:pPr marL="101598" indent="0">
                  <a:buNone/>
                </a:pPr>
                <a:r>
                  <a:rPr lang="en-US" sz="1600" dirty="0"/>
                  <a:t>7. </a:t>
                </a:r>
                <a:r>
                  <a:rPr lang="en-US" sz="1600" dirty="0" err="1"/>
                  <a:t>Penarikan</a:t>
                </a:r>
                <a:r>
                  <a:rPr lang="en-US" sz="1600" dirty="0"/>
                  <a:t> </a:t>
                </a:r>
                <a:r>
                  <a:rPr lang="en-US" sz="1600" dirty="0" err="1"/>
                  <a:t>kesimpulan</a:t>
                </a:r>
                <a:r>
                  <a:rPr lang="en-US" sz="1600" dirty="0"/>
                  <a:t>:</a:t>
                </a:r>
              </a:p>
              <a:p>
                <a:pPr marL="101598" indent="0">
                  <a:buNone/>
                </a:pPr>
                <a:r>
                  <a:rPr lang="en-US" sz="1600" dirty="0" err="1"/>
                  <a:t>Terdapat</a:t>
                </a:r>
                <a:r>
                  <a:rPr lang="en-US" sz="1600" dirty="0"/>
                  <a:t> </a:t>
                </a:r>
                <a:r>
                  <a:rPr lang="en-US" sz="1600" dirty="0" err="1"/>
                  <a:t>korelasi</a:t>
                </a:r>
                <a:r>
                  <a:rPr lang="en-US" sz="1600" dirty="0"/>
                  <a:t> yang sangat </a:t>
                </a:r>
                <a:r>
                  <a:rPr lang="en-US" sz="1600" dirty="0" err="1"/>
                  <a:t>kuat</a:t>
                </a:r>
                <a:r>
                  <a:rPr lang="en-US" sz="1600" dirty="0"/>
                  <a:t> dan </a:t>
                </a:r>
                <a:r>
                  <a:rPr lang="en-US" sz="1600" dirty="0" err="1"/>
                  <a:t>bernilai</a:t>
                </a:r>
                <a:r>
                  <a:rPr lang="en-US" sz="1600" dirty="0"/>
                  <a:t> </a:t>
                </a:r>
                <a:r>
                  <a:rPr lang="en-US" sz="1600" dirty="0" err="1"/>
                  <a:t>positif</a:t>
                </a:r>
                <a:r>
                  <a:rPr lang="en-US" sz="1600" dirty="0"/>
                  <a:t> (</a:t>
                </a:r>
                <a:r>
                  <a:rPr lang="en-US" sz="1600" dirty="0" err="1"/>
                  <a:t>searah</a:t>
                </a:r>
                <a:r>
                  <a:rPr lang="en-US" sz="1600" dirty="0"/>
                  <a:t>) </a:t>
                </a:r>
                <a:r>
                  <a:rPr lang="en-US" sz="1600" dirty="0" err="1"/>
                  <a:t>antara</a:t>
                </a:r>
                <a:r>
                  <a:rPr lang="en-US" sz="1600" dirty="0"/>
                  <a:t> </a:t>
                </a:r>
                <a:r>
                  <a:rPr lang="en-US" sz="1600" dirty="0" err="1"/>
                  <a:t>durasi</a:t>
                </a:r>
                <a:r>
                  <a:rPr lang="en-US" sz="1600" dirty="0"/>
                  <a:t> </a:t>
                </a:r>
                <a:r>
                  <a:rPr lang="en-US" sz="1600" dirty="0" err="1"/>
                  <a:t>penayangan</a:t>
                </a:r>
                <a:r>
                  <a:rPr lang="en-US" sz="1600" dirty="0"/>
                  <a:t> </a:t>
                </a:r>
                <a:r>
                  <a:rPr lang="en-US" sz="1600" dirty="0" err="1"/>
                  <a:t>iklan</a:t>
                </a:r>
                <a:r>
                  <a:rPr lang="en-US" sz="1600" dirty="0"/>
                  <a:t> (</a:t>
                </a:r>
                <a:r>
                  <a:rPr lang="en-US" sz="1600" dirty="0" err="1"/>
                  <a:t>variabel</a:t>
                </a:r>
                <a:r>
                  <a:rPr lang="en-US" sz="1600" dirty="0"/>
                  <a:t> X) dan </a:t>
                </a:r>
                <a:r>
                  <a:rPr lang="en-US" sz="1600" dirty="0" err="1"/>
                  <a:t>tingkat</a:t>
                </a:r>
                <a:r>
                  <a:rPr lang="en-US" sz="1600" dirty="0"/>
                  <a:t> </a:t>
                </a:r>
                <a:r>
                  <a:rPr lang="en-US" sz="1600" dirty="0" err="1"/>
                  <a:t>penjualan</a:t>
                </a:r>
                <a:r>
                  <a:rPr lang="en-US" sz="1600" dirty="0"/>
                  <a:t> (</a:t>
                </a:r>
                <a:r>
                  <a:rPr lang="en-US" sz="1600" dirty="0" err="1"/>
                  <a:t>variabel</a:t>
                </a:r>
                <a:r>
                  <a:rPr lang="en-US" sz="1600" dirty="0"/>
                  <a:t> Y). </a:t>
                </a:r>
                <a:r>
                  <a:rPr lang="en-US" sz="1600" dirty="0" err="1"/>
                  <a:t>Besar</a:t>
                </a:r>
                <a:r>
                  <a:rPr lang="en-US" sz="1600" dirty="0"/>
                  <a:t> </a:t>
                </a:r>
                <a:r>
                  <a:rPr lang="en-US" sz="1600" dirty="0" err="1"/>
                  <a:t>sumbangan</a:t>
                </a:r>
                <a:r>
                  <a:rPr lang="en-US" sz="1600" dirty="0"/>
                  <a:t> </a:t>
                </a:r>
                <a:r>
                  <a:rPr lang="en-US" sz="1600" dirty="0" err="1"/>
                  <a:t>variabel</a:t>
                </a:r>
                <a:r>
                  <a:rPr lang="en-US" sz="1600" dirty="0"/>
                  <a:t> X (</a:t>
                </a:r>
                <a:r>
                  <a:rPr lang="en-US" sz="1600" dirty="0" err="1"/>
                  <a:t>variabel</a:t>
                </a:r>
                <a:r>
                  <a:rPr lang="en-US" sz="1600" dirty="0"/>
                  <a:t> </a:t>
                </a:r>
                <a:r>
                  <a:rPr lang="en-US" sz="1600" dirty="0" err="1"/>
                  <a:t>bebas</a:t>
                </a:r>
                <a:r>
                  <a:rPr lang="en-US" sz="1600" dirty="0"/>
                  <a:t>) </a:t>
                </a:r>
                <a:r>
                  <a:rPr lang="en-US" sz="1600" dirty="0" err="1"/>
                  <a:t>terhadap</a:t>
                </a:r>
                <a:r>
                  <a:rPr lang="en-US" sz="1600" dirty="0"/>
                  <a:t> </a:t>
                </a:r>
                <a:r>
                  <a:rPr lang="en-US" sz="1600" dirty="0" err="1"/>
                  <a:t>variabel</a:t>
                </a:r>
                <a:r>
                  <a:rPr lang="en-US" sz="1600" dirty="0"/>
                  <a:t> Y (</a:t>
                </a:r>
                <a:r>
                  <a:rPr lang="en-US" sz="1600" dirty="0" err="1"/>
                  <a:t>variabel</a:t>
                </a:r>
                <a:r>
                  <a:rPr lang="en-US" sz="1600" dirty="0"/>
                  <a:t> </a:t>
                </a:r>
                <a:r>
                  <a:rPr lang="en-US" sz="1600" dirty="0" err="1"/>
                  <a:t>terikat</a:t>
                </a:r>
                <a:r>
                  <a:rPr lang="en-US" sz="1600" dirty="0"/>
                  <a:t>) </a:t>
                </a:r>
                <a:r>
                  <a:rPr lang="en-US" sz="1600" dirty="0" err="1"/>
                  <a:t>adalah</a:t>
                </a:r>
                <a:r>
                  <a:rPr lang="en-US" sz="1600" dirty="0"/>
                  <a:t> 77,314%, </a:t>
                </a:r>
                <a:r>
                  <a:rPr lang="en-US" sz="1600" dirty="0" err="1"/>
                  <a:t>sedangkan</a:t>
                </a:r>
                <a:r>
                  <a:rPr lang="en-US" sz="1600" dirty="0"/>
                  <a:t> 22,866% </a:t>
                </a:r>
                <a:r>
                  <a:rPr lang="en-US" sz="1600" dirty="0" err="1"/>
                  <a:t>dari</a:t>
                </a:r>
                <a:r>
                  <a:rPr lang="en-US" sz="1600" dirty="0"/>
                  <a:t> </a:t>
                </a:r>
                <a:r>
                  <a:rPr lang="en-US" sz="1600" dirty="0" err="1"/>
                  <a:t>pengaruh</a:t>
                </a:r>
                <a:r>
                  <a:rPr lang="en-US" sz="1600" dirty="0"/>
                  <a:t> </a:t>
                </a:r>
                <a:r>
                  <a:rPr lang="en-US" sz="1600" dirty="0" err="1"/>
                  <a:t>didapatkan</a:t>
                </a:r>
                <a:r>
                  <a:rPr lang="en-US" sz="1600" dirty="0"/>
                  <a:t> </a:t>
                </a:r>
                <a:r>
                  <a:rPr lang="en-US" sz="1600" dirty="0" err="1"/>
                  <a:t>dari</a:t>
                </a:r>
                <a:r>
                  <a:rPr lang="en-US" sz="1600" dirty="0"/>
                  <a:t> </a:t>
                </a:r>
                <a:r>
                  <a:rPr lang="en-US" sz="1600" dirty="0" err="1"/>
                  <a:t>variabel</a:t>
                </a:r>
                <a:r>
                  <a:rPr lang="en-US" sz="1600" dirty="0"/>
                  <a:t> lain. Uji </a:t>
                </a:r>
                <a:r>
                  <a:rPr lang="en-US" sz="1600" dirty="0" err="1"/>
                  <a:t>signifikansi</a:t>
                </a:r>
                <a:r>
                  <a:rPr lang="en-US" sz="1600" dirty="0"/>
                  <a:t> </a:t>
                </a:r>
                <a:r>
                  <a:rPr lang="en-US" sz="1600" dirty="0" err="1"/>
                  <a:t>menunjukkan</a:t>
                </a:r>
                <a:r>
                  <a:rPr lang="en-US" sz="1600" dirty="0"/>
                  <a:t> </a:t>
                </a:r>
                <a:r>
                  <a:rPr lang="en-US" sz="1600" dirty="0" err="1"/>
                  <a:t>adanya</a:t>
                </a:r>
                <a:r>
                  <a:rPr lang="en-US" sz="1600" dirty="0"/>
                  <a:t> </a:t>
                </a:r>
                <a:r>
                  <a:rPr lang="en-US" sz="1600" dirty="0" err="1"/>
                  <a:t>hubungan</a:t>
                </a:r>
                <a:r>
                  <a:rPr lang="en-US" sz="1600" dirty="0"/>
                  <a:t> yang </a:t>
                </a:r>
                <a:r>
                  <a:rPr lang="en-US" sz="1600" dirty="0" err="1"/>
                  <a:t>signifikan</a:t>
                </a:r>
                <a:r>
                  <a:rPr lang="en-US" sz="1600" dirty="0"/>
                  <a:t> </a:t>
                </a:r>
                <a:r>
                  <a:rPr lang="en-US" sz="1600" dirty="0" err="1"/>
                  <a:t>antara</a:t>
                </a:r>
                <a:r>
                  <a:rPr lang="en-US" sz="1600" dirty="0"/>
                  <a:t> </a:t>
                </a:r>
                <a:r>
                  <a:rPr lang="en-US" sz="1600" dirty="0" err="1"/>
                  <a:t>durasi</a:t>
                </a:r>
                <a:r>
                  <a:rPr lang="en-US" sz="1600" dirty="0"/>
                  <a:t> </a:t>
                </a:r>
                <a:r>
                  <a:rPr lang="en-US" sz="1600" dirty="0" err="1"/>
                  <a:t>penayangan</a:t>
                </a:r>
                <a:r>
                  <a:rPr lang="en-US" sz="1600" dirty="0"/>
                  <a:t> </a:t>
                </a:r>
                <a:r>
                  <a:rPr lang="en-US" sz="1600" dirty="0" err="1"/>
                  <a:t>iklan</a:t>
                </a:r>
                <a:r>
                  <a:rPr lang="en-US" sz="1600" dirty="0"/>
                  <a:t> </a:t>
                </a:r>
                <a:r>
                  <a:rPr lang="en-US" sz="1600" dirty="0" err="1"/>
                  <a:t>produk</a:t>
                </a:r>
                <a:r>
                  <a:rPr lang="en-US" sz="1600" dirty="0"/>
                  <a:t> (</a:t>
                </a:r>
                <a:r>
                  <a:rPr lang="en-US" sz="1600" dirty="0" err="1"/>
                  <a:t>variabel</a:t>
                </a:r>
                <a:r>
                  <a:rPr lang="en-US" sz="1600" dirty="0"/>
                  <a:t> X) dan </a:t>
                </a:r>
                <a:r>
                  <a:rPr lang="en-US" sz="1600" dirty="0" err="1"/>
                  <a:t>tingkat</a:t>
                </a:r>
                <a:r>
                  <a:rPr lang="en-US" sz="1600" dirty="0"/>
                  <a:t> </a:t>
                </a:r>
                <a:r>
                  <a:rPr lang="en-US" sz="1600" dirty="0" err="1"/>
                  <a:t>penjualan</a:t>
                </a:r>
                <a:r>
                  <a:rPr lang="en-US" sz="1600" dirty="0"/>
                  <a:t> (</a:t>
                </a:r>
                <a:r>
                  <a:rPr lang="en-US" sz="1600" dirty="0" err="1"/>
                  <a:t>variabel</a:t>
                </a:r>
                <a:r>
                  <a:rPr lang="en-US" sz="1600" dirty="0"/>
                  <a:t> Y).</a:t>
                </a:r>
              </a:p>
              <a:p>
                <a:pPr marL="101598" indent="0">
                  <a:buNone/>
                </a:pPr>
                <a:r>
                  <a:rPr lang="en-US" sz="1600" dirty="0"/>
                  <a:t> </a:t>
                </a:r>
              </a:p>
              <a:p>
                <a:pPr marL="444498" indent="-342900">
                  <a:buFont typeface="+mj-lt"/>
                  <a:buAutoNum type="arabicPeriod" startAt="3"/>
                </a:pPr>
                <a:endParaRPr lang="en-US" sz="1800" dirty="0"/>
              </a:p>
              <a:p>
                <a:pPr marL="444498" indent="-342900">
                  <a:buFont typeface="+mj-lt"/>
                  <a:buAutoNum type="arabicPeriod" startAt="3"/>
                </a:pPr>
                <a:endParaRPr lang="en-US" sz="1800" dirty="0"/>
              </a:p>
              <a:p>
                <a:pPr marL="444498" indent="-342900">
                  <a:buFont typeface="+mj-lt"/>
                  <a:buAutoNum type="arabicPeriod" startAt="3"/>
                </a:pPr>
                <a:endParaRPr lang="en-US" sz="1800" dirty="0"/>
              </a:p>
              <a:p>
                <a:pPr marL="444498" indent="-342900">
                  <a:buFont typeface="+mj-lt"/>
                  <a:buAutoNum type="arabicPeriod" startAt="3"/>
                </a:pPr>
                <a:endParaRPr lang="en-US" sz="1800" dirty="0"/>
              </a:p>
              <a:p>
                <a:pPr marL="101598" indent="0">
                  <a:buNone/>
                </a:pPr>
                <a:endParaRPr lang="en-US" sz="1800" dirty="0"/>
              </a:p>
              <a:p>
                <a:pPr marL="101598" indent="0">
                  <a:buNone/>
                </a:pPr>
                <a:endParaRPr lang="en-US" sz="1800" dirty="0"/>
              </a:p>
              <a:p>
                <a:pPr marL="101598" indent="0">
                  <a:buNone/>
                </a:pPr>
                <a:endParaRPr lang="en-US" sz="1800" dirty="0"/>
              </a:p>
              <a:p>
                <a:pPr marL="444498" indent="-342900">
                  <a:buAutoNum type="arabicPeriod"/>
                </a:pPr>
                <a:endParaRPr lang="en-US" sz="1800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77CBEDE2-3883-FB96-0277-4C239ACA121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1140400" y="2102067"/>
                <a:ext cx="9791760" cy="3748400"/>
              </a:xfrm>
              <a:blipFill>
                <a:blip r:embed="rId2"/>
                <a:stretch>
                  <a:fillRect l="-809" t="-5041" r="-872" b="-3415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40846319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Custom 347">
      <a:dk1>
        <a:srgbClr val="1A2A30"/>
      </a:dk1>
      <a:lt1>
        <a:srgbClr val="FFFFFF"/>
      </a:lt1>
      <a:dk2>
        <a:srgbClr val="66787E"/>
      </a:dk2>
      <a:lt2>
        <a:srgbClr val="E9F0EF"/>
      </a:lt2>
      <a:accent1>
        <a:srgbClr val="D6F075"/>
      </a:accent1>
      <a:accent2>
        <a:srgbClr val="50DD8B"/>
      </a:accent2>
      <a:accent3>
        <a:srgbClr val="0D89B1"/>
      </a:accent3>
      <a:accent4>
        <a:srgbClr val="EB5E76"/>
      </a:accent4>
      <a:accent5>
        <a:srgbClr val="F08148"/>
      </a:accent5>
      <a:accent6>
        <a:srgbClr val="FFCC00"/>
      </a:accent6>
      <a:hlink>
        <a:srgbClr val="007094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" id="{E80EDA5E-5B0F-45AB-9DE0-EA10E558D42D}" vid="{6E9B6018-18EF-4AA3-8CBA-656E8671DD3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1145</TotalTime>
  <Words>1133</Words>
  <Application>Microsoft Office PowerPoint</Application>
  <PresentationFormat>Widescreen</PresentationFormat>
  <Paragraphs>216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7" baseType="lpstr">
      <vt:lpstr>Arial</vt:lpstr>
      <vt:lpstr>Barlow Light</vt:lpstr>
      <vt:lpstr>Barlow Medium</vt:lpstr>
      <vt:lpstr>Bebas Neue</vt:lpstr>
      <vt:lpstr>Calibri</vt:lpstr>
      <vt:lpstr>Cambria Math</vt:lpstr>
      <vt:lpstr>Corbel</vt:lpstr>
      <vt:lpstr>Theme1</vt:lpstr>
      <vt:lpstr>ANALISIS KORELASI</vt:lpstr>
      <vt:lpstr>PENGERTIAN ANALISIS KORELASI</vt:lpstr>
      <vt:lpstr>HUBUNGAN ANTARA VARIABEL-VARIABEL</vt:lpstr>
      <vt:lpstr>TEKNIK STATISTIK DALAM MENGANALISIS KORELASI</vt:lpstr>
      <vt:lpstr>TEKNIK STATISTIK DALAM MENGANALISIS KORELASI  (koefisien korelasi)</vt:lpstr>
      <vt:lpstr>TEKNIK STATISTIK DALAM MENGANALISIS KORELASI  (koefisien korelasi)</vt:lpstr>
      <vt:lpstr>TEKNIK STATISTIK DALAM MENGANALISIS KORELASI  (koefisien determinasi)</vt:lpstr>
      <vt:lpstr>Uji PEARSON PRODUCT MOMENT</vt:lpstr>
      <vt:lpstr>Uji PEARSON PRODUCT MOMENT</vt:lpstr>
      <vt:lpstr>Uji PEARSON PRODUCT MOMENT</vt:lpstr>
      <vt:lpstr>Uji PEARSON PRODUCT MOMENT</vt:lpstr>
      <vt:lpstr>Uji PEARSON PRODUCT MOMENT</vt:lpstr>
      <vt:lpstr>Uji PEARSON PRODUCT MOMENT</vt:lpstr>
      <vt:lpstr>Uji PEARSON PRODUCT MOMENT (Studi Kasus)</vt:lpstr>
      <vt:lpstr>Uji PEARSON PRODUCT MOMENT (Studi Kasus)</vt:lpstr>
      <vt:lpstr>Uji PEARSON PRODUCT MOMENT (Studi Kasus) – tabel penolong</vt:lpstr>
      <vt:lpstr>Uji PEARSON PRODUCT MOMENT (Studi Kasus)</vt:lpstr>
      <vt:lpstr>Uji PEARSON PRODUCT MOMENT (Studi Kasus)</vt:lpstr>
      <vt:lpstr>Uji PEARSON PRODUCT MOMENT (Studi Kasus)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ANALISIS KORELASI</dc:title>
  <dc:creator>Ashri Shabrina</dc:creator>
  <cp:lastModifiedBy>Ashri Shabrina</cp:lastModifiedBy>
  <cp:revision>6</cp:revision>
  <dcterms:created xsi:type="dcterms:W3CDTF">2022-05-09T06:29:27Z</dcterms:created>
  <dcterms:modified xsi:type="dcterms:W3CDTF">2022-06-28T04:12:04Z</dcterms:modified>
</cp:coreProperties>
</file>