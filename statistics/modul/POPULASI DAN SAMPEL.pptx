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  <p:sldMasterId id="2147483722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85A3B6-A6A6-46BA-90AA-B33D13FF65E1}" type="doc">
      <dgm:prSet loTypeId="urn:microsoft.com/office/officeart/2005/8/layout/hierarchy2" loCatId="hierarchy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ID"/>
        </a:p>
      </dgm:t>
    </dgm:pt>
    <dgm:pt modelId="{A7A215D8-D206-47F6-B16B-F21072CF7A68}">
      <dgm:prSet phldrT="[Text]" custT="1"/>
      <dgm:spPr/>
      <dgm:t>
        <a:bodyPr/>
        <a:lstStyle/>
        <a:p>
          <a:r>
            <a:rPr lang="en-US" sz="1400" b="1" dirty="0"/>
            <a:t>Teknik Sampling</a:t>
          </a:r>
          <a:endParaRPr lang="en-ID" sz="1400" b="1" dirty="0"/>
        </a:p>
      </dgm:t>
    </dgm:pt>
    <dgm:pt modelId="{5A9D4731-C162-4CC8-8A12-C6FFD6986F57}" type="parTrans" cxnId="{D5AA8966-BCDF-436D-9707-FAB3CBACB4EB}">
      <dgm:prSet/>
      <dgm:spPr/>
      <dgm:t>
        <a:bodyPr/>
        <a:lstStyle/>
        <a:p>
          <a:endParaRPr lang="en-ID"/>
        </a:p>
      </dgm:t>
    </dgm:pt>
    <dgm:pt modelId="{04E09D92-C8E7-4E0A-9433-8FA585E87E3B}" type="sibTrans" cxnId="{D5AA8966-BCDF-436D-9707-FAB3CBACB4EB}">
      <dgm:prSet/>
      <dgm:spPr/>
      <dgm:t>
        <a:bodyPr/>
        <a:lstStyle/>
        <a:p>
          <a:endParaRPr lang="en-ID"/>
        </a:p>
      </dgm:t>
    </dgm:pt>
    <dgm:pt modelId="{2D844092-FE4C-48C4-95BC-2662DA921C34}">
      <dgm:prSet phldrT="[Text]" custT="1"/>
      <dgm:spPr>
        <a:solidFill>
          <a:srgbClr val="FFC000"/>
        </a:solidFill>
      </dgm:spPr>
      <dgm:t>
        <a:bodyPr/>
        <a:lstStyle/>
        <a:p>
          <a:r>
            <a:rPr lang="en-US" sz="1400" b="1" dirty="0"/>
            <a:t>Probability Sampling</a:t>
          </a:r>
          <a:endParaRPr lang="en-ID" sz="1400" b="1" dirty="0"/>
        </a:p>
      </dgm:t>
    </dgm:pt>
    <dgm:pt modelId="{2C61A8F9-8435-4873-9281-E4631F72D22C}" type="parTrans" cxnId="{0CA35056-6177-41E5-AEA4-35C962AABBB3}">
      <dgm:prSet/>
      <dgm:spPr/>
      <dgm:t>
        <a:bodyPr/>
        <a:lstStyle/>
        <a:p>
          <a:endParaRPr lang="en-ID"/>
        </a:p>
      </dgm:t>
    </dgm:pt>
    <dgm:pt modelId="{B99C64E3-1D55-4C5F-835D-3AE8378C475C}" type="sibTrans" cxnId="{0CA35056-6177-41E5-AEA4-35C962AABBB3}">
      <dgm:prSet/>
      <dgm:spPr/>
      <dgm:t>
        <a:bodyPr/>
        <a:lstStyle/>
        <a:p>
          <a:endParaRPr lang="en-ID"/>
        </a:p>
      </dgm:t>
    </dgm:pt>
    <dgm:pt modelId="{09932F00-234F-4E11-B33D-295B3D2F9DA6}">
      <dgm:prSet phldrT="[Text]" custT="1"/>
      <dgm:spPr/>
      <dgm:t>
        <a:bodyPr/>
        <a:lstStyle/>
        <a:p>
          <a:pPr algn="l"/>
          <a:r>
            <a:rPr lang="en-US" sz="1100" b="0" dirty="0"/>
            <a:t>1. Simple random sampling</a:t>
          </a:r>
        </a:p>
        <a:p>
          <a:pPr algn="l"/>
          <a:r>
            <a:rPr lang="en-US" sz="1100" b="0" dirty="0"/>
            <a:t>2. Proportionate stratified random sampling</a:t>
          </a:r>
        </a:p>
        <a:p>
          <a:pPr algn="l"/>
          <a:r>
            <a:rPr lang="en-US" sz="1100" b="0" dirty="0"/>
            <a:t>3. Disproportionate stratified random sampling</a:t>
          </a:r>
        </a:p>
        <a:p>
          <a:pPr algn="l"/>
          <a:r>
            <a:rPr lang="en-ID" sz="1100" b="0" dirty="0"/>
            <a:t>4. Area sampling</a:t>
          </a:r>
        </a:p>
      </dgm:t>
    </dgm:pt>
    <dgm:pt modelId="{C3D52D74-D028-4248-814D-82D821DDD6A4}" type="parTrans" cxnId="{7836A2A7-FC89-499D-A14C-FDDAA6D2C470}">
      <dgm:prSet/>
      <dgm:spPr/>
      <dgm:t>
        <a:bodyPr/>
        <a:lstStyle/>
        <a:p>
          <a:endParaRPr lang="en-ID"/>
        </a:p>
      </dgm:t>
    </dgm:pt>
    <dgm:pt modelId="{4499B9B2-3832-4DE4-8C1C-2C0BD9D610E2}" type="sibTrans" cxnId="{7836A2A7-FC89-499D-A14C-FDDAA6D2C470}">
      <dgm:prSet/>
      <dgm:spPr/>
      <dgm:t>
        <a:bodyPr/>
        <a:lstStyle/>
        <a:p>
          <a:endParaRPr lang="en-ID"/>
        </a:p>
      </dgm:t>
    </dgm:pt>
    <dgm:pt modelId="{3CD7F547-067A-4B28-BAD2-7FF04506CA9D}">
      <dgm:prSet phldrT="[Text]" custT="1"/>
      <dgm:spPr>
        <a:solidFill>
          <a:srgbClr val="FFC000"/>
        </a:solidFill>
      </dgm:spPr>
      <dgm:t>
        <a:bodyPr/>
        <a:lstStyle/>
        <a:p>
          <a:r>
            <a:rPr lang="en-US" sz="1000" dirty="0"/>
            <a:t> </a:t>
          </a:r>
          <a:r>
            <a:rPr lang="en-US" sz="1400" b="1" dirty="0"/>
            <a:t>Non-probability Sampling</a:t>
          </a:r>
          <a:endParaRPr lang="en-ID" sz="1400" b="1" dirty="0"/>
        </a:p>
      </dgm:t>
    </dgm:pt>
    <dgm:pt modelId="{87BD7E85-D53B-4250-A4D1-E78A2D230D59}" type="parTrans" cxnId="{98F78970-C9A3-4FDC-A975-61F1EDEEF6FF}">
      <dgm:prSet/>
      <dgm:spPr/>
      <dgm:t>
        <a:bodyPr/>
        <a:lstStyle/>
        <a:p>
          <a:endParaRPr lang="en-ID"/>
        </a:p>
      </dgm:t>
    </dgm:pt>
    <dgm:pt modelId="{F2517984-22E0-4AF3-ABF7-B4D0385056B2}" type="sibTrans" cxnId="{98F78970-C9A3-4FDC-A975-61F1EDEEF6FF}">
      <dgm:prSet/>
      <dgm:spPr/>
      <dgm:t>
        <a:bodyPr/>
        <a:lstStyle/>
        <a:p>
          <a:endParaRPr lang="en-ID"/>
        </a:p>
      </dgm:t>
    </dgm:pt>
    <dgm:pt modelId="{281964E9-ADB3-4F7F-917C-CC0FD5710E13}">
      <dgm:prSet phldrT="[Text]" custT="1"/>
      <dgm:spPr/>
      <dgm:t>
        <a:bodyPr/>
        <a:lstStyle/>
        <a:p>
          <a:pPr algn="l"/>
          <a:r>
            <a:rPr lang="en-US" sz="1100" b="0" dirty="0"/>
            <a:t>1. Sampling </a:t>
          </a:r>
          <a:r>
            <a:rPr lang="en-US" sz="1100" b="0" dirty="0" err="1"/>
            <a:t>sistematis</a:t>
          </a:r>
          <a:endParaRPr lang="en-US" sz="1100" b="0" dirty="0"/>
        </a:p>
        <a:p>
          <a:pPr algn="l"/>
          <a:r>
            <a:rPr lang="en-US" sz="1100" b="0" dirty="0"/>
            <a:t>2. Sampling </a:t>
          </a:r>
          <a:r>
            <a:rPr lang="en-US" sz="1100" b="0" dirty="0" err="1"/>
            <a:t>kuota</a:t>
          </a:r>
          <a:endParaRPr lang="en-US" sz="1100" b="0" dirty="0"/>
        </a:p>
        <a:p>
          <a:pPr algn="l"/>
          <a:r>
            <a:rPr lang="en-US" sz="1100" b="0" dirty="0"/>
            <a:t>3. Sampling </a:t>
          </a:r>
          <a:r>
            <a:rPr lang="en-US" sz="1100" b="0" dirty="0" err="1"/>
            <a:t>aksidental</a:t>
          </a:r>
          <a:endParaRPr lang="en-US" sz="1100" b="0" dirty="0"/>
        </a:p>
        <a:p>
          <a:pPr algn="l"/>
          <a:r>
            <a:rPr lang="en-US" sz="1100" b="0" dirty="0"/>
            <a:t>4. Purposive sampling</a:t>
          </a:r>
        </a:p>
        <a:p>
          <a:pPr algn="l"/>
          <a:r>
            <a:rPr lang="en-US" sz="1100" b="0" dirty="0"/>
            <a:t>5. Sampling </a:t>
          </a:r>
          <a:r>
            <a:rPr lang="en-US" sz="1100" b="0" dirty="0" err="1"/>
            <a:t>jenuh</a:t>
          </a:r>
          <a:endParaRPr lang="en-US" sz="1100" b="0" dirty="0"/>
        </a:p>
        <a:p>
          <a:pPr algn="l"/>
          <a:r>
            <a:rPr lang="en-US" sz="1100" b="0" dirty="0"/>
            <a:t>6. Snowball sampling</a:t>
          </a:r>
          <a:endParaRPr lang="en-ID" sz="1100" b="0" dirty="0"/>
        </a:p>
      </dgm:t>
    </dgm:pt>
    <dgm:pt modelId="{36119982-3E39-45E6-9123-7B4F87DE76D0}" type="parTrans" cxnId="{85E34EAE-8DD0-451C-841E-9900E6751C31}">
      <dgm:prSet/>
      <dgm:spPr/>
      <dgm:t>
        <a:bodyPr/>
        <a:lstStyle/>
        <a:p>
          <a:endParaRPr lang="en-ID"/>
        </a:p>
      </dgm:t>
    </dgm:pt>
    <dgm:pt modelId="{77B52781-B798-400B-A7F8-C623A0673CCC}" type="sibTrans" cxnId="{85E34EAE-8DD0-451C-841E-9900E6751C31}">
      <dgm:prSet/>
      <dgm:spPr/>
      <dgm:t>
        <a:bodyPr/>
        <a:lstStyle/>
        <a:p>
          <a:endParaRPr lang="en-ID"/>
        </a:p>
      </dgm:t>
    </dgm:pt>
    <dgm:pt modelId="{72B96FBE-B932-4196-B310-3FAC7DDEC55C}" type="pres">
      <dgm:prSet presAssocID="{E085A3B6-A6A6-46BA-90AA-B33D13FF65E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57A001D-A56D-4822-92D9-68FE27B6CF11}" type="pres">
      <dgm:prSet presAssocID="{A7A215D8-D206-47F6-B16B-F21072CF7A68}" presName="root1" presStyleCnt="0"/>
      <dgm:spPr/>
    </dgm:pt>
    <dgm:pt modelId="{85CB33BA-2048-4AB0-B3F7-E56EEB8553A4}" type="pres">
      <dgm:prSet presAssocID="{A7A215D8-D206-47F6-B16B-F21072CF7A68}" presName="LevelOneTextNode" presStyleLbl="node0" presStyleIdx="0" presStyleCnt="1">
        <dgm:presLayoutVars>
          <dgm:chPref val="3"/>
        </dgm:presLayoutVars>
      </dgm:prSet>
      <dgm:spPr/>
    </dgm:pt>
    <dgm:pt modelId="{A89A5013-65B9-4D9D-A096-A8C7FBAEB8A4}" type="pres">
      <dgm:prSet presAssocID="{A7A215D8-D206-47F6-B16B-F21072CF7A68}" presName="level2hierChild" presStyleCnt="0"/>
      <dgm:spPr/>
    </dgm:pt>
    <dgm:pt modelId="{9CB483C7-69D3-497F-9CE9-C370A6F89DF1}" type="pres">
      <dgm:prSet presAssocID="{2C61A8F9-8435-4873-9281-E4631F72D22C}" presName="conn2-1" presStyleLbl="parChTrans1D2" presStyleIdx="0" presStyleCnt="2"/>
      <dgm:spPr/>
    </dgm:pt>
    <dgm:pt modelId="{9D5B1F00-C99A-427E-93B7-1C8D92EF6125}" type="pres">
      <dgm:prSet presAssocID="{2C61A8F9-8435-4873-9281-E4631F72D22C}" presName="connTx" presStyleLbl="parChTrans1D2" presStyleIdx="0" presStyleCnt="2"/>
      <dgm:spPr/>
    </dgm:pt>
    <dgm:pt modelId="{D5ED88CA-9C11-428A-819C-32DB40A8E2D8}" type="pres">
      <dgm:prSet presAssocID="{2D844092-FE4C-48C4-95BC-2662DA921C34}" presName="root2" presStyleCnt="0"/>
      <dgm:spPr/>
    </dgm:pt>
    <dgm:pt modelId="{99F92630-47C5-4CE6-A1D5-2B6C026A7E5F}" type="pres">
      <dgm:prSet presAssocID="{2D844092-FE4C-48C4-95BC-2662DA921C34}" presName="LevelTwoTextNode" presStyleLbl="node2" presStyleIdx="0" presStyleCnt="2">
        <dgm:presLayoutVars>
          <dgm:chPref val="3"/>
        </dgm:presLayoutVars>
      </dgm:prSet>
      <dgm:spPr/>
    </dgm:pt>
    <dgm:pt modelId="{AC152C55-6B96-4335-92ED-80F1A4338697}" type="pres">
      <dgm:prSet presAssocID="{2D844092-FE4C-48C4-95BC-2662DA921C34}" presName="level3hierChild" presStyleCnt="0"/>
      <dgm:spPr/>
    </dgm:pt>
    <dgm:pt modelId="{E0D6B01A-CC59-439D-BC47-F8258B774B4E}" type="pres">
      <dgm:prSet presAssocID="{C3D52D74-D028-4248-814D-82D821DDD6A4}" presName="conn2-1" presStyleLbl="parChTrans1D3" presStyleIdx="0" presStyleCnt="2"/>
      <dgm:spPr/>
    </dgm:pt>
    <dgm:pt modelId="{1BE93B31-F6C7-4D46-B66E-301EC0634FF8}" type="pres">
      <dgm:prSet presAssocID="{C3D52D74-D028-4248-814D-82D821DDD6A4}" presName="connTx" presStyleLbl="parChTrans1D3" presStyleIdx="0" presStyleCnt="2"/>
      <dgm:spPr/>
    </dgm:pt>
    <dgm:pt modelId="{652AED6A-64DA-428E-9B65-EB9FF9E48C81}" type="pres">
      <dgm:prSet presAssocID="{09932F00-234F-4E11-B33D-295B3D2F9DA6}" presName="root2" presStyleCnt="0"/>
      <dgm:spPr/>
    </dgm:pt>
    <dgm:pt modelId="{173526F2-3949-4A40-B12A-FCCCF5374018}" type="pres">
      <dgm:prSet presAssocID="{09932F00-234F-4E11-B33D-295B3D2F9DA6}" presName="LevelTwoTextNode" presStyleLbl="node3" presStyleIdx="0" presStyleCnt="2" custScaleY="149390">
        <dgm:presLayoutVars>
          <dgm:chPref val="3"/>
        </dgm:presLayoutVars>
      </dgm:prSet>
      <dgm:spPr/>
    </dgm:pt>
    <dgm:pt modelId="{AEE50979-2AD8-4A2B-97F4-F2FA665FC0E6}" type="pres">
      <dgm:prSet presAssocID="{09932F00-234F-4E11-B33D-295B3D2F9DA6}" presName="level3hierChild" presStyleCnt="0"/>
      <dgm:spPr/>
    </dgm:pt>
    <dgm:pt modelId="{7CDF4829-7268-4A06-98D8-9AF3B217ACBF}" type="pres">
      <dgm:prSet presAssocID="{87BD7E85-D53B-4250-A4D1-E78A2D230D59}" presName="conn2-1" presStyleLbl="parChTrans1D2" presStyleIdx="1" presStyleCnt="2"/>
      <dgm:spPr/>
    </dgm:pt>
    <dgm:pt modelId="{76E5C91A-96D7-4CC3-8862-64A5A62B3C1A}" type="pres">
      <dgm:prSet presAssocID="{87BD7E85-D53B-4250-A4D1-E78A2D230D59}" presName="connTx" presStyleLbl="parChTrans1D2" presStyleIdx="1" presStyleCnt="2"/>
      <dgm:spPr/>
    </dgm:pt>
    <dgm:pt modelId="{5B3922EB-9F7D-4ABC-87BD-ABB9B74A37DF}" type="pres">
      <dgm:prSet presAssocID="{3CD7F547-067A-4B28-BAD2-7FF04506CA9D}" presName="root2" presStyleCnt="0"/>
      <dgm:spPr/>
    </dgm:pt>
    <dgm:pt modelId="{96827BBA-9783-4041-AF0A-780C52A160D1}" type="pres">
      <dgm:prSet presAssocID="{3CD7F547-067A-4B28-BAD2-7FF04506CA9D}" presName="LevelTwoTextNode" presStyleLbl="node2" presStyleIdx="1" presStyleCnt="2">
        <dgm:presLayoutVars>
          <dgm:chPref val="3"/>
        </dgm:presLayoutVars>
      </dgm:prSet>
      <dgm:spPr/>
    </dgm:pt>
    <dgm:pt modelId="{C7217B9E-85F2-4AA1-9535-9F04F63788E1}" type="pres">
      <dgm:prSet presAssocID="{3CD7F547-067A-4B28-BAD2-7FF04506CA9D}" presName="level3hierChild" presStyleCnt="0"/>
      <dgm:spPr/>
    </dgm:pt>
    <dgm:pt modelId="{EA42A93D-CADC-47E3-AC78-5CDB3D38546A}" type="pres">
      <dgm:prSet presAssocID="{36119982-3E39-45E6-9123-7B4F87DE76D0}" presName="conn2-1" presStyleLbl="parChTrans1D3" presStyleIdx="1" presStyleCnt="2"/>
      <dgm:spPr/>
    </dgm:pt>
    <dgm:pt modelId="{9017AE22-2BE5-4635-864E-1A7B7E8961A4}" type="pres">
      <dgm:prSet presAssocID="{36119982-3E39-45E6-9123-7B4F87DE76D0}" presName="connTx" presStyleLbl="parChTrans1D3" presStyleIdx="1" presStyleCnt="2"/>
      <dgm:spPr/>
    </dgm:pt>
    <dgm:pt modelId="{4AF9A3F1-111A-44D4-A35A-624593D09DE9}" type="pres">
      <dgm:prSet presAssocID="{281964E9-ADB3-4F7F-917C-CC0FD5710E13}" presName="root2" presStyleCnt="0"/>
      <dgm:spPr/>
    </dgm:pt>
    <dgm:pt modelId="{49E1BFC8-7181-4CBA-8FFF-B61EECE3AFF7}" type="pres">
      <dgm:prSet presAssocID="{281964E9-ADB3-4F7F-917C-CC0FD5710E13}" presName="LevelTwoTextNode" presStyleLbl="node3" presStyleIdx="1" presStyleCnt="2" custScaleY="168568">
        <dgm:presLayoutVars>
          <dgm:chPref val="3"/>
        </dgm:presLayoutVars>
      </dgm:prSet>
      <dgm:spPr/>
    </dgm:pt>
    <dgm:pt modelId="{50B6303E-394F-4993-AEE5-1678B53179D6}" type="pres">
      <dgm:prSet presAssocID="{281964E9-ADB3-4F7F-917C-CC0FD5710E13}" presName="level3hierChild" presStyleCnt="0"/>
      <dgm:spPr/>
    </dgm:pt>
  </dgm:ptLst>
  <dgm:cxnLst>
    <dgm:cxn modelId="{45867E14-2CB1-42F7-B36F-D8FE20359CD5}" type="presOf" srcId="{3CD7F547-067A-4B28-BAD2-7FF04506CA9D}" destId="{96827BBA-9783-4041-AF0A-780C52A160D1}" srcOrd="0" destOrd="0" presId="urn:microsoft.com/office/officeart/2005/8/layout/hierarchy2"/>
    <dgm:cxn modelId="{181E2317-931A-42DF-B94E-F428A8B52E99}" type="presOf" srcId="{2C61A8F9-8435-4873-9281-E4631F72D22C}" destId="{9CB483C7-69D3-497F-9CE9-C370A6F89DF1}" srcOrd="0" destOrd="0" presId="urn:microsoft.com/office/officeart/2005/8/layout/hierarchy2"/>
    <dgm:cxn modelId="{1B8CBE19-8A3C-4310-BBDB-EE226D3D131E}" type="presOf" srcId="{2C61A8F9-8435-4873-9281-E4631F72D22C}" destId="{9D5B1F00-C99A-427E-93B7-1C8D92EF6125}" srcOrd="1" destOrd="0" presId="urn:microsoft.com/office/officeart/2005/8/layout/hierarchy2"/>
    <dgm:cxn modelId="{74533B35-72B0-467F-9697-59595F40FD24}" type="presOf" srcId="{87BD7E85-D53B-4250-A4D1-E78A2D230D59}" destId="{7CDF4829-7268-4A06-98D8-9AF3B217ACBF}" srcOrd="0" destOrd="0" presId="urn:microsoft.com/office/officeart/2005/8/layout/hierarchy2"/>
    <dgm:cxn modelId="{C3E27036-139B-4F38-830B-CA36323F6DD1}" type="presOf" srcId="{87BD7E85-D53B-4250-A4D1-E78A2D230D59}" destId="{76E5C91A-96D7-4CC3-8862-64A5A62B3C1A}" srcOrd="1" destOrd="0" presId="urn:microsoft.com/office/officeart/2005/8/layout/hierarchy2"/>
    <dgm:cxn modelId="{5B72565F-EEA1-433C-ADDB-28A356FB405E}" type="presOf" srcId="{A7A215D8-D206-47F6-B16B-F21072CF7A68}" destId="{85CB33BA-2048-4AB0-B3F7-E56EEB8553A4}" srcOrd="0" destOrd="0" presId="urn:microsoft.com/office/officeart/2005/8/layout/hierarchy2"/>
    <dgm:cxn modelId="{226C4665-D931-4200-9E44-05AD29C2D1A5}" type="presOf" srcId="{281964E9-ADB3-4F7F-917C-CC0FD5710E13}" destId="{49E1BFC8-7181-4CBA-8FFF-B61EECE3AFF7}" srcOrd="0" destOrd="0" presId="urn:microsoft.com/office/officeart/2005/8/layout/hierarchy2"/>
    <dgm:cxn modelId="{D5AA8966-BCDF-436D-9707-FAB3CBACB4EB}" srcId="{E085A3B6-A6A6-46BA-90AA-B33D13FF65E1}" destId="{A7A215D8-D206-47F6-B16B-F21072CF7A68}" srcOrd="0" destOrd="0" parTransId="{5A9D4731-C162-4CC8-8A12-C6FFD6986F57}" sibTransId="{04E09D92-C8E7-4E0A-9433-8FA585E87E3B}"/>
    <dgm:cxn modelId="{98F78970-C9A3-4FDC-A975-61F1EDEEF6FF}" srcId="{A7A215D8-D206-47F6-B16B-F21072CF7A68}" destId="{3CD7F547-067A-4B28-BAD2-7FF04506CA9D}" srcOrd="1" destOrd="0" parTransId="{87BD7E85-D53B-4250-A4D1-E78A2D230D59}" sibTransId="{F2517984-22E0-4AF3-ABF7-B4D0385056B2}"/>
    <dgm:cxn modelId="{B691EA71-1A29-4D1D-AA7E-9F3B726071D0}" type="presOf" srcId="{09932F00-234F-4E11-B33D-295B3D2F9DA6}" destId="{173526F2-3949-4A40-B12A-FCCCF5374018}" srcOrd="0" destOrd="0" presId="urn:microsoft.com/office/officeart/2005/8/layout/hierarchy2"/>
    <dgm:cxn modelId="{0CA35056-6177-41E5-AEA4-35C962AABBB3}" srcId="{A7A215D8-D206-47F6-B16B-F21072CF7A68}" destId="{2D844092-FE4C-48C4-95BC-2662DA921C34}" srcOrd="0" destOrd="0" parTransId="{2C61A8F9-8435-4873-9281-E4631F72D22C}" sibTransId="{B99C64E3-1D55-4C5F-835D-3AE8378C475C}"/>
    <dgm:cxn modelId="{ADD5FD57-1627-4790-9755-B6823AC1D0B1}" type="presOf" srcId="{36119982-3E39-45E6-9123-7B4F87DE76D0}" destId="{EA42A93D-CADC-47E3-AC78-5CDB3D38546A}" srcOrd="0" destOrd="0" presId="urn:microsoft.com/office/officeart/2005/8/layout/hierarchy2"/>
    <dgm:cxn modelId="{6A56D491-96D0-423E-BE55-17D655D489EC}" type="presOf" srcId="{E085A3B6-A6A6-46BA-90AA-B33D13FF65E1}" destId="{72B96FBE-B932-4196-B310-3FAC7DDEC55C}" srcOrd="0" destOrd="0" presId="urn:microsoft.com/office/officeart/2005/8/layout/hierarchy2"/>
    <dgm:cxn modelId="{471FED93-9775-478E-881D-2F72A359BDC5}" type="presOf" srcId="{C3D52D74-D028-4248-814D-82D821DDD6A4}" destId="{E0D6B01A-CC59-439D-BC47-F8258B774B4E}" srcOrd="0" destOrd="0" presId="urn:microsoft.com/office/officeart/2005/8/layout/hierarchy2"/>
    <dgm:cxn modelId="{EDB5439A-96D8-4D36-B9DD-AEF6013444DC}" type="presOf" srcId="{36119982-3E39-45E6-9123-7B4F87DE76D0}" destId="{9017AE22-2BE5-4635-864E-1A7B7E8961A4}" srcOrd="1" destOrd="0" presId="urn:microsoft.com/office/officeart/2005/8/layout/hierarchy2"/>
    <dgm:cxn modelId="{7836A2A7-FC89-499D-A14C-FDDAA6D2C470}" srcId="{2D844092-FE4C-48C4-95BC-2662DA921C34}" destId="{09932F00-234F-4E11-B33D-295B3D2F9DA6}" srcOrd="0" destOrd="0" parTransId="{C3D52D74-D028-4248-814D-82D821DDD6A4}" sibTransId="{4499B9B2-3832-4DE4-8C1C-2C0BD9D610E2}"/>
    <dgm:cxn modelId="{85E34EAE-8DD0-451C-841E-9900E6751C31}" srcId="{3CD7F547-067A-4B28-BAD2-7FF04506CA9D}" destId="{281964E9-ADB3-4F7F-917C-CC0FD5710E13}" srcOrd="0" destOrd="0" parTransId="{36119982-3E39-45E6-9123-7B4F87DE76D0}" sibTransId="{77B52781-B798-400B-A7F8-C623A0673CCC}"/>
    <dgm:cxn modelId="{6A8972AF-561A-47E4-B95D-632CF43A554E}" type="presOf" srcId="{C3D52D74-D028-4248-814D-82D821DDD6A4}" destId="{1BE93B31-F6C7-4D46-B66E-301EC0634FF8}" srcOrd="1" destOrd="0" presId="urn:microsoft.com/office/officeart/2005/8/layout/hierarchy2"/>
    <dgm:cxn modelId="{E6C80DC8-5A52-4B61-AAA8-D3BA329DA3AF}" type="presOf" srcId="{2D844092-FE4C-48C4-95BC-2662DA921C34}" destId="{99F92630-47C5-4CE6-A1D5-2B6C026A7E5F}" srcOrd="0" destOrd="0" presId="urn:microsoft.com/office/officeart/2005/8/layout/hierarchy2"/>
    <dgm:cxn modelId="{0F79568C-BC7F-409C-BF08-936C46CB7228}" type="presParOf" srcId="{72B96FBE-B932-4196-B310-3FAC7DDEC55C}" destId="{157A001D-A56D-4822-92D9-68FE27B6CF11}" srcOrd="0" destOrd="0" presId="urn:microsoft.com/office/officeart/2005/8/layout/hierarchy2"/>
    <dgm:cxn modelId="{D6998FF4-130C-423C-A2DC-8591CFE56544}" type="presParOf" srcId="{157A001D-A56D-4822-92D9-68FE27B6CF11}" destId="{85CB33BA-2048-4AB0-B3F7-E56EEB8553A4}" srcOrd="0" destOrd="0" presId="urn:microsoft.com/office/officeart/2005/8/layout/hierarchy2"/>
    <dgm:cxn modelId="{CC99CB55-3A9A-405F-9C74-964A9373CDAA}" type="presParOf" srcId="{157A001D-A56D-4822-92D9-68FE27B6CF11}" destId="{A89A5013-65B9-4D9D-A096-A8C7FBAEB8A4}" srcOrd="1" destOrd="0" presId="urn:microsoft.com/office/officeart/2005/8/layout/hierarchy2"/>
    <dgm:cxn modelId="{23AAE842-078B-43FD-850E-90C793F1498A}" type="presParOf" srcId="{A89A5013-65B9-4D9D-A096-A8C7FBAEB8A4}" destId="{9CB483C7-69D3-497F-9CE9-C370A6F89DF1}" srcOrd="0" destOrd="0" presId="urn:microsoft.com/office/officeart/2005/8/layout/hierarchy2"/>
    <dgm:cxn modelId="{16C80B49-8833-43F5-97B0-DA0039D483F4}" type="presParOf" srcId="{9CB483C7-69D3-497F-9CE9-C370A6F89DF1}" destId="{9D5B1F00-C99A-427E-93B7-1C8D92EF6125}" srcOrd="0" destOrd="0" presId="urn:microsoft.com/office/officeart/2005/8/layout/hierarchy2"/>
    <dgm:cxn modelId="{9B8D85F0-A6A4-41E2-9969-FB575C2B2898}" type="presParOf" srcId="{A89A5013-65B9-4D9D-A096-A8C7FBAEB8A4}" destId="{D5ED88CA-9C11-428A-819C-32DB40A8E2D8}" srcOrd="1" destOrd="0" presId="urn:microsoft.com/office/officeart/2005/8/layout/hierarchy2"/>
    <dgm:cxn modelId="{F2F8F03F-27BC-4FD2-9A3F-CC9CCD80D87B}" type="presParOf" srcId="{D5ED88CA-9C11-428A-819C-32DB40A8E2D8}" destId="{99F92630-47C5-4CE6-A1D5-2B6C026A7E5F}" srcOrd="0" destOrd="0" presId="urn:microsoft.com/office/officeart/2005/8/layout/hierarchy2"/>
    <dgm:cxn modelId="{3B9B4D53-3253-43DC-8573-29A84EA69F20}" type="presParOf" srcId="{D5ED88CA-9C11-428A-819C-32DB40A8E2D8}" destId="{AC152C55-6B96-4335-92ED-80F1A4338697}" srcOrd="1" destOrd="0" presId="urn:microsoft.com/office/officeart/2005/8/layout/hierarchy2"/>
    <dgm:cxn modelId="{3136C545-FC5E-4090-A356-10A967D4716C}" type="presParOf" srcId="{AC152C55-6B96-4335-92ED-80F1A4338697}" destId="{E0D6B01A-CC59-439D-BC47-F8258B774B4E}" srcOrd="0" destOrd="0" presId="urn:microsoft.com/office/officeart/2005/8/layout/hierarchy2"/>
    <dgm:cxn modelId="{75733C78-0983-46F2-BD39-6920E1D123FD}" type="presParOf" srcId="{E0D6B01A-CC59-439D-BC47-F8258B774B4E}" destId="{1BE93B31-F6C7-4D46-B66E-301EC0634FF8}" srcOrd="0" destOrd="0" presId="urn:microsoft.com/office/officeart/2005/8/layout/hierarchy2"/>
    <dgm:cxn modelId="{9C7CED3B-B6D4-4C84-812C-FBC88D2DA7EA}" type="presParOf" srcId="{AC152C55-6B96-4335-92ED-80F1A4338697}" destId="{652AED6A-64DA-428E-9B65-EB9FF9E48C81}" srcOrd="1" destOrd="0" presId="urn:microsoft.com/office/officeart/2005/8/layout/hierarchy2"/>
    <dgm:cxn modelId="{CCB76622-2BA8-438D-AFC2-97930AC07CB3}" type="presParOf" srcId="{652AED6A-64DA-428E-9B65-EB9FF9E48C81}" destId="{173526F2-3949-4A40-B12A-FCCCF5374018}" srcOrd="0" destOrd="0" presId="urn:microsoft.com/office/officeart/2005/8/layout/hierarchy2"/>
    <dgm:cxn modelId="{8DB15263-F59C-4D53-991C-807B13BE5AA2}" type="presParOf" srcId="{652AED6A-64DA-428E-9B65-EB9FF9E48C81}" destId="{AEE50979-2AD8-4A2B-97F4-F2FA665FC0E6}" srcOrd="1" destOrd="0" presId="urn:microsoft.com/office/officeart/2005/8/layout/hierarchy2"/>
    <dgm:cxn modelId="{D1EE9867-90F0-4389-A2E8-5AE6CC72010B}" type="presParOf" srcId="{A89A5013-65B9-4D9D-A096-A8C7FBAEB8A4}" destId="{7CDF4829-7268-4A06-98D8-9AF3B217ACBF}" srcOrd="2" destOrd="0" presId="urn:microsoft.com/office/officeart/2005/8/layout/hierarchy2"/>
    <dgm:cxn modelId="{5FED978E-ACC9-4837-8C31-4AD5A9E519E9}" type="presParOf" srcId="{7CDF4829-7268-4A06-98D8-9AF3B217ACBF}" destId="{76E5C91A-96D7-4CC3-8862-64A5A62B3C1A}" srcOrd="0" destOrd="0" presId="urn:microsoft.com/office/officeart/2005/8/layout/hierarchy2"/>
    <dgm:cxn modelId="{5D204E0B-D563-46E8-8960-6F23F442AA0A}" type="presParOf" srcId="{A89A5013-65B9-4D9D-A096-A8C7FBAEB8A4}" destId="{5B3922EB-9F7D-4ABC-87BD-ABB9B74A37DF}" srcOrd="3" destOrd="0" presId="urn:microsoft.com/office/officeart/2005/8/layout/hierarchy2"/>
    <dgm:cxn modelId="{241307ED-F51C-4275-97CF-E6E262B14694}" type="presParOf" srcId="{5B3922EB-9F7D-4ABC-87BD-ABB9B74A37DF}" destId="{96827BBA-9783-4041-AF0A-780C52A160D1}" srcOrd="0" destOrd="0" presId="urn:microsoft.com/office/officeart/2005/8/layout/hierarchy2"/>
    <dgm:cxn modelId="{397D681E-6B79-4DEA-8E40-1612B89D4B32}" type="presParOf" srcId="{5B3922EB-9F7D-4ABC-87BD-ABB9B74A37DF}" destId="{C7217B9E-85F2-4AA1-9535-9F04F63788E1}" srcOrd="1" destOrd="0" presId="urn:microsoft.com/office/officeart/2005/8/layout/hierarchy2"/>
    <dgm:cxn modelId="{05B0FB3C-080E-4DB3-A600-908B2B4142AF}" type="presParOf" srcId="{C7217B9E-85F2-4AA1-9535-9F04F63788E1}" destId="{EA42A93D-CADC-47E3-AC78-5CDB3D38546A}" srcOrd="0" destOrd="0" presId="urn:microsoft.com/office/officeart/2005/8/layout/hierarchy2"/>
    <dgm:cxn modelId="{4EC50EFA-9FD5-4FDF-A309-CFC2A28D5372}" type="presParOf" srcId="{EA42A93D-CADC-47E3-AC78-5CDB3D38546A}" destId="{9017AE22-2BE5-4635-864E-1A7B7E8961A4}" srcOrd="0" destOrd="0" presId="urn:microsoft.com/office/officeart/2005/8/layout/hierarchy2"/>
    <dgm:cxn modelId="{DD1A465E-CD76-4DB4-9B5D-380A93F35DCA}" type="presParOf" srcId="{C7217B9E-85F2-4AA1-9535-9F04F63788E1}" destId="{4AF9A3F1-111A-44D4-A35A-624593D09DE9}" srcOrd="1" destOrd="0" presId="urn:microsoft.com/office/officeart/2005/8/layout/hierarchy2"/>
    <dgm:cxn modelId="{F9DE3991-1939-4C2D-8F63-C402B0C940FB}" type="presParOf" srcId="{4AF9A3F1-111A-44D4-A35A-624593D09DE9}" destId="{49E1BFC8-7181-4CBA-8FFF-B61EECE3AFF7}" srcOrd="0" destOrd="0" presId="urn:microsoft.com/office/officeart/2005/8/layout/hierarchy2"/>
    <dgm:cxn modelId="{EC744FD6-FCEE-4884-8348-15A6D78F061D}" type="presParOf" srcId="{4AF9A3F1-111A-44D4-A35A-624593D09DE9}" destId="{50B6303E-394F-4993-AEE5-1678B53179D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CB33BA-2048-4AB0-B3F7-E56EEB8553A4}">
      <dsp:nvSpPr>
        <dsp:cNvPr id="0" name=""/>
        <dsp:cNvSpPr/>
      </dsp:nvSpPr>
      <dsp:spPr>
        <a:xfrm>
          <a:off x="5191" y="1792175"/>
          <a:ext cx="2136214" cy="10681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Teknik Sampling</a:t>
          </a:r>
          <a:endParaRPr lang="en-ID" sz="1400" b="1" kern="1200" dirty="0"/>
        </a:p>
      </dsp:txBody>
      <dsp:txXfrm>
        <a:off x="36475" y="1823459"/>
        <a:ext cx="2073646" cy="1005539"/>
      </dsp:txXfrm>
    </dsp:sp>
    <dsp:sp modelId="{9CB483C7-69D3-497F-9CE9-C370A6F89DF1}">
      <dsp:nvSpPr>
        <dsp:cNvPr id="0" name=""/>
        <dsp:cNvSpPr/>
      </dsp:nvSpPr>
      <dsp:spPr>
        <a:xfrm rot="18756194">
          <a:off x="1937490" y="1841441"/>
          <a:ext cx="1262319" cy="40434"/>
        </a:xfrm>
        <a:custGeom>
          <a:avLst/>
          <a:gdLst/>
          <a:ahLst/>
          <a:cxnLst/>
          <a:rect l="0" t="0" r="0" b="0"/>
          <a:pathLst>
            <a:path>
              <a:moveTo>
                <a:pt x="0" y="20217"/>
              </a:moveTo>
              <a:lnTo>
                <a:pt x="1262319" y="20217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kern="1200"/>
        </a:p>
      </dsp:txBody>
      <dsp:txXfrm>
        <a:off x="2537091" y="1830100"/>
        <a:ext cx="63115" cy="63115"/>
      </dsp:txXfrm>
    </dsp:sp>
    <dsp:sp modelId="{99F92630-47C5-4CE6-A1D5-2B6C026A7E5F}">
      <dsp:nvSpPr>
        <dsp:cNvPr id="0" name=""/>
        <dsp:cNvSpPr/>
      </dsp:nvSpPr>
      <dsp:spPr>
        <a:xfrm>
          <a:off x="2995892" y="863034"/>
          <a:ext cx="2136214" cy="1068107"/>
        </a:xfrm>
        <a:prstGeom prst="roundRect">
          <a:avLst>
            <a:gd name="adj" fmla="val 10000"/>
          </a:avLst>
        </a:prstGeom>
        <a:solidFill>
          <a:srgbClr val="FFC00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Probability Sampling</a:t>
          </a:r>
          <a:endParaRPr lang="en-ID" sz="1400" b="1" kern="1200" dirty="0"/>
        </a:p>
      </dsp:txBody>
      <dsp:txXfrm>
        <a:off x="3027176" y="894318"/>
        <a:ext cx="2073646" cy="1005539"/>
      </dsp:txXfrm>
    </dsp:sp>
    <dsp:sp modelId="{E0D6B01A-CC59-439D-BC47-F8258B774B4E}">
      <dsp:nvSpPr>
        <dsp:cNvPr id="0" name=""/>
        <dsp:cNvSpPr/>
      </dsp:nvSpPr>
      <dsp:spPr>
        <a:xfrm>
          <a:off x="5132107" y="1376871"/>
          <a:ext cx="854485" cy="40434"/>
        </a:xfrm>
        <a:custGeom>
          <a:avLst/>
          <a:gdLst/>
          <a:ahLst/>
          <a:cxnLst/>
          <a:rect l="0" t="0" r="0" b="0"/>
          <a:pathLst>
            <a:path>
              <a:moveTo>
                <a:pt x="0" y="20217"/>
              </a:moveTo>
              <a:lnTo>
                <a:pt x="854485" y="20217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kern="1200"/>
        </a:p>
      </dsp:txBody>
      <dsp:txXfrm>
        <a:off x="5537988" y="1375726"/>
        <a:ext cx="42724" cy="42724"/>
      </dsp:txXfrm>
    </dsp:sp>
    <dsp:sp modelId="{173526F2-3949-4A40-B12A-FCCCF5374018}">
      <dsp:nvSpPr>
        <dsp:cNvPr id="0" name=""/>
        <dsp:cNvSpPr/>
      </dsp:nvSpPr>
      <dsp:spPr>
        <a:xfrm>
          <a:off x="5986593" y="599265"/>
          <a:ext cx="2136214" cy="15956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1. Simple random sampling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2. Proportionate stratified random sampling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3. Disproportionate stratified random sampling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100" b="0" kern="1200" dirty="0"/>
            <a:t>4. Area sampling</a:t>
          </a:r>
        </a:p>
      </dsp:txBody>
      <dsp:txXfrm>
        <a:off x="6033328" y="646000"/>
        <a:ext cx="2042744" cy="1502175"/>
      </dsp:txXfrm>
    </dsp:sp>
    <dsp:sp modelId="{7CDF4829-7268-4A06-98D8-9AF3B217ACBF}">
      <dsp:nvSpPr>
        <dsp:cNvPr id="0" name=""/>
        <dsp:cNvSpPr/>
      </dsp:nvSpPr>
      <dsp:spPr>
        <a:xfrm rot="2843806">
          <a:off x="1937490" y="2770583"/>
          <a:ext cx="1262319" cy="40434"/>
        </a:xfrm>
        <a:custGeom>
          <a:avLst/>
          <a:gdLst/>
          <a:ahLst/>
          <a:cxnLst/>
          <a:rect l="0" t="0" r="0" b="0"/>
          <a:pathLst>
            <a:path>
              <a:moveTo>
                <a:pt x="0" y="20217"/>
              </a:moveTo>
              <a:lnTo>
                <a:pt x="1262319" y="20217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kern="1200"/>
        </a:p>
      </dsp:txBody>
      <dsp:txXfrm>
        <a:off x="2537091" y="2759242"/>
        <a:ext cx="63115" cy="63115"/>
      </dsp:txXfrm>
    </dsp:sp>
    <dsp:sp modelId="{96827BBA-9783-4041-AF0A-780C52A160D1}">
      <dsp:nvSpPr>
        <dsp:cNvPr id="0" name=""/>
        <dsp:cNvSpPr/>
      </dsp:nvSpPr>
      <dsp:spPr>
        <a:xfrm>
          <a:off x="2995892" y="2721317"/>
          <a:ext cx="2136214" cy="1068107"/>
        </a:xfrm>
        <a:prstGeom prst="roundRect">
          <a:avLst>
            <a:gd name="adj" fmla="val 10000"/>
          </a:avLst>
        </a:prstGeom>
        <a:solidFill>
          <a:srgbClr val="FFC00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</a:t>
          </a:r>
          <a:r>
            <a:rPr lang="en-US" sz="1400" b="1" kern="1200" dirty="0"/>
            <a:t>Non-probability Sampling</a:t>
          </a:r>
          <a:endParaRPr lang="en-ID" sz="1400" b="1" kern="1200" dirty="0"/>
        </a:p>
      </dsp:txBody>
      <dsp:txXfrm>
        <a:off x="3027176" y="2752601"/>
        <a:ext cx="2073646" cy="1005539"/>
      </dsp:txXfrm>
    </dsp:sp>
    <dsp:sp modelId="{EA42A93D-CADC-47E3-AC78-5CDB3D38546A}">
      <dsp:nvSpPr>
        <dsp:cNvPr id="0" name=""/>
        <dsp:cNvSpPr/>
      </dsp:nvSpPr>
      <dsp:spPr>
        <a:xfrm>
          <a:off x="5132107" y="3235153"/>
          <a:ext cx="854485" cy="40434"/>
        </a:xfrm>
        <a:custGeom>
          <a:avLst/>
          <a:gdLst/>
          <a:ahLst/>
          <a:cxnLst/>
          <a:rect l="0" t="0" r="0" b="0"/>
          <a:pathLst>
            <a:path>
              <a:moveTo>
                <a:pt x="0" y="20217"/>
              </a:moveTo>
              <a:lnTo>
                <a:pt x="854485" y="20217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kern="1200"/>
        </a:p>
      </dsp:txBody>
      <dsp:txXfrm>
        <a:off x="5537988" y="3234008"/>
        <a:ext cx="42724" cy="42724"/>
      </dsp:txXfrm>
    </dsp:sp>
    <dsp:sp modelId="{49E1BFC8-7181-4CBA-8FFF-B61EECE3AFF7}">
      <dsp:nvSpPr>
        <dsp:cNvPr id="0" name=""/>
        <dsp:cNvSpPr/>
      </dsp:nvSpPr>
      <dsp:spPr>
        <a:xfrm>
          <a:off x="5986593" y="2355127"/>
          <a:ext cx="2136214" cy="18004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1. Sampling </a:t>
          </a:r>
          <a:r>
            <a:rPr lang="en-US" sz="1100" b="0" kern="1200" dirty="0" err="1"/>
            <a:t>sistematis</a:t>
          </a:r>
          <a:endParaRPr lang="en-US" sz="1100" b="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2. Sampling </a:t>
          </a:r>
          <a:r>
            <a:rPr lang="en-US" sz="1100" b="0" kern="1200" dirty="0" err="1"/>
            <a:t>kuota</a:t>
          </a:r>
          <a:endParaRPr lang="en-US" sz="1100" b="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3. Sampling </a:t>
          </a:r>
          <a:r>
            <a:rPr lang="en-US" sz="1100" b="0" kern="1200" dirty="0" err="1"/>
            <a:t>aksidental</a:t>
          </a:r>
          <a:endParaRPr lang="en-US" sz="1100" b="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4. Purposive sampling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5. Sampling </a:t>
          </a:r>
          <a:r>
            <a:rPr lang="en-US" sz="1100" b="0" kern="1200" dirty="0" err="1"/>
            <a:t>jenuh</a:t>
          </a:r>
          <a:endParaRPr lang="en-US" sz="1100" b="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6. Snowball sampling</a:t>
          </a:r>
          <a:endParaRPr lang="en-ID" sz="1100" b="0" kern="1200" dirty="0"/>
        </a:p>
      </dsp:txBody>
      <dsp:txXfrm>
        <a:off x="6039327" y="2407861"/>
        <a:ext cx="2030746" cy="16950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200400" y="0"/>
            <a:ext cx="6992000" cy="68580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3F3F3"/>
              </a:solidFill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096000" y="1776200"/>
            <a:ext cx="5200800" cy="210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Playfair Display"/>
              <a:buNone/>
              <a:defRPr sz="6667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096000" y="3885400"/>
            <a:ext cx="5206000" cy="6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867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19387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6093600" y="0"/>
            <a:ext cx="6098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968800" y="3170561"/>
            <a:ext cx="4350000" cy="82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fair Display"/>
              <a:buNone/>
              <a:defRPr sz="5333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fair Display"/>
              <a:buNone/>
              <a:defRPr sz="3333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fair Display"/>
              <a:buNone/>
              <a:defRPr sz="3333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fair Display"/>
              <a:buNone/>
              <a:defRPr sz="3333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fair Display"/>
              <a:buNone/>
              <a:defRPr sz="3333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fair Display"/>
              <a:buNone/>
              <a:defRPr sz="3333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fair Display"/>
              <a:buNone/>
              <a:defRPr sz="3333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fair Display"/>
              <a:buNone/>
              <a:defRPr sz="3333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fair Display"/>
              <a:buNone/>
              <a:defRPr sz="3333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6968800" y="3953551"/>
            <a:ext cx="4350000" cy="11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defRPr sz="18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rgbClr val="FFFFFF"/>
              </a:buClr>
              <a:buSzPts val="14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6968800" y="2123756"/>
            <a:ext cx="43500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fair Display"/>
              <a:buNone/>
              <a:defRPr sz="5333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fair Display"/>
              <a:buNone/>
              <a:defRPr sz="2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fair Display"/>
              <a:buNone/>
              <a:defRPr sz="2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fair Display"/>
              <a:buNone/>
              <a:defRPr sz="2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fair Display"/>
              <a:buNone/>
              <a:defRPr sz="2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fair Display"/>
              <a:buNone/>
              <a:defRPr sz="2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fair Display"/>
              <a:buNone/>
              <a:defRPr sz="2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fair Display"/>
              <a:buNone/>
              <a:defRPr sz="2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fair Display"/>
              <a:buNone/>
              <a:defRPr sz="28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41063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chemeClr val="dk2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890000" y="762000"/>
            <a:ext cx="10412000" cy="5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333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890000" y="1604567"/>
            <a:ext cx="10790400" cy="47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894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ivvic"/>
              <a:buAutoNum type="arabicPeriod"/>
              <a:defRPr sz="1600">
                <a:solidFill>
                  <a:schemeClr val="lt1"/>
                </a:solidFill>
              </a:defRPr>
            </a:lvl1pPr>
            <a:lvl2pPr marL="1219170" lvl="1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alphaLcPeriod"/>
              <a:defRPr sz="1600">
                <a:solidFill>
                  <a:schemeClr val="lt1"/>
                </a:solidFill>
              </a:defRPr>
            </a:lvl2pPr>
            <a:lvl3pPr marL="1828754" lvl="2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romanLcPeriod"/>
              <a:defRPr sz="1600">
                <a:solidFill>
                  <a:schemeClr val="lt1"/>
                </a:solidFill>
              </a:defRPr>
            </a:lvl3pPr>
            <a:lvl4pPr marL="2438339" lvl="3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arabicPeriod"/>
              <a:defRPr sz="1600">
                <a:solidFill>
                  <a:schemeClr val="lt1"/>
                </a:solidFill>
              </a:defRPr>
            </a:lvl4pPr>
            <a:lvl5pPr marL="3047924" lvl="4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alphaLcPeriod"/>
              <a:defRPr sz="1600">
                <a:solidFill>
                  <a:schemeClr val="lt1"/>
                </a:solidFill>
              </a:defRPr>
            </a:lvl5pPr>
            <a:lvl6pPr marL="3657509" lvl="5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romanLcPeriod"/>
              <a:defRPr sz="1600">
                <a:solidFill>
                  <a:schemeClr val="lt1"/>
                </a:solidFill>
              </a:defRPr>
            </a:lvl6pPr>
            <a:lvl7pPr marL="4267093" lvl="6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arabicPeriod"/>
              <a:defRPr sz="1600">
                <a:solidFill>
                  <a:schemeClr val="lt1"/>
                </a:solidFill>
              </a:defRPr>
            </a:lvl7pPr>
            <a:lvl8pPr marL="4876678" lvl="7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 Condensed Light"/>
              <a:buAutoNum type="alphaLcPeriod"/>
              <a:defRPr sz="1600">
                <a:solidFill>
                  <a:schemeClr val="lt1"/>
                </a:solidFill>
              </a:defRPr>
            </a:lvl8pPr>
            <a:lvl9pPr marL="5486263" lvl="8" indent="-389457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000"/>
              <a:buFont typeface="Roboto Condensed Light"/>
              <a:buAutoNum type="romanLcPeriod"/>
              <a:defRPr sz="1600"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0077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solidFill>
          <a:schemeClr val="dk2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878500" y="762000"/>
            <a:ext cx="10412000" cy="53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90000" y="1158240"/>
            <a:ext cx="10412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1659984" y="2529567"/>
            <a:ext cx="4011600" cy="59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2133"/>
              </a:spcBef>
              <a:spcAft>
                <a:spcPts val="2133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1651367" y="3460433"/>
            <a:ext cx="4011600" cy="16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6524823" y="2529567"/>
            <a:ext cx="4007200" cy="59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6515881" y="3460433"/>
            <a:ext cx="4011600" cy="16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14638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890000" y="1158240"/>
            <a:ext cx="10412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" name="Google Shape;29;p6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" name="Google Shape;30;p6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158467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968800" y="2420733"/>
            <a:ext cx="3476800" cy="7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5333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ubTitle" idx="1"/>
          </p:nvPr>
        </p:nvSpPr>
        <p:spPr>
          <a:xfrm>
            <a:off x="6968800" y="3074600"/>
            <a:ext cx="3476800" cy="14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" name="Google Shape;34;p7"/>
          <p:cNvSpPr/>
          <p:nvPr/>
        </p:nvSpPr>
        <p:spPr>
          <a:xfrm>
            <a:off x="0" y="0"/>
            <a:ext cx="60984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95139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878500" y="762000"/>
            <a:ext cx="10412000" cy="53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890000" y="2235000"/>
            <a:ext cx="10412000" cy="11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884800" y="3645000"/>
            <a:ext cx="10412000" cy="9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96206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solidFill>
          <a:schemeClr val="dk2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818651" y="1158240"/>
            <a:ext cx="65536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3333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2819751" y="2368204"/>
            <a:ext cx="6553600" cy="37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867">
                <a:solidFill>
                  <a:schemeClr val="lt1"/>
                </a:solidFill>
              </a:defRPr>
            </a:lvl1pPr>
            <a:lvl2pPr marL="1219170" lvl="1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333">
                <a:solidFill>
                  <a:schemeClr val="lt1"/>
                </a:solidFill>
              </a:defRPr>
            </a:lvl2pPr>
            <a:lvl3pPr marL="1828754" lvl="2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333">
                <a:solidFill>
                  <a:schemeClr val="lt1"/>
                </a:solidFill>
              </a:defRPr>
            </a:lvl3pPr>
            <a:lvl4pPr marL="2438339" lvl="3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333">
                <a:solidFill>
                  <a:schemeClr val="lt1"/>
                </a:solidFill>
              </a:defRPr>
            </a:lvl4pPr>
            <a:lvl5pPr marL="3047924" lvl="4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333">
                <a:solidFill>
                  <a:schemeClr val="lt1"/>
                </a:solidFill>
              </a:defRPr>
            </a:lvl5pPr>
            <a:lvl6pPr marL="3657509" lvl="5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333">
                <a:solidFill>
                  <a:schemeClr val="lt1"/>
                </a:solidFill>
              </a:defRPr>
            </a:lvl6pPr>
            <a:lvl7pPr marL="4267093" lvl="6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333">
                <a:solidFill>
                  <a:schemeClr val="lt1"/>
                </a:solidFill>
              </a:defRPr>
            </a:lvl7pPr>
            <a:lvl8pPr marL="4876678" lvl="7" indent="-389457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333">
                <a:solidFill>
                  <a:schemeClr val="lt1"/>
                </a:solidFill>
              </a:defRPr>
            </a:lvl8pPr>
            <a:lvl9pPr marL="5486263" lvl="8" indent="-389457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000"/>
              <a:buChar char="■"/>
              <a:defRPr sz="1333"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5934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7189200" y="3025600"/>
            <a:ext cx="41128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3333" b="1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4247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dk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890000" y="1982833"/>
            <a:ext cx="10412000" cy="195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914400" y="4069500"/>
            <a:ext cx="10412000" cy="8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 sz="18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2133"/>
              </a:spcBef>
              <a:spcAft>
                <a:spcPts val="2133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84428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049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centeges">
  <p:cSld name="Percentege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/>
          <p:nvPr/>
        </p:nvSpPr>
        <p:spPr>
          <a:xfrm>
            <a:off x="3033" y="-8533"/>
            <a:ext cx="430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" name="Google Shape;50;p13"/>
          <p:cNvSpPr/>
          <p:nvPr/>
        </p:nvSpPr>
        <p:spPr>
          <a:xfrm>
            <a:off x="7862000" y="-8533"/>
            <a:ext cx="4307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" name="Google Shape;51;p13"/>
          <p:cNvSpPr/>
          <p:nvPr/>
        </p:nvSpPr>
        <p:spPr>
          <a:xfrm>
            <a:off x="884433" y="762000"/>
            <a:ext cx="10412000" cy="53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2" name="Google Shape;52;p13"/>
          <p:cNvSpPr/>
          <p:nvPr/>
        </p:nvSpPr>
        <p:spPr>
          <a:xfrm>
            <a:off x="1993133" y="762000"/>
            <a:ext cx="8627600" cy="53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890000" y="1168400"/>
            <a:ext cx="10412000" cy="5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333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2" hasCustomPrompt="1"/>
          </p:nvPr>
        </p:nvSpPr>
        <p:spPr>
          <a:xfrm>
            <a:off x="1990867" y="2817633"/>
            <a:ext cx="3952000" cy="195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333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991067" y="4695967"/>
            <a:ext cx="3952000" cy="7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3" hasCustomPrompt="1"/>
          </p:nvPr>
        </p:nvSpPr>
        <p:spPr>
          <a:xfrm>
            <a:off x="6248900" y="2817633"/>
            <a:ext cx="3952000" cy="195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333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Playfair Display"/>
              <a:buNone/>
              <a:defRPr sz="10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4"/>
          </p:nvPr>
        </p:nvSpPr>
        <p:spPr>
          <a:xfrm>
            <a:off x="6249100" y="4695967"/>
            <a:ext cx="3952000" cy="7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636735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6968800" y="3838001"/>
            <a:ext cx="3986800" cy="5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>
                <a:latin typeface="Playfair Display Regular"/>
                <a:ea typeface="Playfair Display Regular"/>
                <a:cs typeface="Playfair Display Regular"/>
                <a:sym typeface="Playfair Display Regula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 b="1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 b="1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 b="1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 b="1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 b="1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 b="1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 b="1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title" idx="2"/>
          </p:nvPr>
        </p:nvSpPr>
        <p:spPr>
          <a:xfrm>
            <a:off x="6968800" y="2522367"/>
            <a:ext cx="3986800" cy="12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 i="1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908811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 + three 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90000" y="1158240"/>
            <a:ext cx="10412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890000" y="2426297"/>
            <a:ext cx="3086000" cy="69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890233" y="3458731"/>
            <a:ext cx="3086000" cy="18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3"/>
          </p:nvPr>
        </p:nvSpPr>
        <p:spPr>
          <a:xfrm>
            <a:off x="4552996" y="2426297"/>
            <a:ext cx="3082400" cy="69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ubTitle" idx="4"/>
          </p:nvPr>
        </p:nvSpPr>
        <p:spPr>
          <a:xfrm>
            <a:off x="4552992" y="3458731"/>
            <a:ext cx="3086000" cy="18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ubTitle" idx="5"/>
          </p:nvPr>
        </p:nvSpPr>
        <p:spPr>
          <a:xfrm>
            <a:off x="8215765" y="2426297"/>
            <a:ext cx="3082400" cy="69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ubTitle" idx="6"/>
          </p:nvPr>
        </p:nvSpPr>
        <p:spPr>
          <a:xfrm>
            <a:off x="8215763" y="3458731"/>
            <a:ext cx="3086000" cy="18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100" y="0"/>
            <a:ext cx="12192000" cy="7620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70;p15"/>
          <p:cNvSpPr/>
          <p:nvPr/>
        </p:nvSpPr>
        <p:spPr>
          <a:xfrm rot="10800000">
            <a:off x="133" y="6104000"/>
            <a:ext cx="12192000" cy="7540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3443969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ody 2">
  <p:cSld name="Title + body 2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 flipH="1">
            <a:off x="889933" y="2124433"/>
            <a:ext cx="4313600" cy="16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 flipH="1">
            <a:off x="889933" y="3725567"/>
            <a:ext cx="4313600" cy="22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142718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ix columns">
  <p:cSld name="Title + six column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890000" y="1158240"/>
            <a:ext cx="10412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subTitle" idx="1"/>
          </p:nvPr>
        </p:nvSpPr>
        <p:spPr>
          <a:xfrm>
            <a:off x="890000" y="2412252"/>
            <a:ext cx="3314800" cy="5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None/>
              <a:defRPr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ubTitle" idx="2"/>
          </p:nvPr>
        </p:nvSpPr>
        <p:spPr>
          <a:xfrm>
            <a:off x="890000" y="2953052"/>
            <a:ext cx="3314800" cy="7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3"/>
          </p:nvPr>
        </p:nvSpPr>
        <p:spPr>
          <a:xfrm>
            <a:off x="4438600" y="2412252"/>
            <a:ext cx="3314800" cy="5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None/>
              <a:defRPr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4"/>
          </p:nvPr>
        </p:nvSpPr>
        <p:spPr>
          <a:xfrm>
            <a:off x="4438600" y="2953052"/>
            <a:ext cx="3314800" cy="7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ubTitle" idx="5"/>
          </p:nvPr>
        </p:nvSpPr>
        <p:spPr>
          <a:xfrm>
            <a:off x="7987200" y="2412252"/>
            <a:ext cx="3314800" cy="5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None/>
              <a:defRPr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6"/>
          </p:nvPr>
        </p:nvSpPr>
        <p:spPr>
          <a:xfrm>
            <a:off x="7987200" y="2953052"/>
            <a:ext cx="3314800" cy="7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ubTitle" idx="7"/>
          </p:nvPr>
        </p:nvSpPr>
        <p:spPr>
          <a:xfrm>
            <a:off x="890000" y="4417400"/>
            <a:ext cx="3314800" cy="5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None/>
              <a:defRPr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8"/>
          </p:nvPr>
        </p:nvSpPr>
        <p:spPr>
          <a:xfrm>
            <a:off x="890000" y="4958200"/>
            <a:ext cx="3314800" cy="7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9"/>
          </p:nvPr>
        </p:nvSpPr>
        <p:spPr>
          <a:xfrm>
            <a:off x="4438600" y="4417400"/>
            <a:ext cx="3314800" cy="5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None/>
              <a:defRPr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13"/>
          </p:nvPr>
        </p:nvSpPr>
        <p:spPr>
          <a:xfrm>
            <a:off x="4438600" y="4958200"/>
            <a:ext cx="3314800" cy="7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subTitle" idx="14"/>
          </p:nvPr>
        </p:nvSpPr>
        <p:spPr>
          <a:xfrm>
            <a:off x="7987200" y="4417400"/>
            <a:ext cx="3314800" cy="5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None/>
              <a:defRPr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ubTitle" idx="15"/>
          </p:nvPr>
        </p:nvSpPr>
        <p:spPr>
          <a:xfrm>
            <a:off x="7987200" y="4958200"/>
            <a:ext cx="3314800" cy="7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364859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890000" y="1158240"/>
            <a:ext cx="10412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800" b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800" b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800" b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800" b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800" b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800" b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800" b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800" b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18"/>
          <p:cNvSpPr/>
          <p:nvPr/>
        </p:nvSpPr>
        <p:spPr>
          <a:xfrm rot="-5400000">
            <a:off x="5712400" y="-5712667"/>
            <a:ext cx="774000" cy="121988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910611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890000" y="1158240"/>
            <a:ext cx="10412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3" name="Google Shape;93;p19"/>
          <p:cNvSpPr/>
          <p:nvPr/>
        </p:nvSpPr>
        <p:spPr>
          <a:xfrm rot="10800000" flipH="1">
            <a:off x="-37000" y="6111200"/>
            <a:ext cx="12228800" cy="7468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4" name="Google Shape;94;p19"/>
          <p:cNvSpPr/>
          <p:nvPr/>
        </p:nvSpPr>
        <p:spPr>
          <a:xfrm rot="10800000" flipH="1">
            <a:off x="0" y="-33"/>
            <a:ext cx="12186400" cy="7692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8189412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numbers">
  <p:cSld name="Three big number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6096000" y="660400"/>
            <a:ext cx="5206000" cy="7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subTitle" idx="1"/>
          </p:nvPr>
        </p:nvSpPr>
        <p:spPr>
          <a:xfrm>
            <a:off x="6096000" y="1696751"/>
            <a:ext cx="5206000" cy="4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title" idx="2"/>
          </p:nvPr>
        </p:nvSpPr>
        <p:spPr>
          <a:xfrm>
            <a:off x="6096000" y="2522533"/>
            <a:ext cx="5206000" cy="7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ubTitle" idx="3"/>
          </p:nvPr>
        </p:nvSpPr>
        <p:spPr>
          <a:xfrm>
            <a:off x="6096000" y="3559100"/>
            <a:ext cx="5206000" cy="4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title" idx="4"/>
          </p:nvPr>
        </p:nvSpPr>
        <p:spPr>
          <a:xfrm>
            <a:off x="6096000" y="4485600"/>
            <a:ext cx="5206000" cy="7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Playfair Display"/>
              <a:buNone/>
              <a:defRPr sz="6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subTitle" idx="5"/>
          </p:nvPr>
        </p:nvSpPr>
        <p:spPr>
          <a:xfrm>
            <a:off x="6096000" y="5522000"/>
            <a:ext cx="5206000" cy="4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" name="Google Shape;102;p20"/>
          <p:cNvSpPr/>
          <p:nvPr/>
        </p:nvSpPr>
        <p:spPr>
          <a:xfrm>
            <a:off x="0" y="0"/>
            <a:ext cx="5206000" cy="68580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667476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 2">
  <p:cSld name="Title + three columns 2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title"/>
          </p:nvPr>
        </p:nvSpPr>
        <p:spPr>
          <a:xfrm>
            <a:off x="890000" y="1158240"/>
            <a:ext cx="10412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ubTitle" idx="1"/>
          </p:nvPr>
        </p:nvSpPr>
        <p:spPr>
          <a:xfrm>
            <a:off x="890000" y="4480085"/>
            <a:ext cx="3086000" cy="5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subTitle" idx="2"/>
          </p:nvPr>
        </p:nvSpPr>
        <p:spPr>
          <a:xfrm>
            <a:off x="890233" y="5015137"/>
            <a:ext cx="3086000" cy="7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subTitle" idx="3"/>
          </p:nvPr>
        </p:nvSpPr>
        <p:spPr>
          <a:xfrm>
            <a:off x="4552997" y="4480085"/>
            <a:ext cx="3082400" cy="5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subTitle" idx="4"/>
          </p:nvPr>
        </p:nvSpPr>
        <p:spPr>
          <a:xfrm>
            <a:off x="4552993" y="5015137"/>
            <a:ext cx="3086000" cy="7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ubTitle" idx="5"/>
          </p:nvPr>
        </p:nvSpPr>
        <p:spPr>
          <a:xfrm>
            <a:off x="8215768" y="4480085"/>
            <a:ext cx="3082400" cy="5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A6BFA5"/>
              </a:buClr>
              <a:buSzPts val="2100"/>
              <a:buFont typeface="Montserrat"/>
              <a:buNone/>
              <a:defRPr sz="2800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subTitle" idx="6"/>
          </p:nvPr>
        </p:nvSpPr>
        <p:spPr>
          <a:xfrm>
            <a:off x="8215765" y="5015137"/>
            <a:ext cx="3086000" cy="7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1" name="Google Shape;111;p21"/>
          <p:cNvSpPr/>
          <p:nvPr/>
        </p:nvSpPr>
        <p:spPr>
          <a:xfrm>
            <a:off x="0" y="-29500"/>
            <a:ext cx="12216000" cy="786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" name="Google Shape;112;p21"/>
          <p:cNvSpPr/>
          <p:nvPr/>
        </p:nvSpPr>
        <p:spPr>
          <a:xfrm>
            <a:off x="0" y="6096000"/>
            <a:ext cx="12216000" cy="786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34959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ody 3">
  <p:cSld name="Title + body 3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/>
          <p:nvPr/>
        </p:nvSpPr>
        <p:spPr>
          <a:xfrm>
            <a:off x="6096067" y="0"/>
            <a:ext cx="6096000" cy="68580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7315200" y="1916231"/>
            <a:ext cx="3986800" cy="114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333" b="1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subTitle" idx="1"/>
          </p:nvPr>
        </p:nvSpPr>
        <p:spPr>
          <a:xfrm>
            <a:off x="7315000" y="3075627"/>
            <a:ext cx="3986800" cy="15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035027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ody 4">
  <p:cSld name="Title + body 4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/>
          <p:nvPr/>
        </p:nvSpPr>
        <p:spPr>
          <a:xfrm>
            <a:off x="0" y="-67"/>
            <a:ext cx="6096000" cy="68580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" name="Google Shape;119;p23"/>
          <p:cNvSpPr txBox="1">
            <a:spLocks noGrp="1"/>
          </p:cNvSpPr>
          <p:nvPr>
            <p:ph type="title"/>
          </p:nvPr>
        </p:nvSpPr>
        <p:spPr>
          <a:xfrm>
            <a:off x="890200" y="2313733"/>
            <a:ext cx="3986800" cy="76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subTitle" idx="1"/>
          </p:nvPr>
        </p:nvSpPr>
        <p:spPr>
          <a:xfrm>
            <a:off x="890000" y="3082667"/>
            <a:ext cx="3986800" cy="14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689451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solidFill>
          <a:schemeClr val="dk2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>
            <a:spLocks noGrp="1"/>
          </p:cNvSpPr>
          <p:nvPr>
            <p:ph type="title"/>
          </p:nvPr>
        </p:nvSpPr>
        <p:spPr>
          <a:xfrm>
            <a:off x="890000" y="1810000"/>
            <a:ext cx="5206000" cy="139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subTitle" idx="1"/>
          </p:nvPr>
        </p:nvSpPr>
        <p:spPr>
          <a:xfrm>
            <a:off x="890000" y="3435600"/>
            <a:ext cx="5206000" cy="139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67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4" name="Google Shape;124;p24"/>
          <p:cNvSpPr txBox="1"/>
          <p:nvPr/>
        </p:nvSpPr>
        <p:spPr>
          <a:xfrm>
            <a:off x="6808800" y="4962407"/>
            <a:ext cx="4493200" cy="8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lang="en" sz="1333" b="1">
                <a:solidFill>
                  <a:srgbClr val="FFFFF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3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333" b="1">
                <a:solidFill>
                  <a:srgbClr val="FFFFF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3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lang="en" sz="1333" b="1">
                <a:solidFill>
                  <a:srgbClr val="FFFFFF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</a:t>
            </a:r>
            <a:r>
              <a:rPr lang="en" sz="1333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</a:t>
            </a:r>
            <a:endParaRPr sz="1333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985860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ody 5">
  <p:cSld name="Title + body 5">
    <p:bg>
      <p:bgPr>
        <a:solidFill>
          <a:schemeClr val="dk2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>
            <a:spLocks noGrp="1"/>
          </p:cNvSpPr>
          <p:nvPr>
            <p:ph type="title"/>
          </p:nvPr>
        </p:nvSpPr>
        <p:spPr>
          <a:xfrm>
            <a:off x="890000" y="762000"/>
            <a:ext cx="6425200" cy="106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Font typeface="Playfair Display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subTitle" idx="1"/>
          </p:nvPr>
        </p:nvSpPr>
        <p:spPr>
          <a:xfrm>
            <a:off x="890000" y="2083400"/>
            <a:ext cx="10412000" cy="40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867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253249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 3">
  <p:cSld name="Title + three columns 3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>
            <a:spLocks noGrp="1"/>
          </p:cNvSpPr>
          <p:nvPr>
            <p:ph type="title"/>
          </p:nvPr>
        </p:nvSpPr>
        <p:spPr>
          <a:xfrm>
            <a:off x="890000" y="1158240"/>
            <a:ext cx="10412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subTitle" idx="1"/>
          </p:nvPr>
        </p:nvSpPr>
        <p:spPr>
          <a:xfrm>
            <a:off x="980300" y="3219277"/>
            <a:ext cx="3086000" cy="9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26"/>
          <p:cNvSpPr txBox="1">
            <a:spLocks noGrp="1"/>
          </p:cNvSpPr>
          <p:nvPr>
            <p:ph type="subTitle" idx="2"/>
          </p:nvPr>
        </p:nvSpPr>
        <p:spPr>
          <a:xfrm>
            <a:off x="980533" y="3768523"/>
            <a:ext cx="3086000" cy="16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26"/>
          <p:cNvSpPr txBox="1">
            <a:spLocks noGrp="1"/>
          </p:cNvSpPr>
          <p:nvPr>
            <p:ph type="subTitle" idx="3"/>
          </p:nvPr>
        </p:nvSpPr>
        <p:spPr>
          <a:xfrm>
            <a:off x="4552993" y="3219277"/>
            <a:ext cx="3082400" cy="9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subTitle" idx="4"/>
          </p:nvPr>
        </p:nvSpPr>
        <p:spPr>
          <a:xfrm>
            <a:off x="4552992" y="3768523"/>
            <a:ext cx="3086000" cy="16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4" name="Google Shape;134;p26"/>
          <p:cNvSpPr txBox="1">
            <a:spLocks noGrp="1"/>
          </p:cNvSpPr>
          <p:nvPr>
            <p:ph type="subTitle" idx="5"/>
          </p:nvPr>
        </p:nvSpPr>
        <p:spPr>
          <a:xfrm>
            <a:off x="8215760" y="3219277"/>
            <a:ext cx="3082400" cy="9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2100"/>
              <a:buFont typeface="Montserrat"/>
              <a:buNone/>
              <a:defRPr sz="2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subTitle" idx="6"/>
          </p:nvPr>
        </p:nvSpPr>
        <p:spPr>
          <a:xfrm>
            <a:off x="8215763" y="3768523"/>
            <a:ext cx="3086000" cy="16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70443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2">
  <p:cSld name="Big number 2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/>
          <p:nvPr/>
        </p:nvSpPr>
        <p:spPr>
          <a:xfrm>
            <a:off x="4311033" y="0"/>
            <a:ext cx="78808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" name="Google Shape;138;p27"/>
          <p:cNvSpPr/>
          <p:nvPr/>
        </p:nvSpPr>
        <p:spPr>
          <a:xfrm>
            <a:off x="0" y="762000"/>
            <a:ext cx="8696400" cy="53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" name="Google Shape;139;p27"/>
          <p:cNvSpPr txBox="1">
            <a:spLocks noGrp="1"/>
          </p:cNvSpPr>
          <p:nvPr>
            <p:ph type="title" hasCustomPrompt="1"/>
          </p:nvPr>
        </p:nvSpPr>
        <p:spPr>
          <a:xfrm>
            <a:off x="890000" y="2275651"/>
            <a:ext cx="6856000" cy="16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7500"/>
              <a:buFont typeface="Playfair Display"/>
              <a:buNone/>
              <a:defRPr sz="10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140" name="Google Shape;140;p27"/>
          <p:cNvSpPr txBox="1">
            <a:spLocks noGrp="1"/>
          </p:cNvSpPr>
          <p:nvPr>
            <p:ph type="subTitle" idx="1"/>
          </p:nvPr>
        </p:nvSpPr>
        <p:spPr>
          <a:xfrm>
            <a:off x="890000" y="3953151"/>
            <a:ext cx="6856000" cy="6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 sz="1867"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rgbClr val="A6BFA5"/>
              </a:buClr>
              <a:buSzPts val="1400"/>
              <a:buFont typeface="Montserrat"/>
              <a:buNone/>
              <a:defRPr>
                <a:solidFill>
                  <a:srgbClr val="A6BFA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354706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">
  <p:cSld name="Title + subtitle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>
            <a:spLocks noGrp="1"/>
          </p:cNvSpPr>
          <p:nvPr>
            <p:ph type="title"/>
          </p:nvPr>
        </p:nvSpPr>
        <p:spPr>
          <a:xfrm>
            <a:off x="888000" y="1951267"/>
            <a:ext cx="5211200" cy="21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A6BFA5"/>
              </a:buClr>
              <a:buSzPts val="5000"/>
              <a:buFont typeface="Playfair Display"/>
              <a:buNone/>
              <a:defRPr sz="6667">
                <a:solidFill>
                  <a:srgbClr val="A6BFA5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3" name="Google Shape;143;p28"/>
          <p:cNvSpPr txBox="1">
            <a:spLocks noGrp="1"/>
          </p:cNvSpPr>
          <p:nvPr>
            <p:ph type="subTitle" idx="1"/>
          </p:nvPr>
        </p:nvSpPr>
        <p:spPr>
          <a:xfrm>
            <a:off x="884800" y="4045800"/>
            <a:ext cx="5211200" cy="7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4" name="Google Shape;144;p28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587936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numbers">
  <p:cSld name="1_Three big numbers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>
            <a:spLocks noGrp="1"/>
          </p:cNvSpPr>
          <p:nvPr>
            <p:ph type="subTitle" idx="1"/>
          </p:nvPr>
        </p:nvSpPr>
        <p:spPr>
          <a:xfrm>
            <a:off x="7829648" y="1486400"/>
            <a:ext cx="3651600" cy="8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7" name="Google Shape;147;p29"/>
          <p:cNvSpPr txBox="1">
            <a:spLocks noGrp="1"/>
          </p:cNvSpPr>
          <p:nvPr>
            <p:ph type="subTitle" idx="2"/>
          </p:nvPr>
        </p:nvSpPr>
        <p:spPr>
          <a:xfrm>
            <a:off x="7829648" y="4914400"/>
            <a:ext cx="3651600" cy="8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8" name="Google Shape;148;p29"/>
          <p:cNvSpPr txBox="1">
            <a:spLocks noGrp="1"/>
          </p:cNvSpPr>
          <p:nvPr>
            <p:ph type="subTitle" idx="3"/>
          </p:nvPr>
        </p:nvSpPr>
        <p:spPr>
          <a:xfrm>
            <a:off x="7829648" y="3200400"/>
            <a:ext cx="3651600" cy="8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 sz="186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Font typeface="Montserrat"/>
              <a:buNone/>
              <a:defRPr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9" name="Google Shape;149;p29"/>
          <p:cNvSpPr txBox="1">
            <a:spLocks noGrp="1"/>
          </p:cNvSpPr>
          <p:nvPr>
            <p:ph type="title" hasCustomPrompt="1"/>
          </p:nvPr>
        </p:nvSpPr>
        <p:spPr>
          <a:xfrm>
            <a:off x="4562433" y="740460"/>
            <a:ext cx="3470400" cy="19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150" name="Google Shape;150;p29"/>
          <p:cNvSpPr txBox="1">
            <a:spLocks noGrp="1"/>
          </p:cNvSpPr>
          <p:nvPr>
            <p:ph type="title" idx="4" hasCustomPrompt="1"/>
          </p:nvPr>
        </p:nvSpPr>
        <p:spPr>
          <a:xfrm>
            <a:off x="4562433" y="2454460"/>
            <a:ext cx="3470400" cy="19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151" name="Google Shape;151;p29"/>
          <p:cNvSpPr txBox="1">
            <a:spLocks noGrp="1"/>
          </p:cNvSpPr>
          <p:nvPr>
            <p:ph type="title" idx="5" hasCustomPrompt="1"/>
          </p:nvPr>
        </p:nvSpPr>
        <p:spPr>
          <a:xfrm>
            <a:off x="4562433" y="4168460"/>
            <a:ext cx="3470400" cy="19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00"/>
              <a:buFont typeface="Playfair Display"/>
              <a:buNone/>
              <a:defRPr sz="10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t>xx%</a:t>
            </a:r>
          </a:p>
        </p:txBody>
      </p:sp>
      <p:sp>
        <p:nvSpPr>
          <p:cNvPr id="152" name="Google Shape;152;p29"/>
          <p:cNvSpPr/>
          <p:nvPr/>
        </p:nvSpPr>
        <p:spPr>
          <a:xfrm>
            <a:off x="-12133" y="0"/>
            <a:ext cx="4323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1898113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>
            <a:spLocks noGrp="1"/>
          </p:cNvSpPr>
          <p:nvPr>
            <p:ph type="title"/>
          </p:nvPr>
        </p:nvSpPr>
        <p:spPr>
          <a:xfrm>
            <a:off x="890000" y="1158240"/>
            <a:ext cx="10412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5" name="Google Shape;155;p30"/>
          <p:cNvSpPr/>
          <p:nvPr/>
        </p:nvSpPr>
        <p:spPr>
          <a:xfrm>
            <a:off x="0" y="-47833"/>
            <a:ext cx="890000" cy="690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6" name="Google Shape;156;p30"/>
          <p:cNvSpPr/>
          <p:nvPr/>
        </p:nvSpPr>
        <p:spPr>
          <a:xfrm>
            <a:off x="11302000" y="-24000"/>
            <a:ext cx="890000" cy="690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537562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 2">
  <p:cSld name="Title + two columns 2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>
            <a:spLocks noGrp="1"/>
          </p:cNvSpPr>
          <p:nvPr>
            <p:ph type="title"/>
          </p:nvPr>
        </p:nvSpPr>
        <p:spPr>
          <a:xfrm>
            <a:off x="890000" y="1158240"/>
            <a:ext cx="10412000" cy="8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3333"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9" name="Google Shape;159;p31"/>
          <p:cNvSpPr txBox="1">
            <a:spLocks noGrp="1"/>
          </p:cNvSpPr>
          <p:nvPr>
            <p:ph type="subTitle" idx="1"/>
          </p:nvPr>
        </p:nvSpPr>
        <p:spPr>
          <a:xfrm>
            <a:off x="1651367" y="2424633"/>
            <a:ext cx="4011200" cy="68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0" name="Google Shape;160;p31"/>
          <p:cNvSpPr txBox="1">
            <a:spLocks noGrp="1"/>
          </p:cNvSpPr>
          <p:nvPr>
            <p:ph type="subTitle" idx="2"/>
          </p:nvPr>
        </p:nvSpPr>
        <p:spPr>
          <a:xfrm>
            <a:off x="1651367" y="3462533"/>
            <a:ext cx="4011200" cy="15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86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1" name="Google Shape;161;p31"/>
          <p:cNvSpPr txBox="1">
            <a:spLocks noGrp="1"/>
          </p:cNvSpPr>
          <p:nvPr>
            <p:ph type="subTitle" idx="3"/>
          </p:nvPr>
        </p:nvSpPr>
        <p:spPr>
          <a:xfrm>
            <a:off x="6520867" y="2424633"/>
            <a:ext cx="4011200" cy="68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1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2" name="Google Shape;162;p31"/>
          <p:cNvSpPr txBox="1">
            <a:spLocks noGrp="1"/>
          </p:cNvSpPr>
          <p:nvPr>
            <p:ph type="subTitle" idx="4"/>
          </p:nvPr>
        </p:nvSpPr>
        <p:spPr>
          <a:xfrm>
            <a:off x="6513867" y="3464367"/>
            <a:ext cx="4011200" cy="15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86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Montserra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31"/>
          <p:cNvSpPr/>
          <p:nvPr/>
        </p:nvSpPr>
        <p:spPr>
          <a:xfrm>
            <a:off x="100" y="0"/>
            <a:ext cx="12192000" cy="7620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4" name="Google Shape;164;p31"/>
          <p:cNvSpPr/>
          <p:nvPr/>
        </p:nvSpPr>
        <p:spPr>
          <a:xfrm rot="10800000">
            <a:off x="133" y="6104000"/>
            <a:ext cx="12192000" cy="754000"/>
          </a:xfrm>
          <a:prstGeom prst="rect">
            <a:avLst/>
          </a:prstGeom>
          <a:solidFill>
            <a:srgbClr val="A6BFA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58493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chemeClr val="accent1"/>
            </a:gs>
            <a:gs pos="50000">
              <a:schemeClr val="accent2"/>
            </a:gs>
            <a:gs pos="100000">
              <a:schemeClr val="accent3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835600" y="826967"/>
            <a:ext cx="7591200" cy="2611200"/>
          </a:xfrm>
          <a:prstGeom prst="rect">
            <a:avLst/>
          </a:prstGeom>
          <a:effectLst>
            <a:outerShdw blurRad="28575" dist="19050" dir="270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75083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482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90000" y="593367"/>
            <a:ext cx="1041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fair Display"/>
              <a:buNone/>
              <a:defRPr sz="28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90000" y="1536633"/>
            <a:ext cx="1041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620396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  <p:sldLayoutId id="2147483716" r:id="rId26"/>
    <p:sldLayoutId id="2147483717" r:id="rId27"/>
    <p:sldLayoutId id="2147483718" r:id="rId28"/>
    <p:sldLayoutId id="2147483719" r:id="rId29"/>
    <p:sldLayoutId id="2147483720" r:id="rId30"/>
    <p:sldLayoutId id="2147483721" r:id="rId31"/>
  </p:sldLayoutIdLst>
  <p:transition>
    <p:fade thruBlk="1"/>
  </p:transition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2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67" name="Google Shape;167;p32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392631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79ABB-AD38-43A2-BCB7-0614BC46E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7920" y="1808480"/>
            <a:ext cx="7288880" cy="2235200"/>
          </a:xfrm>
        </p:spPr>
        <p:txBody>
          <a:bodyPr/>
          <a:lstStyle/>
          <a:p>
            <a:r>
              <a:rPr lang="en-US" sz="6600" dirty="0">
                <a:solidFill>
                  <a:schemeClr val="tx1"/>
                </a:solidFill>
                <a:latin typeface="+mj-lt"/>
                <a:cs typeface="Calibri" panose="020F0502020204030204" pitchFamily="34" charset="0"/>
              </a:rPr>
              <a:t>POPULASI DAN SAMPEL</a:t>
            </a:r>
            <a:endParaRPr lang="en-ID" sz="6600" dirty="0">
              <a:solidFill>
                <a:schemeClr val="tx1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19AEC-FF23-4918-A4CD-7300FE34B68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137920" y="4531360"/>
            <a:ext cx="8006080" cy="726440"/>
          </a:xfrm>
        </p:spPr>
        <p:txBody>
          <a:bodyPr/>
          <a:lstStyle/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</a:rPr>
              <a:t>ASHRI SHABRINA AFRAH, M.T</a:t>
            </a:r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741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2B6FF3-9EC2-4C0F-A3E2-9DDA3AB73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  <a:cs typeface="Calibri" panose="020F0502020204030204" pitchFamily="34" charset="0"/>
              </a:rPr>
              <a:t>POPULASI</a:t>
            </a:r>
            <a:endParaRPr lang="en-ID" dirty="0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3F355C8-7AD1-4940-87A1-1867157C6B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000" y="2324697"/>
            <a:ext cx="3086000" cy="692000"/>
          </a:xfrm>
        </p:spPr>
        <p:txBody>
          <a:bodyPr/>
          <a:lstStyle/>
          <a:p>
            <a:r>
              <a:rPr lang="en-US" b="1" dirty="0" err="1">
                <a:solidFill>
                  <a:srgbClr val="FFC000"/>
                </a:solidFill>
              </a:rPr>
              <a:t>Sugiyono</a:t>
            </a:r>
            <a:r>
              <a:rPr lang="en-US" b="1" dirty="0">
                <a:solidFill>
                  <a:srgbClr val="FFC000"/>
                </a:solidFill>
              </a:rPr>
              <a:t> (1997: 57)</a:t>
            </a:r>
            <a:endParaRPr lang="en-ID" b="1" dirty="0">
              <a:solidFill>
                <a:srgbClr val="FFC000"/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A3420C8-D424-40A9-AD97-E7468B855623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890233" y="3129280"/>
            <a:ext cx="3086000" cy="2069451"/>
          </a:xfrm>
        </p:spPr>
        <p:txBody>
          <a:bodyPr/>
          <a:lstStyle/>
          <a:p>
            <a:pPr algn="l"/>
            <a:r>
              <a:rPr lang="en-US" sz="1400" dirty="0"/>
              <a:t>	</a:t>
            </a:r>
            <a:r>
              <a:rPr lang="en-US" sz="1400" dirty="0" err="1"/>
              <a:t>Populasi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 wilayah </a:t>
            </a:r>
            <a:r>
              <a:rPr lang="en-US" sz="1400" dirty="0" err="1"/>
              <a:t>generalisasi</a:t>
            </a:r>
            <a:r>
              <a:rPr lang="en-US" sz="1400" dirty="0"/>
              <a:t> yang </a:t>
            </a:r>
            <a:r>
              <a:rPr lang="en-US" sz="1400" dirty="0" err="1"/>
              <a:t>terdiri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</a:t>
            </a:r>
            <a:r>
              <a:rPr lang="en-US" sz="1400" dirty="0" err="1"/>
              <a:t>obyek</a:t>
            </a:r>
            <a:r>
              <a:rPr lang="en-US" sz="1400" dirty="0"/>
              <a:t>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subyek</a:t>
            </a:r>
            <a:r>
              <a:rPr lang="en-US" sz="1400" dirty="0"/>
              <a:t> yang </a:t>
            </a:r>
            <a:r>
              <a:rPr lang="en-US" sz="1400" dirty="0" err="1"/>
              <a:t>menjadi</a:t>
            </a:r>
            <a:r>
              <a:rPr lang="en-US" sz="1400" dirty="0"/>
              <a:t> </a:t>
            </a:r>
            <a:r>
              <a:rPr lang="en-US" sz="1400" dirty="0" err="1"/>
              <a:t>kuantitas</a:t>
            </a:r>
            <a:r>
              <a:rPr lang="en-US" sz="1400" dirty="0"/>
              <a:t> dan </a:t>
            </a:r>
            <a:r>
              <a:rPr lang="en-US" sz="1400" dirty="0" err="1"/>
              <a:t>karakteristik</a:t>
            </a:r>
            <a:r>
              <a:rPr lang="en-US" sz="1400" dirty="0"/>
              <a:t> </a:t>
            </a:r>
            <a:r>
              <a:rPr lang="en-US" sz="1400" dirty="0" err="1"/>
              <a:t>tertentu</a:t>
            </a:r>
            <a:r>
              <a:rPr lang="en-US" sz="1400" dirty="0"/>
              <a:t> yang </a:t>
            </a:r>
            <a:r>
              <a:rPr lang="en-US" sz="1400" dirty="0" err="1"/>
              <a:t>ditetapkan</a:t>
            </a:r>
            <a:r>
              <a:rPr lang="en-US" sz="1400" dirty="0"/>
              <a:t> oleh </a:t>
            </a:r>
            <a:r>
              <a:rPr lang="en-US" sz="1400" dirty="0" err="1"/>
              <a:t>peneliti</a:t>
            </a:r>
            <a:r>
              <a:rPr lang="en-US" sz="1400" dirty="0"/>
              <a:t>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dipelajari</a:t>
            </a:r>
            <a:r>
              <a:rPr lang="en-US" sz="1400" dirty="0"/>
              <a:t> dan </a:t>
            </a:r>
            <a:r>
              <a:rPr lang="en-US" sz="1400" dirty="0" err="1"/>
              <a:t>kemudian</a:t>
            </a:r>
            <a:r>
              <a:rPr lang="en-US" sz="1400" dirty="0"/>
              <a:t> </a:t>
            </a:r>
            <a:r>
              <a:rPr lang="en-US" sz="1400" dirty="0" err="1"/>
              <a:t>ditarik</a:t>
            </a:r>
            <a:r>
              <a:rPr lang="en-US" sz="1400" dirty="0"/>
              <a:t> </a:t>
            </a:r>
            <a:r>
              <a:rPr lang="en-US" sz="1400" dirty="0" err="1"/>
              <a:t>kesimpulannya</a:t>
            </a:r>
            <a:r>
              <a:rPr lang="en-US" sz="1400" dirty="0"/>
              <a:t>.</a:t>
            </a:r>
            <a:endParaRPr lang="en-ID" sz="14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EDF6562-F10F-4516-9511-165DC65F9845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556592" y="2324697"/>
            <a:ext cx="3082400" cy="692000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Nawawi (1985: 141)</a:t>
            </a:r>
            <a:endParaRPr lang="en-ID" b="1" dirty="0">
              <a:solidFill>
                <a:srgbClr val="FFC000"/>
              </a:solidFill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99CC4A3-55D0-4E9D-93EC-66AB24D65A58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632960" y="3129280"/>
            <a:ext cx="3006032" cy="2069451"/>
          </a:xfrm>
        </p:spPr>
        <p:txBody>
          <a:bodyPr/>
          <a:lstStyle/>
          <a:p>
            <a:pPr algn="l"/>
            <a:r>
              <a:rPr lang="en-US" sz="1400" dirty="0"/>
              <a:t>	</a:t>
            </a:r>
            <a:r>
              <a:rPr lang="en-US" sz="1400" dirty="0" err="1"/>
              <a:t>Populasi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 </a:t>
            </a:r>
            <a:r>
              <a:rPr lang="en-US" sz="1400" dirty="0" err="1"/>
              <a:t>totalitas</a:t>
            </a:r>
            <a:r>
              <a:rPr lang="en-US" sz="1400" dirty="0"/>
              <a:t> </a:t>
            </a:r>
            <a:r>
              <a:rPr lang="en-US" sz="1400" dirty="0" err="1"/>
              <a:t>semua</a:t>
            </a:r>
            <a:r>
              <a:rPr lang="en-US" sz="1400" dirty="0"/>
              <a:t> </a:t>
            </a:r>
            <a:r>
              <a:rPr lang="en-US" sz="1400" dirty="0" err="1"/>
              <a:t>nilai</a:t>
            </a:r>
            <a:r>
              <a:rPr lang="en-US" sz="1400" dirty="0"/>
              <a:t> yang </a:t>
            </a:r>
            <a:r>
              <a:rPr lang="en-US" sz="1400" dirty="0" err="1"/>
              <a:t>mungkin</a:t>
            </a:r>
            <a:r>
              <a:rPr lang="en-US" sz="1400" dirty="0"/>
              <a:t>, </a:t>
            </a:r>
            <a:r>
              <a:rPr lang="en-US" sz="1400" dirty="0" err="1"/>
              <a:t>baik</a:t>
            </a:r>
            <a:r>
              <a:rPr lang="en-US" sz="1400" dirty="0"/>
              <a:t> </a:t>
            </a:r>
            <a:r>
              <a:rPr lang="en-US" sz="1400" dirty="0" err="1"/>
              <a:t>hasil</a:t>
            </a:r>
            <a:r>
              <a:rPr lang="en-US" sz="1400" dirty="0"/>
              <a:t> </a:t>
            </a:r>
            <a:r>
              <a:rPr lang="en-US" sz="1400" dirty="0" err="1"/>
              <a:t>menghitung</a:t>
            </a:r>
            <a:r>
              <a:rPr lang="en-US" sz="1400" dirty="0"/>
              <a:t> </a:t>
            </a:r>
            <a:r>
              <a:rPr lang="en-US" sz="1400" dirty="0" err="1"/>
              <a:t>ataupun</a:t>
            </a:r>
            <a:r>
              <a:rPr lang="en-US" sz="1400" dirty="0"/>
              <a:t> </a:t>
            </a:r>
            <a:r>
              <a:rPr lang="en-US" sz="1400" dirty="0" err="1"/>
              <a:t>pengukuran</a:t>
            </a:r>
            <a:r>
              <a:rPr lang="en-US" sz="1400" dirty="0"/>
              <a:t> </a:t>
            </a:r>
            <a:r>
              <a:rPr lang="en-US" sz="1400" dirty="0" err="1"/>
              <a:t>kuantitatif</a:t>
            </a:r>
            <a:r>
              <a:rPr lang="en-US" sz="1400" dirty="0"/>
              <a:t> </a:t>
            </a:r>
            <a:r>
              <a:rPr lang="en-US" sz="1400" dirty="0" err="1"/>
              <a:t>maupun</a:t>
            </a:r>
            <a:r>
              <a:rPr lang="en-US" sz="1400" dirty="0"/>
              <a:t> </a:t>
            </a:r>
            <a:r>
              <a:rPr lang="en-US" sz="1400" dirty="0" err="1"/>
              <a:t>kualitatif</a:t>
            </a:r>
            <a:r>
              <a:rPr lang="en-US" sz="1400" dirty="0"/>
              <a:t> </a:t>
            </a:r>
            <a:r>
              <a:rPr lang="en-US" sz="1400" dirty="0" err="1"/>
              <a:t>daripada</a:t>
            </a:r>
            <a:r>
              <a:rPr lang="en-US" sz="1400" dirty="0"/>
              <a:t> </a:t>
            </a:r>
            <a:r>
              <a:rPr lang="en-US" sz="1400" dirty="0" err="1"/>
              <a:t>karakteristik</a:t>
            </a:r>
            <a:r>
              <a:rPr lang="en-US" sz="1400" dirty="0"/>
              <a:t> </a:t>
            </a:r>
            <a:r>
              <a:rPr lang="en-US" sz="1400" dirty="0" err="1"/>
              <a:t>tertentu</a:t>
            </a:r>
            <a:r>
              <a:rPr lang="en-US" sz="1400" dirty="0"/>
              <a:t> </a:t>
            </a:r>
            <a:r>
              <a:rPr lang="en-US" sz="1400" dirty="0" err="1"/>
              <a:t>mengenai</a:t>
            </a:r>
            <a:r>
              <a:rPr lang="en-US" sz="1400" dirty="0"/>
              <a:t> </a:t>
            </a:r>
            <a:r>
              <a:rPr lang="en-US" sz="1400" dirty="0" err="1"/>
              <a:t>sekumpulan</a:t>
            </a:r>
            <a:r>
              <a:rPr lang="en-US" sz="1400" dirty="0"/>
              <a:t> </a:t>
            </a:r>
            <a:r>
              <a:rPr lang="en-US" sz="1400" dirty="0" err="1"/>
              <a:t>objek</a:t>
            </a:r>
            <a:r>
              <a:rPr lang="en-US" sz="1400" dirty="0"/>
              <a:t> yang </a:t>
            </a:r>
            <a:r>
              <a:rPr lang="en-US" sz="1400" dirty="0" err="1"/>
              <a:t>lengkap</a:t>
            </a:r>
            <a:r>
              <a:rPr lang="en-US" sz="1400" dirty="0"/>
              <a:t>.</a:t>
            </a:r>
            <a:endParaRPr lang="en-ID" sz="1400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0162F7E4-09E9-40B9-A06E-56E12FCB1365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8215765" y="2324697"/>
            <a:ext cx="3082400" cy="692000"/>
          </a:xfrm>
        </p:spPr>
        <p:txBody>
          <a:bodyPr/>
          <a:lstStyle/>
          <a:p>
            <a:r>
              <a:rPr lang="en-US" b="1" dirty="0" err="1">
                <a:solidFill>
                  <a:srgbClr val="FFC000"/>
                </a:solidFill>
              </a:rPr>
              <a:t>Mamondol</a:t>
            </a:r>
            <a:r>
              <a:rPr lang="en-US" b="1" dirty="0">
                <a:solidFill>
                  <a:srgbClr val="FFC000"/>
                </a:solidFill>
              </a:rPr>
              <a:t> (2021: 31)</a:t>
            </a:r>
            <a:endParaRPr lang="en-ID" b="1" dirty="0">
              <a:solidFill>
                <a:srgbClr val="FFC000"/>
              </a:solidFill>
            </a:endParaRP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2988F133-E961-444B-85D2-25E035E0F0A8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8215763" y="3129280"/>
            <a:ext cx="3086000" cy="2069451"/>
          </a:xfrm>
        </p:spPr>
        <p:txBody>
          <a:bodyPr/>
          <a:lstStyle/>
          <a:p>
            <a:pPr algn="l"/>
            <a:r>
              <a:rPr lang="en-US" sz="1400" dirty="0"/>
              <a:t>	</a:t>
            </a:r>
            <a:r>
              <a:rPr lang="en-US" sz="1400" dirty="0" err="1"/>
              <a:t>Populasi</a:t>
            </a:r>
            <a:r>
              <a:rPr lang="en-US" sz="1400" dirty="0"/>
              <a:t> (population/universe) </a:t>
            </a:r>
            <a:r>
              <a:rPr lang="en-US" sz="1400" dirty="0" err="1"/>
              <a:t>adalah</a:t>
            </a:r>
            <a:r>
              <a:rPr lang="en-US" sz="1400" dirty="0"/>
              <a:t> </a:t>
            </a:r>
            <a:r>
              <a:rPr lang="en-US" sz="1400" dirty="0" err="1"/>
              <a:t>keseluruhan</a:t>
            </a:r>
            <a:r>
              <a:rPr lang="en-US" sz="1400" dirty="0"/>
              <a:t> </a:t>
            </a:r>
            <a:r>
              <a:rPr lang="en-US" sz="1400" dirty="0" err="1"/>
              <a:t>elemen</a:t>
            </a:r>
            <a:r>
              <a:rPr lang="en-US" sz="1400" dirty="0"/>
              <a:t> (unit </a:t>
            </a:r>
            <a:r>
              <a:rPr lang="en-US" sz="1400" dirty="0" err="1"/>
              <a:t>elementer</a:t>
            </a:r>
            <a:r>
              <a:rPr lang="en-US" sz="1400" dirty="0"/>
              <a:t>/ unit </a:t>
            </a:r>
            <a:r>
              <a:rPr lang="en-US" sz="1400" dirty="0" err="1"/>
              <a:t>penelitian</a:t>
            </a:r>
            <a:r>
              <a:rPr lang="en-US" sz="1400" dirty="0"/>
              <a:t>/unit </a:t>
            </a:r>
            <a:r>
              <a:rPr lang="en-US" sz="1400" dirty="0" err="1"/>
              <a:t>analisis</a:t>
            </a:r>
            <a:r>
              <a:rPr lang="en-US" sz="1400" dirty="0"/>
              <a:t>) yang </a:t>
            </a:r>
            <a:r>
              <a:rPr lang="en-US" sz="1400" dirty="0" err="1"/>
              <a:t>memiliki</a:t>
            </a:r>
            <a:r>
              <a:rPr lang="en-US" sz="1400" dirty="0"/>
              <a:t> </a:t>
            </a:r>
            <a:r>
              <a:rPr lang="en-US" sz="1400" dirty="0" err="1"/>
              <a:t>karakteristik</a:t>
            </a:r>
            <a:r>
              <a:rPr lang="en-US" sz="1400" dirty="0"/>
              <a:t>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ciri</a:t>
            </a:r>
            <a:r>
              <a:rPr lang="en-US" sz="1400" dirty="0"/>
              <a:t> </a:t>
            </a:r>
            <a:r>
              <a:rPr lang="en-US" sz="1400" dirty="0" err="1"/>
              <a:t>tertentu</a:t>
            </a:r>
            <a:r>
              <a:rPr lang="en-US" sz="1400" dirty="0"/>
              <a:t> yang </a:t>
            </a:r>
            <a:r>
              <a:rPr lang="en-US" sz="1400" dirty="0" err="1"/>
              <a:t>dijadikan</a:t>
            </a:r>
            <a:r>
              <a:rPr lang="en-US" sz="1400" dirty="0"/>
              <a:t> </a:t>
            </a:r>
            <a:r>
              <a:rPr lang="en-US" sz="1400" dirty="0" err="1"/>
              <a:t>peneliti</a:t>
            </a:r>
            <a:r>
              <a:rPr lang="en-US" sz="1400" dirty="0"/>
              <a:t> </a:t>
            </a:r>
            <a:r>
              <a:rPr lang="en-US" sz="1400" dirty="0" err="1"/>
              <a:t>sebagai</a:t>
            </a:r>
            <a:r>
              <a:rPr lang="en-US" sz="1400" dirty="0"/>
              <a:t> </a:t>
            </a:r>
            <a:r>
              <a:rPr lang="en-US" sz="1400" dirty="0" err="1"/>
              <a:t>obyek</a:t>
            </a:r>
            <a:r>
              <a:rPr lang="en-US" sz="1400" dirty="0"/>
              <a:t> </a:t>
            </a:r>
            <a:r>
              <a:rPr lang="en-US" sz="1400" dirty="0" err="1"/>
              <a:t>penelitian</a:t>
            </a:r>
            <a:r>
              <a:rPr lang="en-US" sz="1400" dirty="0"/>
              <a:t>.</a:t>
            </a:r>
            <a:endParaRPr lang="en-ID" sz="1400" dirty="0"/>
          </a:p>
        </p:txBody>
      </p:sp>
    </p:spTree>
    <p:extLst>
      <p:ext uri="{BB962C8B-B14F-4D97-AF65-F5344CB8AC3E}">
        <p14:creationId xmlns:p14="http://schemas.microsoft.com/office/powerpoint/2010/main" val="220599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17B9C4B-6E19-4BAB-89F2-0E47C29C3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JENIS POPULASI</a:t>
            </a:r>
            <a:endParaRPr lang="en-ID" dirty="0">
              <a:latin typeface="+mj-lt"/>
            </a:endParaRP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EA9BF5F4-586A-4814-BE47-BD7515BF4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solidFill>
              <a:schemeClr val="accent1"/>
            </a:solidFill>
          </a:ln>
        </p:spPr>
        <p:txBody>
          <a:bodyPr anchor="ctr"/>
          <a:lstStyle/>
          <a:p>
            <a:r>
              <a:rPr lang="en-US" b="1" dirty="0">
                <a:solidFill>
                  <a:srgbClr val="00B050"/>
                </a:solidFill>
              </a:rPr>
              <a:t>POPULASI TERBATAS</a:t>
            </a:r>
            <a:endParaRPr lang="en-ID" b="1" dirty="0">
              <a:solidFill>
                <a:srgbClr val="00B050"/>
              </a:solidFill>
            </a:endParaRP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2B37178C-C617-46DB-AC64-F8B7C5E6C62D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pPr algn="l"/>
            <a:r>
              <a:rPr lang="en-US" sz="1400" dirty="0"/>
              <a:t>	</a:t>
            </a:r>
            <a:r>
              <a:rPr lang="en-US" sz="1400" dirty="0" err="1"/>
              <a:t>Populasi</a:t>
            </a:r>
            <a:r>
              <a:rPr lang="en-US" sz="1400" dirty="0"/>
              <a:t> </a:t>
            </a:r>
            <a:r>
              <a:rPr lang="en-US" sz="1400" dirty="0" err="1"/>
              <a:t>terbatas</a:t>
            </a:r>
            <a:r>
              <a:rPr lang="en-US" sz="1400" dirty="0"/>
              <a:t> </a:t>
            </a:r>
            <a:r>
              <a:rPr lang="en-US" sz="1400" dirty="0" err="1"/>
              <a:t>memiliki</a:t>
            </a:r>
            <a:r>
              <a:rPr lang="en-US" sz="1400" dirty="0"/>
              <a:t> </a:t>
            </a:r>
            <a:r>
              <a:rPr lang="en-US" sz="1400" dirty="0" err="1"/>
              <a:t>sumber</a:t>
            </a:r>
            <a:r>
              <a:rPr lang="en-US" sz="1400" dirty="0"/>
              <a:t> data yang </a:t>
            </a:r>
            <a:r>
              <a:rPr lang="en-US" sz="1400" dirty="0" err="1"/>
              <a:t>jelas</a:t>
            </a:r>
            <a:r>
              <a:rPr lang="en-US" sz="1400" dirty="0"/>
              <a:t> </a:t>
            </a:r>
            <a:r>
              <a:rPr lang="en-US" sz="1400" dirty="0" err="1"/>
              <a:t>batasnya</a:t>
            </a:r>
            <a:r>
              <a:rPr lang="en-US" sz="1400" dirty="0"/>
              <a:t> </a:t>
            </a:r>
            <a:r>
              <a:rPr lang="en-US" sz="1400" dirty="0" err="1"/>
              <a:t>secara</a:t>
            </a:r>
            <a:r>
              <a:rPr lang="en-US" sz="1400" dirty="0"/>
              <a:t> </a:t>
            </a:r>
            <a:r>
              <a:rPr lang="en-US" sz="1400" dirty="0" err="1"/>
              <a:t>kuantitatif</a:t>
            </a:r>
            <a:r>
              <a:rPr lang="en-US" sz="1400" dirty="0"/>
              <a:t> </a:t>
            </a:r>
            <a:r>
              <a:rPr lang="en-US" sz="1400" dirty="0" err="1"/>
              <a:t>sehingga</a:t>
            </a:r>
            <a:r>
              <a:rPr lang="en-US" sz="1400" dirty="0"/>
              <a:t>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dihitung</a:t>
            </a:r>
            <a:r>
              <a:rPr lang="en-US" sz="1400" dirty="0"/>
              <a:t> </a:t>
            </a:r>
            <a:r>
              <a:rPr lang="en-US" sz="1400" dirty="0" err="1"/>
              <a:t>jumlahnya</a:t>
            </a:r>
            <a:r>
              <a:rPr lang="en-US" sz="1400" dirty="0"/>
              <a:t>.</a:t>
            </a:r>
            <a:endParaRPr lang="en-ID" sz="1400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23214899-466A-48AD-BDF0-83C511B68879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ln>
            <a:solidFill>
              <a:schemeClr val="accent1"/>
            </a:solidFill>
          </a:ln>
        </p:spPr>
        <p:txBody>
          <a:bodyPr anchor="ctr"/>
          <a:lstStyle/>
          <a:p>
            <a:r>
              <a:rPr lang="en-US" b="1" dirty="0">
                <a:solidFill>
                  <a:srgbClr val="00B050"/>
                </a:solidFill>
              </a:rPr>
              <a:t>POPULASI TIDAK TERBATAS</a:t>
            </a:r>
            <a:endParaRPr lang="en-ID" b="1" dirty="0">
              <a:solidFill>
                <a:srgbClr val="00B050"/>
              </a:solidFill>
            </a:endParaRP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F617D22F-E99B-4AEE-94D2-5EBC5E2DB0EF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515881" y="3460433"/>
            <a:ext cx="4011600" cy="1652000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r>
              <a:rPr lang="en-US" dirty="0"/>
              <a:t>	</a:t>
            </a:r>
            <a:r>
              <a:rPr lang="en-US" sz="1400" dirty="0" err="1"/>
              <a:t>Populasi</a:t>
            </a:r>
            <a:r>
              <a:rPr lang="en-US" sz="1400" dirty="0"/>
              <a:t> </a:t>
            </a:r>
            <a:r>
              <a:rPr lang="en-US" sz="1400" dirty="0" err="1"/>
              <a:t>tak</a:t>
            </a:r>
            <a:r>
              <a:rPr lang="en-US" sz="1400" dirty="0"/>
              <a:t> </a:t>
            </a:r>
            <a:r>
              <a:rPr lang="en-US" sz="1400" dirty="0" err="1"/>
              <a:t>terbatas</a:t>
            </a:r>
            <a:r>
              <a:rPr lang="en-US" sz="1400" dirty="0"/>
              <a:t> / </a:t>
            </a:r>
            <a:r>
              <a:rPr lang="en-US" sz="1400" dirty="0" err="1"/>
              <a:t>tak</a:t>
            </a:r>
            <a:r>
              <a:rPr lang="en-US" sz="1400" dirty="0"/>
              <a:t> </a:t>
            </a:r>
            <a:r>
              <a:rPr lang="en-US" sz="1400" dirty="0" err="1"/>
              <a:t>terhingga</a:t>
            </a:r>
            <a:r>
              <a:rPr lang="en-US" sz="1400" dirty="0"/>
              <a:t> </a:t>
            </a:r>
            <a:r>
              <a:rPr lang="en-US" sz="1400" dirty="0" err="1"/>
              <a:t>memiliki</a:t>
            </a:r>
            <a:r>
              <a:rPr lang="en-US" sz="1400" dirty="0"/>
              <a:t> </a:t>
            </a:r>
            <a:r>
              <a:rPr lang="en-US" sz="1400" dirty="0" err="1"/>
              <a:t>sumber</a:t>
            </a:r>
            <a:r>
              <a:rPr lang="en-US" sz="1400" dirty="0"/>
              <a:t> data yang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ditentukan</a:t>
            </a:r>
            <a:r>
              <a:rPr lang="en-US" sz="1400" dirty="0"/>
              <a:t> </a:t>
            </a:r>
            <a:r>
              <a:rPr lang="en-US" sz="1400" dirty="0" err="1"/>
              <a:t>batas-batasnya</a:t>
            </a:r>
            <a:r>
              <a:rPr lang="en-US" sz="1400" dirty="0"/>
              <a:t> </a:t>
            </a:r>
            <a:r>
              <a:rPr lang="en-US" sz="1400" dirty="0" err="1"/>
              <a:t>sehingga</a:t>
            </a:r>
            <a:r>
              <a:rPr lang="en-US" sz="1400" dirty="0"/>
              <a:t> </a:t>
            </a:r>
            <a:r>
              <a:rPr lang="en-US" sz="1400" dirty="0" err="1"/>
              <a:t>relatif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dinyatakan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bentuk</a:t>
            </a:r>
            <a:r>
              <a:rPr lang="en-US" sz="1400" dirty="0"/>
              <a:t> </a:t>
            </a:r>
            <a:r>
              <a:rPr lang="en-US" sz="1400" dirty="0" err="1"/>
              <a:t>jumlah</a:t>
            </a:r>
            <a:r>
              <a:rPr lang="en-US" sz="1400" dirty="0"/>
              <a:t>.</a:t>
            </a:r>
            <a:endParaRPr lang="en-ID" sz="1400" dirty="0"/>
          </a:p>
        </p:txBody>
      </p:sp>
    </p:spTree>
    <p:extLst>
      <p:ext uri="{BB962C8B-B14F-4D97-AF65-F5344CB8AC3E}">
        <p14:creationId xmlns:p14="http://schemas.microsoft.com/office/powerpoint/2010/main" val="3191358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0DF2D-FE7F-4B37-BABA-1209DB1DC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000" y="1087041"/>
            <a:ext cx="10412000" cy="853600"/>
          </a:xfrm>
        </p:spPr>
        <p:txBody>
          <a:bodyPr/>
          <a:lstStyle/>
          <a:p>
            <a:r>
              <a:rPr lang="en-US" dirty="0">
                <a:latin typeface="+mj-lt"/>
              </a:rPr>
              <a:t>JENIS POPULASI BERDASARKAN SIFATNYA</a:t>
            </a:r>
            <a:endParaRPr lang="en-ID" dirty="0"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414B5-78AA-479C-BDFD-162190F708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solidFill>
              <a:schemeClr val="accent1"/>
            </a:solidFill>
          </a:ln>
        </p:spPr>
        <p:txBody>
          <a:bodyPr anchor="ctr"/>
          <a:lstStyle/>
          <a:p>
            <a:r>
              <a:rPr lang="en-US" b="1" dirty="0">
                <a:solidFill>
                  <a:srgbClr val="7030A0"/>
                </a:solidFill>
              </a:rPr>
              <a:t>POPULASI HOMOGEN </a:t>
            </a:r>
            <a:endParaRPr lang="en-ID" b="1" dirty="0">
              <a:solidFill>
                <a:srgbClr val="7030A0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735FE5B-775A-4CF2-B320-9A8D30A41447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651367" y="3409632"/>
            <a:ext cx="4011600" cy="1883727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r>
              <a:rPr lang="en-US" dirty="0"/>
              <a:t>	</a:t>
            </a:r>
            <a:r>
              <a:rPr lang="en-US" sz="1400" dirty="0" err="1"/>
              <a:t>Populasi</a:t>
            </a:r>
            <a:r>
              <a:rPr lang="en-US" sz="1400" dirty="0"/>
              <a:t> </a:t>
            </a:r>
            <a:r>
              <a:rPr lang="en-US" sz="1400" dirty="0" err="1"/>
              <a:t>homogen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 </a:t>
            </a:r>
            <a:r>
              <a:rPr lang="en-US" sz="1400" dirty="0" err="1"/>
              <a:t>sumber</a:t>
            </a:r>
            <a:r>
              <a:rPr lang="en-US" sz="1400" dirty="0"/>
              <a:t> data yang </a:t>
            </a:r>
            <a:r>
              <a:rPr lang="en-US" sz="1400" dirty="0" err="1"/>
              <a:t>unsurnya</a:t>
            </a:r>
            <a:r>
              <a:rPr lang="en-US" sz="1400" dirty="0"/>
              <a:t> </a:t>
            </a:r>
            <a:r>
              <a:rPr lang="en-US" sz="1400" dirty="0" err="1"/>
              <a:t>memiliki</a:t>
            </a:r>
            <a:r>
              <a:rPr lang="en-US" sz="1400" dirty="0"/>
              <a:t> </a:t>
            </a:r>
            <a:r>
              <a:rPr lang="en-US" sz="1400" dirty="0" err="1"/>
              <a:t>sifat</a:t>
            </a:r>
            <a:r>
              <a:rPr lang="en-US" sz="1400" dirty="0"/>
              <a:t> yang </a:t>
            </a:r>
            <a:r>
              <a:rPr lang="en-US" sz="1400" dirty="0" err="1"/>
              <a:t>sama</a:t>
            </a:r>
            <a:r>
              <a:rPr lang="en-US" sz="1400" dirty="0"/>
              <a:t> </a:t>
            </a:r>
            <a:r>
              <a:rPr lang="en-US" sz="1400" dirty="0" err="1"/>
              <a:t>sehingga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perlu</a:t>
            </a:r>
            <a:r>
              <a:rPr lang="en-US" sz="1400" dirty="0"/>
              <a:t> </a:t>
            </a:r>
            <a:r>
              <a:rPr lang="en-US" sz="1400" dirty="0" err="1"/>
              <a:t>mempersoalkan</a:t>
            </a:r>
            <a:r>
              <a:rPr lang="en-US" sz="1400" dirty="0"/>
              <a:t> </a:t>
            </a:r>
            <a:r>
              <a:rPr lang="en-US" sz="1400" dirty="0" err="1"/>
              <a:t>jumlahnya</a:t>
            </a:r>
            <a:r>
              <a:rPr lang="en-US" sz="1400" dirty="0"/>
              <a:t> </a:t>
            </a:r>
            <a:r>
              <a:rPr lang="en-US" sz="1400" dirty="0" err="1"/>
              <a:t>secara</a:t>
            </a:r>
            <a:r>
              <a:rPr lang="en-US" sz="1400" dirty="0"/>
              <a:t> </a:t>
            </a:r>
            <a:r>
              <a:rPr lang="en-US" sz="1400" dirty="0" err="1"/>
              <a:t>kuantitatif</a:t>
            </a:r>
            <a:r>
              <a:rPr lang="en-US" sz="1400" dirty="0"/>
              <a:t>.</a:t>
            </a:r>
            <a:endParaRPr lang="en-ID" sz="14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F62E7F4-C1AD-4569-AAAB-46CBC7D4553C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ln>
            <a:solidFill>
              <a:schemeClr val="accent1"/>
            </a:solidFill>
          </a:ln>
        </p:spPr>
        <p:txBody>
          <a:bodyPr anchor="ctr"/>
          <a:lstStyle/>
          <a:p>
            <a:r>
              <a:rPr lang="en-US" b="1" dirty="0">
                <a:solidFill>
                  <a:srgbClr val="7030A0"/>
                </a:solidFill>
              </a:rPr>
              <a:t>POPULASI HETEROGEN</a:t>
            </a:r>
            <a:endParaRPr lang="en-ID" b="1" dirty="0">
              <a:solidFill>
                <a:srgbClr val="7030A0"/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FA65921-BC32-4009-B20F-D2A43F1BEA5C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515881" y="3409633"/>
            <a:ext cx="4011600" cy="1883726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r>
              <a:rPr lang="en-US" dirty="0"/>
              <a:t>	</a:t>
            </a:r>
            <a:r>
              <a:rPr lang="en-US" sz="1400" dirty="0" err="1"/>
              <a:t>Populasi</a:t>
            </a:r>
            <a:r>
              <a:rPr lang="en-US" sz="1400" dirty="0"/>
              <a:t> </a:t>
            </a:r>
            <a:r>
              <a:rPr lang="en-US" sz="1400" dirty="0" err="1"/>
              <a:t>heterogen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 </a:t>
            </a:r>
            <a:r>
              <a:rPr lang="en-US" sz="1400" dirty="0" err="1"/>
              <a:t>sumber</a:t>
            </a:r>
            <a:r>
              <a:rPr lang="en-US" sz="1400" dirty="0"/>
              <a:t> data yang </a:t>
            </a:r>
            <a:r>
              <a:rPr lang="en-US" sz="1400" dirty="0" err="1"/>
              <a:t>unsurnya</a:t>
            </a:r>
            <a:r>
              <a:rPr lang="en-US" sz="1400" dirty="0"/>
              <a:t> </a:t>
            </a:r>
            <a:r>
              <a:rPr lang="en-US" sz="1400" dirty="0" err="1"/>
              <a:t>memiliki</a:t>
            </a:r>
            <a:r>
              <a:rPr lang="en-US" sz="1400" dirty="0"/>
              <a:t> </a:t>
            </a:r>
            <a:r>
              <a:rPr lang="en-US" sz="1400" dirty="0" err="1"/>
              <a:t>sifat</a:t>
            </a:r>
            <a:r>
              <a:rPr lang="en-US" sz="1400" dirty="0"/>
              <a:t> </a:t>
            </a:r>
            <a:r>
              <a:rPr lang="en-US" sz="1400" dirty="0" err="1"/>
              <a:t>atau</a:t>
            </a:r>
            <a:r>
              <a:rPr lang="en-US" sz="1400" dirty="0"/>
              <a:t> </a:t>
            </a:r>
            <a:r>
              <a:rPr lang="en-US" sz="1400" dirty="0" err="1"/>
              <a:t>keadaan</a:t>
            </a:r>
            <a:r>
              <a:rPr lang="en-US" sz="1400" dirty="0"/>
              <a:t> yang </a:t>
            </a:r>
            <a:r>
              <a:rPr lang="en-US" sz="1400" dirty="0" err="1"/>
              <a:t>berbeda</a:t>
            </a:r>
            <a:r>
              <a:rPr lang="en-US" sz="1400" dirty="0"/>
              <a:t> (</a:t>
            </a:r>
            <a:r>
              <a:rPr lang="en-US" sz="1400" dirty="0" err="1"/>
              <a:t>bervariasi</a:t>
            </a:r>
            <a:r>
              <a:rPr lang="en-US" sz="1400" dirty="0"/>
              <a:t>) </a:t>
            </a:r>
            <a:r>
              <a:rPr lang="en-US" sz="1400" dirty="0" err="1"/>
              <a:t>sehingga</a:t>
            </a:r>
            <a:r>
              <a:rPr lang="en-US" sz="1400" dirty="0"/>
              <a:t> </a:t>
            </a:r>
            <a:r>
              <a:rPr lang="en-US" sz="1400" dirty="0" err="1"/>
              <a:t>perlu</a:t>
            </a:r>
            <a:r>
              <a:rPr lang="en-US" sz="1400" dirty="0"/>
              <a:t> </a:t>
            </a:r>
            <a:r>
              <a:rPr lang="en-US" sz="1400" dirty="0" err="1"/>
              <a:t>ditetapkan</a:t>
            </a:r>
            <a:r>
              <a:rPr lang="en-US" sz="1400" dirty="0"/>
              <a:t> </a:t>
            </a:r>
            <a:r>
              <a:rPr lang="en-US" sz="1400" dirty="0" err="1"/>
              <a:t>batas-batasnya</a:t>
            </a:r>
            <a:r>
              <a:rPr lang="en-US" sz="1400" dirty="0"/>
              <a:t>, </a:t>
            </a:r>
            <a:r>
              <a:rPr lang="en-US" sz="1400" dirty="0" err="1"/>
              <a:t>baik</a:t>
            </a:r>
            <a:r>
              <a:rPr lang="en-US" sz="1400" dirty="0"/>
              <a:t> </a:t>
            </a:r>
            <a:r>
              <a:rPr lang="en-US" sz="1400" dirty="0" err="1"/>
              <a:t>secara</a:t>
            </a:r>
            <a:r>
              <a:rPr lang="en-US" sz="1400" dirty="0"/>
              <a:t> </a:t>
            </a:r>
            <a:r>
              <a:rPr lang="en-US" sz="1400" dirty="0" err="1"/>
              <a:t>kualitatif</a:t>
            </a:r>
            <a:r>
              <a:rPr lang="en-US" sz="1400" dirty="0"/>
              <a:t> </a:t>
            </a:r>
            <a:r>
              <a:rPr lang="en-US" sz="1400" dirty="0" err="1"/>
              <a:t>maupun</a:t>
            </a:r>
            <a:r>
              <a:rPr lang="en-US" sz="1400" dirty="0"/>
              <a:t> </a:t>
            </a:r>
            <a:r>
              <a:rPr lang="en-US" sz="1400" dirty="0" err="1"/>
              <a:t>kuantitatif</a:t>
            </a:r>
            <a:r>
              <a:rPr lang="en-US" sz="1400" dirty="0"/>
              <a:t>.</a:t>
            </a:r>
            <a:endParaRPr lang="en-ID" sz="1400" dirty="0"/>
          </a:p>
        </p:txBody>
      </p:sp>
    </p:spTree>
    <p:extLst>
      <p:ext uri="{BB962C8B-B14F-4D97-AF65-F5344CB8AC3E}">
        <p14:creationId xmlns:p14="http://schemas.microsoft.com/office/powerpoint/2010/main" val="2989957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DD0B6-2E10-4041-AF98-501C9BFD4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000" y="1219299"/>
            <a:ext cx="10412000" cy="853600"/>
          </a:xfrm>
        </p:spPr>
        <p:txBody>
          <a:bodyPr/>
          <a:lstStyle/>
          <a:p>
            <a:r>
              <a:rPr lang="en-US" dirty="0">
                <a:latin typeface="+mj-lt"/>
              </a:rPr>
              <a:t>SAMPEL</a:t>
            </a:r>
            <a:endParaRPr lang="en-ID" dirty="0"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B93A4B-0CAF-4E9B-A68D-5019760AF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1367" y="2333193"/>
            <a:ext cx="4011200" cy="688000"/>
          </a:xfrm>
        </p:spPr>
        <p:txBody>
          <a:bodyPr/>
          <a:lstStyle/>
          <a:p>
            <a:r>
              <a:rPr lang="en-US" b="1" dirty="0" err="1">
                <a:solidFill>
                  <a:srgbClr val="C00000"/>
                </a:solidFill>
              </a:rPr>
              <a:t>Suharsimi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Arikunto</a:t>
            </a:r>
            <a:r>
              <a:rPr lang="en-US" b="1" dirty="0">
                <a:solidFill>
                  <a:srgbClr val="C00000"/>
                </a:solidFill>
              </a:rPr>
              <a:t> (1998: 117)</a:t>
            </a:r>
            <a:endParaRPr lang="en-ID" b="1" dirty="0">
              <a:solidFill>
                <a:srgbClr val="C00000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8A1A5F0-8305-4FDC-A6E6-3E4845638BF1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544321" y="3208533"/>
            <a:ext cx="3840480" cy="1554000"/>
          </a:xfrm>
        </p:spPr>
        <p:txBody>
          <a:bodyPr/>
          <a:lstStyle/>
          <a:p>
            <a:pPr algn="l"/>
            <a:r>
              <a:rPr lang="en-US" sz="1400" dirty="0"/>
              <a:t>	</a:t>
            </a:r>
            <a:r>
              <a:rPr lang="en-US" sz="1400" dirty="0" err="1"/>
              <a:t>Sampel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 </a:t>
            </a:r>
            <a:r>
              <a:rPr lang="en-US" sz="1400" dirty="0" err="1"/>
              <a:t>bagian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</a:t>
            </a:r>
            <a:r>
              <a:rPr lang="en-US" sz="1400" dirty="0" err="1"/>
              <a:t>populasi</a:t>
            </a:r>
            <a:r>
              <a:rPr lang="en-US" sz="1400" dirty="0"/>
              <a:t> (</a:t>
            </a:r>
            <a:r>
              <a:rPr lang="en-US" sz="1400" dirty="0" err="1"/>
              <a:t>sebagian</a:t>
            </a:r>
            <a:r>
              <a:rPr lang="en-US" sz="1400" dirty="0"/>
              <a:t> </a:t>
            </a:r>
            <a:r>
              <a:rPr lang="en-US" sz="1400" dirty="0" err="1"/>
              <a:t>atau</a:t>
            </a:r>
            <a:r>
              <a:rPr lang="en-US" sz="1400" dirty="0"/>
              <a:t> wakil </a:t>
            </a:r>
            <a:r>
              <a:rPr lang="en-US" sz="1400" dirty="0" err="1"/>
              <a:t>populasi</a:t>
            </a:r>
            <a:r>
              <a:rPr lang="en-US" sz="1400" dirty="0"/>
              <a:t> yang </a:t>
            </a:r>
            <a:r>
              <a:rPr lang="en-US" sz="1400" dirty="0" err="1"/>
              <a:t>diteliti</a:t>
            </a:r>
            <a:r>
              <a:rPr lang="en-US" sz="1400" dirty="0"/>
              <a:t>). </a:t>
            </a:r>
            <a:r>
              <a:rPr lang="en-US" sz="1400" dirty="0" err="1"/>
              <a:t>Sampel</a:t>
            </a:r>
            <a:r>
              <a:rPr lang="en-US" sz="1400" dirty="0"/>
              <a:t> </a:t>
            </a:r>
            <a:r>
              <a:rPr lang="en-US" sz="1400" dirty="0" err="1"/>
              <a:t>penelitian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 Sebagian </a:t>
            </a:r>
            <a:r>
              <a:rPr lang="en-US" sz="1400" dirty="0" err="1"/>
              <a:t>dari</a:t>
            </a:r>
            <a:r>
              <a:rPr lang="en-US" sz="1400" dirty="0"/>
              <a:t> </a:t>
            </a:r>
            <a:r>
              <a:rPr lang="en-US" sz="1400" dirty="0" err="1"/>
              <a:t>populasi</a:t>
            </a:r>
            <a:r>
              <a:rPr lang="en-US" sz="1400" dirty="0"/>
              <a:t> yang </a:t>
            </a:r>
            <a:r>
              <a:rPr lang="en-US" sz="1400" dirty="0" err="1"/>
              <a:t>diambil</a:t>
            </a:r>
            <a:r>
              <a:rPr lang="en-US" sz="1400" dirty="0"/>
              <a:t> </a:t>
            </a:r>
            <a:r>
              <a:rPr lang="en-US" sz="1400" dirty="0" err="1"/>
              <a:t>sebagai</a:t>
            </a:r>
            <a:r>
              <a:rPr lang="en-US" sz="1400" dirty="0"/>
              <a:t> </a:t>
            </a:r>
            <a:r>
              <a:rPr lang="en-US" sz="1400" dirty="0" err="1"/>
              <a:t>sumber</a:t>
            </a:r>
            <a:r>
              <a:rPr lang="en-US" sz="1400" dirty="0"/>
              <a:t> data dan </a:t>
            </a:r>
            <a:r>
              <a:rPr lang="en-US" sz="1400" dirty="0" err="1"/>
              <a:t>dapat</a:t>
            </a:r>
            <a:r>
              <a:rPr lang="en-US" sz="1400" dirty="0"/>
              <a:t> </a:t>
            </a:r>
            <a:r>
              <a:rPr lang="en-US" sz="1400" dirty="0" err="1"/>
              <a:t>mewakili</a:t>
            </a:r>
            <a:r>
              <a:rPr lang="en-US" sz="1400" dirty="0"/>
              <a:t> </a:t>
            </a:r>
            <a:r>
              <a:rPr lang="en-US" sz="1400" dirty="0" err="1"/>
              <a:t>seluruh</a:t>
            </a:r>
            <a:r>
              <a:rPr lang="en-US" sz="1400" dirty="0"/>
              <a:t> </a:t>
            </a:r>
            <a:r>
              <a:rPr lang="en-US" sz="1400" dirty="0" err="1"/>
              <a:t>populasi</a:t>
            </a:r>
            <a:r>
              <a:rPr lang="en-US" sz="1400" dirty="0"/>
              <a:t>. </a:t>
            </a:r>
            <a:endParaRPr lang="en-ID" sz="14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43CA739-F338-4DBA-82D1-DE54E0B988DA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6520867" y="2323033"/>
            <a:ext cx="4011200" cy="688000"/>
          </a:xfrm>
        </p:spPr>
        <p:txBody>
          <a:bodyPr/>
          <a:lstStyle/>
          <a:p>
            <a:r>
              <a:rPr lang="en-US" b="1" dirty="0" err="1">
                <a:solidFill>
                  <a:srgbClr val="C00000"/>
                </a:solidFill>
              </a:rPr>
              <a:t>Sugiyono</a:t>
            </a:r>
            <a:r>
              <a:rPr lang="en-US" b="1" dirty="0">
                <a:solidFill>
                  <a:srgbClr val="C00000"/>
                </a:solidFill>
              </a:rPr>
              <a:t> (1997: 57)</a:t>
            </a:r>
            <a:endParaRPr lang="en-ID" b="1" dirty="0">
              <a:solidFill>
                <a:srgbClr val="C00000"/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227B08B-AF8F-4A07-B36F-55CACA3820B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513867" y="3210367"/>
            <a:ext cx="4011200" cy="1554000"/>
          </a:xfrm>
        </p:spPr>
        <p:txBody>
          <a:bodyPr/>
          <a:lstStyle/>
          <a:p>
            <a:pPr algn="l"/>
            <a:r>
              <a:rPr lang="en-US" sz="1400" dirty="0"/>
              <a:t>	</a:t>
            </a:r>
            <a:r>
              <a:rPr lang="en-US" sz="1400" dirty="0" err="1"/>
              <a:t>Sampel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 </a:t>
            </a:r>
            <a:r>
              <a:rPr lang="en-US" sz="1400" dirty="0" err="1"/>
              <a:t>sebagian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</a:t>
            </a:r>
            <a:r>
              <a:rPr lang="en-US" sz="1400" dirty="0" err="1"/>
              <a:t>jumlah</a:t>
            </a:r>
            <a:r>
              <a:rPr lang="en-US" sz="1400" dirty="0"/>
              <a:t> dan </a:t>
            </a:r>
            <a:r>
              <a:rPr lang="en-US" sz="1400" dirty="0" err="1"/>
              <a:t>karakteristik</a:t>
            </a:r>
            <a:r>
              <a:rPr lang="en-US" sz="1400" dirty="0"/>
              <a:t> yang </a:t>
            </a:r>
            <a:r>
              <a:rPr lang="en-US" sz="1400" dirty="0" err="1"/>
              <a:t>dimiliki</a:t>
            </a:r>
            <a:r>
              <a:rPr lang="en-US" sz="1400" dirty="0"/>
              <a:t> oleh </a:t>
            </a:r>
            <a:r>
              <a:rPr lang="en-US" sz="1400" dirty="0" err="1"/>
              <a:t>populasi</a:t>
            </a:r>
            <a:r>
              <a:rPr lang="en-US" sz="1400" dirty="0"/>
              <a:t>.</a:t>
            </a:r>
            <a:endParaRPr lang="en-ID" sz="1400" dirty="0"/>
          </a:p>
        </p:txBody>
      </p:sp>
    </p:spTree>
    <p:extLst>
      <p:ext uri="{BB962C8B-B14F-4D97-AF65-F5344CB8AC3E}">
        <p14:creationId xmlns:p14="http://schemas.microsoft.com/office/powerpoint/2010/main" val="3346597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85787-1DB7-42C1-94EC-62ADADF1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KEUNTUNGAN MENGGUNAKAN SAMPEL</a:t>
            </a:r>
            <a:endParaRPr lang="en-ID" dirty="0"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8A80F1-F276-42DC-BA19-7F9D93E5E036}"/>
              </a:ext>
            </a:extLst>
          </p:cNvPr>
          <p:cNvSpPr/>
          <p:nvPr/>
        </p:nvSpPr>
        <p:spPr>
          <a:xfrm>
            <a:off x="1838960" y="2397760"/>
            <a:ext cx="3992880" cy="15240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Memudahkan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peneliti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karena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jumlah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sampel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lebih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sedikit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dibandingkan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menggunakan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populasi</a:t>
            </a:r>
            <a:r>
              <a:rPr lang="en-US" dirty="0">
                <a:solidFill>
                  <a:schemeClr val="tx1"/>
                </a:solidFill>
              </a:rPr>
              <a:t>. 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5A0CE1-B912-475E-AAA9-2AE3CFC90FF1}"/>
              </a:ext>
            </a:extLst>
          </p:cNvPr>
          <p:cNvSpPr/>
          <p:nvPr/>
        </p:nvSpPr>
        <p:spPr>
          <a:xfrm>
            <a:off x="6197600" y="2397760"/>
            <a:ext cx="3992880" cy="1524000"/>
          </a:xfrm>
          <a:prstGeom prst="rect">
            <a:avLst/>
          </a:prstGeom>
          <a:solidFill>
            <a:srgbClr val="FFC000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Penelitian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lebih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efisien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dalam</a:t>
            </a:r>
            <a:r>
              <a:rPr lang="en-US" dirty="0">
                <a:solidFill>
                  <a:schemeClr val="tx1"/>
                </a:solidFill>
              </a:rPr>
              <a:t> arti </a:t>
            </a:r>
            <a:r>
              <a:rPr lang="en-US" dirty="0" err="1">
                <a:solidFill>
                  <a:schemeClr val="tx1"/>
                </a:solidFill>
              </a:rPr>
              <a:t>penghematan</a:t>
            </a:r>
            <a:r>
              <a:rPr lang="en-US" dirty="0">
                <a:solidFill>
                  <a:schemeClr val="tx1"/>
                </a:solidFill>
              </a:rPr>
              <a:t> uang, </a:t>
            </a:r>
            <a:r>
              <a:rPr lang="en-US" dirty="0" err="1">
                <a:solidFill>
                  <a:schemeClr val="tx1"/>
                </a:solidFill>
              </a:rPr>
              <a:t>waktu</a:t>
            </a:r>
            <a:r>
              <a:rPr lang="en-US" dirty="0">
                <a:solidFill>
                  <a:schemeClr val="tx1"/>
                </a:solidFill>
              </a:rPr>
              <a:t>, dan </a:t>
            </a:r>
            <a:r>
              <a:rPr lang="en-US" dirty="0" err="1">
                <a:solidFill>
                  <a:schemeClr val="tx1"/>
                </a:solidFill>
              </a:rPr>
              <a:t>tenaga</a:t>
            </a:r>
            <a:r>
              <a:rPr lang="en-US" dirty="0">
                <a:solidFill>
                  <a:schemeClr val="tx1"/>
                </a:solidFill>
              </a:rPr>
              <a:t>).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C65D40-26BA-4C7B-84A0-529831660D9A}"/>
              </a:ext>
            </a:extLst>
          </p:cNvPr>
          <p:cNvSpPr/>
          <p:nvPr/>
        </p:nvSpPr>
        <p:spPr>
          <a:xfrm>
            <a:off x="1838960" y="4297520"/>
            <a:ext cx="3992880" cy="1524000"/>
          </a:xfrm>
          <a:prstGeom prst="rect">
            <a:avLst/>
          </a:prstGeom>
          <a:solidFill>
            <a:srgbClr val="FFC000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Lebih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teliti</a:t>
            </a:r>
            <a:r>
              <a:rPr lang="en-US" dirty="0">
                <a:solidFill>
                  <a:schemeClr val="tx1"/>
                </a:solidFill>
              </a:rPr>
              <a:t> dan </a:t>
            </a:r>
            <a:r>
              <a:rPr lang="en-US" dirty="0" err="1">
                <a:solidFill>
                  <a:schemeClr val="tx1"/>
                </a:solidFill>
              </a:rPr>
              <a:t>cermat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dalam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pengumpulan</a:t>
            </a:r>
            <a:r>
              <a:rPr lang="en-US" dirty="0">
                <a:solidFill>
                  <a:schemeClr val="tx1"/>
                </a:solidFill>
              </a:rPr>
              <a:t> data, </a:t>
            </a:r>
            <a:r>
              <a:rPr lang="en-US" dirty="0" err="1">
                <a:solidFill>
                  <a:schemeClr val="tx1"/>
                </a:solidFill>
              </a:rPr>
              <a:t>artinya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jika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subjeknya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banyak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dikhawatirkan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adanya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bahaya</a:t>
            </a:r>
            <a:r>
              <a:rPr lang="en-US" dirty="0">
                <a:solidFill>
                  <a:schemeClr val="tx1"/>
                </a:solidFill>
              </a:rPr>
              <a:t> bias </a:t>
            </a:r>
            <a:r>
              <a:rPr lang="en-US" dirty="0" err="1">
                <a:solidFill>
                  <a:schemeClr val="tx1"/>
                </a:solidFill>
              </a:rPr>
              <a:t>dari</a:t>
            </a:r>
            <a:r>
              <a:rPr lang="en-US" dirty="0">
                <a:solidFill>
                  <a:schemeClr val="tx1"/>
                </a:solidFill>
              </a:rPr>
              <a:t> orang yang </a:t>
            </a:r>
            <a:r>
              <a:rPr lang="en-US" dirty="0" err="1">
                <a:solidFill>
                  <a:schemeClr val="tx1"/>
                </a:solidFill>
              </a:rPr>
              <a:t>mengumpulkan</a:t>
            </a:r>
            <a:r>
              <a:rPr lang="en-US" dirty="0">
                <a:solidFill>
                  <a:schemeClr val="tx1"/>
                </a:solidFill>
              </a:rPr>
              <a:t> data.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DBD20D-B375-4139-BB40-3544CCDD5355}"/>
              </a:ext>
            </a:extLst>
          </p:cNvPr>
          <p:cNvSpPr/>
          <p:nvPr/>
        </p:nvSpPr>
        <p:spPr>
          <a:xfrm>
            <a:off x="6197600" y="4277200"/>
            <a:ext cx="3992880" cy="15240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Penelitian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lebih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efektif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yaitu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jika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penelitian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bersifat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destruktif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dirty="0" err="1">
                <a:solidFill>
                  <a:schemeClr val="tx1"/>
                </a:solidFill>
              </a:rPr>
              <a:t>merusak</a:t>
            </a:r>
            <a:r>
              <a:rPr lang="en-US" dirty="0">
                <a:solidFill>
                  <a:schemeClr val="tx1"/>
                </a:solidFill>
              </a:rPr>
              <a:t>) yang </a:t>
            </a:r>
            <a:r>
              <a:rPr lang="en-US" dirty="0" err="1">
                <a:solidFill>
                  <a:schemeClr val="tx1"/>
                </a:solidFill>
              </a:rPr>
              <a:t>menggunakan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spesimen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maka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hemat</a:t>
            </a:r>
            <a:r>
              <a:rPr lang="en-US" dirty="0">
                <a:solidFill>
                  <a:schemeClr val="tx1"/>
                </a:solidFill>
              </a:rPr>
              <a:t> dan </a:t>
            </a:r>
            <a:r>
              <a:rPr lang="en-US" dirty="0" err="1">
                <a:solidFill>
                  <a:schemeClr val="tx1"/>
                </a:solidFill>
              </a:rPr>
              <a:t>bisa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djangkau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tanpa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merusak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semua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bahan</a:t>
            </a:r>
            <a:r>
              <a:rPr lang="en-US" dirty="0">
                <a:solidFill>
                  <a:schemeClr val="tx1"/>
                </a:solidFill>
              </a:rPr>
              <a:t> yang </a:t>
            </a:r>
            <a:r>
              <a:rPr lang="en-US" dirty="0" err="1">
                <a:solidFill>
                  <a:schemeClr val="tx1"/>
                </a:solidFill>
              </a:rPr>
              <a:t>ada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539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459F0-B373-49C0-BD93-CF252D121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TEKNIK SAMPLING</a:t>
            </a:r>
            <a:endParaRPr lang="en-ID" dirty="0">
              <a:latin typeface="+mj-lt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BCFAF3E-CE0A-4D72-A27E-0347F43196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8736658"/>
              </p:ext>
            </p:extLst>
          </p:nvPr>
        </p:nvGraphicFramePr>
        <p:xfrm>
          <a:off x="2032000" y="1818640"/>
          <a:ext cx="8128000" cy="4754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6456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553E4-D163-4154-8FE5-C6CBA06C6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SIMPLE RANDOM SAMPLING</a:t>
            </a:r>
            <a:endParaRPr lang="en-ID" dirty="0">
              <a:latin typeface="+mj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D8CAB-B820-4B89-92C9-8CCD10943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000" y="1737359"/>
            <a:ext cx="10261476" cy="4614807"/>
          </a:xfrm>
        </p:spPr>
        <p:txBody>
          <a:bodyPr/>
          <a:lstStyle/>
          <a:p>
            <a:pPr marL="505878" indent="-285750">
              <a:buFont typeface="Arial" panose="020B0604020202020204" pitchFamily="34" charset="0"/>
              <a:buChar char="•"/>
            </a:pPr>
            <a:r>
              <a:rPr lang="en-US" dirty="0"/>
              <a:t>Simple random sampling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pengambilan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populasi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acak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memperhatikan</a:t>
            </a:r>
            <a:r>
              <a:rPr lang="en-US" dirty="0"/>
              <a:t> strata </a:t>
            </a:r>
            <a:r>
              <a:rPr lang="en-US" dirty="0" err="1"/>
              <a:t>anggota</a:t>
            </a:r>
            <a:r>
              <a:rPr lang="en-US" dirty="0"/>
              <a:t> </a:t>
            </a:r>
            <a:r>
              <a:rPr lang="en-US" dirty="0" err="1"/>
              <a:t>populasi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  <a:p>
            <a:pPr marL="505878" indent="-285750">
              <a:buFont typeface="Arial" panose="020B0604020202020204" pitchFamily="34" charset="0"/>
              <a:buChar char="•"/>
            </a:pPr>
            <a:r>
              <a:rPr lang="en-US" dirty="0"/>
              <a:t>Simple random sampling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populasi</a:t>
            </a:r>
            <a:r>
              <a:rPr lang="en-US" dirty="0"/>
              <a:t> </a:t>
            </a:r>
            <a:r>
              <a:rPr lang="en-US" dirty="0" err="1"/>
              <a:t>homogen</a:t>
            </a:r>
            <a:r>
              <a:rPr lang="en-US" dirty="0"/>
              <a:t>.</a:t>
            </a:r>
          </a:p>
          <a:p>
            <a:pPr marL="505878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20128" indent="0">
              <a:buNone/>
            </a:pPr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 marL="220128" indent="0">
              <a:buNone/>
            </a:pPr>
            <a:endParaRPr lang="en-US" dirty="0"/>
          </a:p>
          <a:p>
            <a:pPr marL="505878" indent="-285750">
              <a:buFont typeface="Arial" panose="020B0604020202020204" pitchFamily="34" charset="0"/>
              <a:buChar char="•"/>
            </a:pPr>
            <a:r>
              <a:rPr lang="en-US" dirty="0" err="1"/>
              <a:t>Jumlah</a:t>
            </a:r>
            <a:r>
              <a:rPr lang="en-US" dirty="0"/>
              <a:t> guru yang </a:t>
            </a:r>
            <a:r>
              <a:rPr lang="en-US" dirty="0" err="1"/>
              <a:t>mengikuti</a:t>
            </a:r>
            <a:r>
              <a:rPr lang="en-US" dirty="0"/>
              <a:t> </a:t>
            </a:r>
            <a:r>
              <a:rPr lang="en-US" dirty="0" err="1"/>
              <a:t>penataran</a:t>
            </a:r>
            <a:r>
              <a:rPr lang="en-US" dirty="0"/>
              <a:t> </a:t>
            </a:r>
            <a:r>
              <a:rPr lang="en-US" dirty="0" err="1"/>
              <a:t>Manajemen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</a:t>
            </a:r>
            <a:r>
              <a:rPr lang="en-US" dirty="0" err="1"/>
              <a:t>Sekolah</a:t>
            </a:r>
            <a:r>
              <a:rPr lang="en-US" dirty="0"/>
              <a:t> (MBS) di Kota Surabaya.</a:t>
            </a:r>
          </a:p>
          <a:p>
            <a:pPr marL="505878" indent="-285750">
              <a:buFont typeface="Arial" panose="020B0604020202020204" pitchFamily="34" charset="0"/>
              <a:buChar char="•"/>
            </a:pP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warga</a:t>
            </a:r>
            <a:r>
              <a:rPr lang="en-US" dirty="0"/>
              <a:t> </a:t>
            </a:r>
            <a:r>
              <a:rPr lang="en-US" dirty="0" err="1"/>
              <a:t>penerima</a:t>
            </a:r>
            <a:r>
              <a:rPr lang="en-US" dirty="0"/>
              <a:t> </a:t>
            </a:r>
            <a:r>
              <a:rPr lang="en-US" dirty="0" err="1"/>
              <a:t>Bantuan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Tunai</a:t>
            </a:r>
            <a:r>
              <a:rPr lang="en-US" dirty="0"/>
              <a:t> (BLT) di </a:t>
            </a:r>
            <a:r>
              <a:rPr lang="en-US" dirty="0" err="1"/>
              <a:t>Kelurahan</a:t>
            </a:r>
            <a:r>
              <a:rPr lang="en-US" dirty="0"/>
              <a:t> </a:t>
            </a:r>
            <a:r>
              <a:rPr lang="en-US" dirty="0" err="1"/>
              <a:t>Sriwedari</a:t>
            </a:r>
            <a:r>
              <a:rPr lang="en-US" dirty="0"/>
              <a:t> Malang.</a:t>
            </a:r>
          </a:p>
          <a:p>
            <a:pPr marL="505878" indent="-285750">
              <a:buFont typeface="Arial" panose="020B0604020202020204" pitchFamily="34" charset="0"/>
              <a:buChar char="•"/>
            </a:pP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pegawai</a:t>
            </a:r>
            <a:r>
              <a:rPr lang="en-US" dirty="0"/>
              <a:t> Dinas Kesehatan Kota Bandung yang </a:t>
            </a:r>
            <a:r>
              <a:rPr lang="en-US" dirty="0" err="1"/>
              <a:t>dimutasi</a:t>
            </a:r>
            <a:endParaRPr lang="en-US" dirty="0"/>
          </a:p>
          <a:p>
            <a:pPr marL="505878" indent="-285750">
              <a:buFont typeface="Arial" panose="020B0604020202020204" pitchFamily="34" charset="0"/>
              <a:buChar char="•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00112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553E4-D163-4154-8FE5-C6CBA06C6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PROPORTIONATE STRATIFIED RANDOM SAMPLING</a:t>
            </a:r>
            <a:endParaRPr lang="en-ID" dirty="0">
              <a:latin typeface="+mj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D8CAB-B820-4B89-92C9-8CCD10943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000" y="2214880"/>
            <a:ext cx="10219434" cy="4137286"/>
          </a:xfrm>
        </p:spPr>
        <p:txBody>
          <a:bodyPr/>
          <a:lstStyle/>
          <a:p>
            <a:pPr marL="505878" indent="-285750">
              <a:buFont typeface="Arial" panose="020B0604020202020204" pitchFamily="34" charset="0"/>
              <a:buChar char="•"/>
            </a:pPr>
            <a:r>
              <a:rPr lang="en-US" dirty="0" err="1"/>
              <a:t>Ialah</a:t>
            </a:r>
            <a:r>
              <a:rPr lang="en-US" dirty="0"/>
              <a:t> </a:t>
            </a:r>
            <a:r>
              <a:rPr lang="en-US" dirty="0" err="1"/>
              <a:t>pengambilan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anggota</a:t>
            </a:r>
            <a:r>
              <a:rPr lang="en-US" dirty="0"/>
              <a:t> </a:t>
            </a:r>
            <a:r>
              <a:rPr lang="en-US" dirty="0" err="1"/>
              <a:t>populasi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acak</a:t>
            </a:r>
            <a:r>
              <a:rPr lang="en-US" dirty="0"/>
              <a:t> dan </a:t>
            </a:r>
            <a:r>
              <a:rPr lang="en-US" dirty="0" err="1"/>
              <a:t>berstrata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proporsional</a:t>
            </a:r>
            <a:r>
              <a:rPr lang="en-US" dirty="0"/>
              <a:t>.</a:t>
            </a:r>
          </a:p>
          <a:p>
            <a:pPr marL="505878" indent="-285750">
              <a:buFont typeface="Arial" panose="020B0604020202020204" pitchFamily="34" charset="0"/>
              <a:buChar char="•"/>
            </a:pPr>
            <a:r>
              <a:rPr lang="en-US" dirty="0"/>
              <a:t>Cara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populasi</a:t>
            </a:r>
            <a:r>
              <a:rPr lang="en-US" dirty="0"/>
              <a:t>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heterogen</a:t>
            </a:r>
            <a:r>
              <a:rPr lang="en-US" dirty="0"/>
              <a:t>.</a:t>
            </a:r>
          </a:p>
          <a:p>
            <a:pPr marL="505878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20128" indent="0">
              <a:buNone/>
            </a:pPr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 marL="220128" indent="0">
              <a:buNone/>
            </a:pPr>
            <a:endParaRPr lang="en-US" dirty="0"/>
          </a:p>
          <a:p>
            <a:pPr marL="220128" indent="0">
              <a:buNone/>
            </a:pP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kursi</a:t>
            </a:r>
            <a:r>
              <a:rPr lang="en-ID" dirty="0"/>
              <a:t> </a:t>
            </a:r>
            <a:r>
              <a:rPr lang="en-ID" dirty="0" err="1"/>
              <a:t>anggota</a:t>
            </a:r>
            <a:r>
              <a:rPr lang="en-ID" dirty="0"/>
              <a:t> DPR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partai</a:t>
            </a:r>
            <a:r>
              <a:rPr lang="en-ID" dirty="0"/>
              <a:t> </a:t>
            </a:r>
            <a:r>
              <a:rPr lang="en-ID" dirty="0" err="1"/>
              <a:t>pemenang</a:t>
            </a:r>
            <a:r>
              <a:rPr lang="en-ID" dirty="0"/>
              <a:t> </a:t>
            </a:r>
            <a:r>
              <a:rPr lang="en-ID" dirty="0" err="1"/>
              <a:t>Pemilu</a:t>
            </a:r>
            <a:r>
              <a:rPr lang="en-ID" dirty="0"/>
              <a:t> </a:t>
            </a:r>
            <a:r>
              <a:rPr lang="en-ID" dirty="0" err="1"/>
              <a:t>tahun</a:t>
            </a:r>
            <a:r>
              <a:rPr lang="en-ID" dirty="0"/>
              <a:t> 1995:</a:t>
            </a:r>
          </a:p>
          <a:p>
            <a:r>
              <a:rPr lang="en-ID" dirty="0"/>
              <a:t>PDIP = 150 </a:t>
            </a:r>
            <a:r>
              <a:rPr lang="en-ID" dirty="0" err="1"/>
              <a:t>kursi</a:t>
            </a:r>
            <a:endParaRPr lang="en-ID" dirty="0"/>
          </a:p>
          <a:p>
            <a:r>
              <a:rPr lang="en-ID" dirty="0" err="1"/>
              <a:t>Partai</a:t>
            </a:r>
            <a:r>
              <a:rPr lang="en-ID" dirty="0"/>
              <a:t> </a:t>
            </a:r>
            <a:r>
              <a:rPr lang="en-ID" dirty="0" err="1"/>
              <a:t>Golkar</a:t>
            </a:r>
            <a:r>
              <a:rPr lang="en-ID" dirty="0"/>
              <a:t> = 121 </a:t>
            </a:r>
            <a:r>
              <a:rPr lang="en-ID" dirty="0" err="1"/>
              <a:t>kursi</a:t>
            </a:r>
            <a:endParaRPr lang="en-ID" dirty="0"/>
          </a:p>
          <a:p>
            <a:r>
              <a:rPr lang="en-ID" dirty="0" err="1"/>
              <a:t>Partai</a:t>
            </a:r>
            <a:r>
              <a:rPr lang="en-ID" dirty="0"/>
              <a:t> </a:t>
            </a:r>
            <a:r>
              <a:rPr lang="en-ID" dirty="0" err="1"/>
              <a:t>Kebangkitan</a:t>
            </a:r>
            <a:r>
              <a:rPr lang="en-ID" dirty="0"/>
              <a:t> </a:t>
            </a:r>
            <a:r>
              <a:rPr lang="en-ID" dirty="0" err="1"/>
              <a:t>Bangsa</a:t>
            </a:r>
            <a:r>
              <a:rPr lang="en-ID" dirty="0"/>
              <a:t> = 72 </a:t>
            </a:r>
            <a:r>
              <a:rPr lang="en-ID" dirty="0" err="1"/>
              <a:t>kursi</a:t>
            </a:r>
            <a:endParaRPr lang="en-ID" dirty="0"/>
          </a:p>
          <a:p>
            <a:r>
              <a:rPr lang="en-ID" dirty="0" err="1"/>
              <a:t>Partai</a:t>
            </a:r>
            <a:r>
              <a:rPr lang="en-ID" dirty="0"/>
              <a:t> </a:t>
            </a:r>
            <a:r>
              <a:rPr lang="en-ID" dirty="0" err="1"/>
              <a:t>Persatuan</a:t>
            </a:r>
            <a:r>
              <a:rPr lang="en-ID" dirty="0"/>
              <a:t> Pembangunan = 61 </a:t>
            </a:r>
            <a:r>
              <a:rPr lang="en-ID" dirty="0" err="1"/>
              <a:t>kursi</a:t>
            </a:r>
            <a:endParaRPr lang="en-ID" dirty="0"/>
          </a:p>
          <a:p>
            <a:pPr marL="220128" indent="0">
              <a:buNone/>
            </a:pPr>
            <a:endParaRPr lang="en-ID" dirty="0"/>
          </a:p>
          <a:p>
            <a:pPr marL="220128" indent="0">
              <a:buNone/>
            </a:pP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sampel</a:t>
            </a:r>
            <a:r>
              <a:rPr lang="en-ID" dirty="0"/>
              <a:t> yang </a:t>
            </a:r>
            <a:r>
              <a:rPr lang="en-ID" dirty="0" err="1"/>
              <a:t>diambil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porsinya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kursi</a:t>
            </a:r>
            <a:r>
              <a:rPr lang="en-ID" dirty="0"/>
              <a:t> di DPR 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partai</a:t>
            </a:r>
            <a:r>
              <a:rPr lang="en-ID" dirty="0"/>
              <a:t> </a:t>
            </a:r>
            <a:r>
              <a:rPr lang="en-ID" dirty="0" err="1"/>
              <a:t>pemenang</a:t>
            </a:r>
            <a:r>
              <a:rPr lang="en-ID" dirty="0"/>
              <a:t> </a:t>
            </a:r>
            <a:r>
              <a:rPr lang="en-ID" dirty="0" err="1"/>
              <a:t>Pemilu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5808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553E4-D163-4154-8FE5-C6CBA06C6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DISPROPORTIONATE STRATIFIED RANDOM SAMPLING</a:t>
            </a:r>
            <a:endParaRPr lang="en-ID" dirty="0">
              <a:latin typeface="+mj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D8CAB-B820-4B89-92C9-8CCD10943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000" y="2214880"/>
            <a:ext cx="10282497" cy="4137286"/>
          </a:xfrm>
        </p:spPr>
        <p:txBody>
          <a:bodyPr/>
          <a:lstStyle/>
          <a:p>
            <a:pPr marL="505878" indent="-285750">
              <a:buFont typeface="Arial" panose="020B0604020202020204" pitchFamily="34" charset="0"/>
              <a:buChar char="•"/>
            </a:pPr>
            <a:r>
              <a:rPr lang="en-US" dirty="0" err="1"/>
              <a:t>Ialah</a:t>
            </a:r>
            <a:r>
              <a:rPr lang="en-US" dirty="0"/>
              <a:t> </a:t>
            </a:r>
            <a:r>
              <a:rPr lang="en-US" dirty="0" err="1"/>
              <a:t>pengambilan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anggota</a:t>
            </a:r>
            <a:r>
              <a:rPr lang="en-US" dirty="0"/>
              <a:t> </a:t>
            </a:r>
            <a:r>
              <a:rPr lang="en-US" dirty="0" err="1"/>
              <a:t>populasi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acak</a:t>
            </a:r>
            <a:r>
              <a:rPr lang="en-US" dirty="0"/>
              <a:t> dan </a:t>
            </a:r>
            <a:r>
              <a:rPr lang="en-US" dirty="0" err="1"/>
              <a:t>berstrata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sebagian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yang </a:t>
            </a:r>
            <a:r>
              <a:rPr lang="en-US" dirty="0" err="1"/>
              <a:t>kurang</a:t>
            </a:r>
            <a:r>
              <a:rPr lang="en-US" dirty="0"/>
              <a:t> </a:t>
            </a:r>
            <a:r>
              <a:rPr lang="en-US" dirty="0" err="1"/>
              <a:t>proporsional</a:t>
            </a:r>
            <a:r>
              <a:rPr lang="en-US" dirty="0"/>
              <a:t> </a:t>
            </a:r>
            <a:r>
              <a:rPr lang="en-US" dirty="0" err="1"/>
              <a:t>pembagiannya</a:t>
            </a:r>
            <a:r>
              <a:rPr lang="en-US" dirty="0"/>
              <a:t>.</a:t>
            </a:r>
          </a:p>
          <a:p>
            <a:pPr marL="505878" indent="-285750">
              <a:buFont typeface="Arial" panose="020B0604020202020204" pitchFamily="34" charset="0"/>
              <a:buChar char="•"/>
            </a:pPr>
            <a:r>
              <a:rPr lang="en-US" dirty="0"/>
              <a:t>Cara sampling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populasinya</a:t>
            </a:r>
            <a:r>
              <a:rPr lang="en-US" dirty="0"/>
              <a:t>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heterogen</a:t>
            </a:r>
            <a:r>
              <a:rPr lang="en-US" dirty="0"/>
              <a:t>.</a:t>
            </a:r>
          </a:p>
          <a:p>
            <a:pPr marL="505878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20128" indent="0">
              <a:buNone/>
            </a:pPr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 marL="220128" indent="0">
              <a:buNone/>
            </a:pPr>
            <a:endParaRPr lang="en-US" dirty="0"/>
          </a:p>
          <a:p>
            <a:pPr marL="220128" indent="0">
              <a:buNone/>
            </a:pP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pegawai</a:t>
            </a:r>
            <a:r>
              <a:rPr lang="en-ID" dirty="0"/>
              <a:t> pada PT. </a:t>
            </a:r>
            <a:r>
              <a:rPr lang="en-ID" dirty="0" err="1"/>
              <a:t>Sinar</a:t>
            </a:r>
            <a:r>
              <a:rPr lang="en-ID" dirty="0"/>
              <a:t> Dunia di Kota Surabaya:</a:t>
            </a:r>
          </a:p>
          <a:p>
            <a:r>
              <a:rPr lang="en-ID" dirty="0" err="1"/>
              <a:t>Direktur</a:t>
            </a:r>
            <a:r>
              <a:rPr lang="en-ID" dirty="0"/>
              <a:t> Utama = 1 orang</a:t>
            </a:r>
          </a:p>
          <a:p>
            <a:r>
              <a:rPr lang="en-ID" dirty="0" err="1"/>
              <a:t>Kepala</a:t>
            </a:r>
            <a:r>
              <a:rPr lang="en-ID" dirty="0"/>
              <a:t> Divisi = 6 orang</a:t>
            </a:r>
          </a:p>
          <a:p>
            <a:r>
              <a:rPr lang="en-ID" dirty="0" err="1"/>
              <a:t>Pegawai</a:t>
            </a:r>
            <a:r>
              <a:rPr lang="en-ID" dirty="0"/>
              <a:t> Divisi </a:t>
            </a:r>
            <a:r>
              <a:rPr lang="en-ID" dirty="0" err="1"/>
              <a:t>Produksi</a:t>
            </a:r>
            <a:r>
              <a:rPr lang="en-ID" dirty="0"/>
              <a:t> = 200 orang</a:t>
            </a:r>
          </a:p>
          <a:p>
            <a:r>
              <a:rPr lang="en-ID" dirty="0" err="1"/>
              <a:t>Pegawai</a:t>
            </a:r>
            <a:r>
              <a:rPr lang="en-ID" dirty="0"/>
              <a:t> Divisi Marketing = 185 orang</a:t>
            </a:r>
          </a:p>
          <a:p>
            <a:r>
              <a:rPr lang="en-ID" dirty="0" err="1"/>
              <a:t>Pegawai</a:t>
            </a:r>
            <a:r>
              <a:rPr lang="en-ID" dirty="0"/>
              <a:t> Divisi HRD = 193 orang</a:t>
            </a:r>
          </a:p>
          <a:p>
            <a:pPr marL="220128" indent="0">
              <a:buNone/>
            </a:pPr>
            <a:endParaRPr lang="en-ID" dirty="0"/>
          </a:p>
          <a:p>
            <a:pPr marL="220128" indent="0">
              <a:buNone/>
            </a:pP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sampel</a:t>
            </a:r>
            <a:r>
              <a:rPr lang="en-ID" dirty="0"/>
              <a:t> yang </a:t>
            </a:r>
            <a:r>
              <a:rPr lang="en-ID" dirty="0" err="1"/>
              <a:t>diambil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sebanding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jumlah</a:t>
            </a:r>
            <a:r>
              <a:rPr lang="en-ID" dirty="0"/>
              <a:t> orang pada </a:t>
            </a:r>
            <a:r>
              <a:rPr lang="en-ID" dirty="0" err="1"/>
              <a:t>tiap</a:t>
            </a:r>
            <a:r>
              <a:rPr lang="en-ID" dirty="0"/>
              <a:t> </a:t>
            </a:r>
            <a:r>
              <a:rPr lang="en-ID" dirty="0" err="1"/>
              <a:t>jabatan</a:t>
            </a:r>
            <a:r>
              <a:rPr lang="en-ID" dirty="0"/>
              <a:t>, </a:t>
            </a:r>
            <a:r>
              <a:rPr lang="en-ID" dirty="0" err="1"/>
              <a:t>kecuali</a:t>
            </a:r>
            <a:r>
              <a:rPr lang="en-ID" dirty="0"/>
              <a:t> </a:t>
            </a:r>
            <a:r>
              <a:rPr lang="en-ID" dirty="0" err="1"/>
              <a:t>Direktur</a:t>
            </a:r>
            <a:r>
              <a:rPr lang="en-ID" dirty="0"/>
              <a:t> Utama dan </a:t>
            </a:r>
            <a:r>
              <a:rPr lang="en-ID" dirty="0" err="1"/>
              <a:t>Kepala</a:t>
            </a:r>
            <a:r>
              <a:rPr lang="en-ID" dirty="0"/>
              <a:t> Divisi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jumlah</a:t>
            </a:r>
            <a:r>
              <a:rPr lang="en-ID" dirty="0"/>
              <a:t> orang pada </a:t>
            </a:r>
            <a:r>
              <a:rPr lang="en-ID" dirty="0" err="1"/>
              <a:t>kedua</a:t>
            </a:r>
            <a:r>
              <a:rPr lang="en-ID" dirty="0"/>
              <a:t> </a:t>
            </a:r>
            <a:r>
              <a:rPr lang="en-ID" dirty="0" err="1"/>
              <a:t>jabatan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terlalu</a:t>
            </a:r>
            <a:r>
              <a:rPr lang="en-ID" dirty="0"/>
              <a:t> </a:t>
            </a:r>
            <a:r>
              <a:rPr lang="en-ID" dirty="0" err="1"/>
              <a:t>sedikit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0377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553E4-D163-4154-8FE5-C6CBA06C6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AREA SAMPLING</a:t>
            </a:r>
            <a:endParaRPr lang="en-ID" dirty="0">
              <a:latin typeface="+mj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D8CAB-B820-4B89-92C9-8CCD10943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000" y="1788160"/>
            <a:ext cx="10219434" cy="4564006"/>
          </a:xfrm>
        </p:spPr>
        <p:txBody>
          <a:bodyPr/>
          <a:lstStyle/>
          <a:p>
            <a:pPr marL="505878" indent="-285750">
              <a:buFont typeface="Arial" panose="020B0604020202020204" pitchFamily="34" charset="0"/>
              <a:buChar char="•"/>
            </a:pPr>
            <a:r>
              <a:rPr lang="en-US" dirty="0"/>
              <a:t>Area sampling (sampling </a:t>
            </a:r>
            <a:r>
              <a:rPr lang="en-US" dirty="0" err="1"/>
              <a:t>daerah</a:t>
            </a:r>
            <a:r>
              <a:rPr lang="en-US" dirty="0"/>
              <a:t> / wilayah) </a:t>
            </a:r>
            <a:r>
              <a:rPr lang="en-US" dirty="0" err="1"/>
              <a:t>ialah</a:t>
            </a:r>
            <a:r>
              <a:rPr lang="en-US" dirty="0"/>
              <a:t> Teknik sampling yang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mengambil</a:t>
            </a:r>
            <a:r>
              <a:rPr lang="en-US" dirty="0"/>
              <a:t> wakil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wilayah </a:t>
            </a:r>
            <a:r>
              <a:rPr lang="en-US" dirty="0" err="1"/>
              <a:t>geografis</a:t>
            </a:r>
            <a:r>
              <a:rPr lang="en-US" dirty="0"/>
              <a:t> yang </a:t>
            </a:r>
            <a:r>
              <a:rPr lang="en-US" dirty="0" err="1"/>
              <a:t>ada</a:t>
            </a:r>
            <a:r>
              <a:rPr lang="en-US" dirty="0"/>
              <a:t>.</a:t>
            </a:r>
          </a:p>
          <a:p>
            <a:pPr marL="505878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20128" indent="0">
              <a:buNone/>
            </a:pPr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pPr marL="220128" indent="0">
              <a:buNone/>
            </a:pPr>
            <a:r>
              <a:rPr lang="en-US" dirty="0" err="1"/>
              <a:t>Peneliti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pelaksanaan</a:t>
            </a:r>
            <a:r>
              <a:rPr lang="en-US" dirty="0"/>
              <a:t> </a:t>
            </a:r>
            <a:r>
              <a:rPr lang="en-US" dirty="0" err="1"/>
              <a:t>imunisasi</a:t>
            </a:r>
            <a:r>
              <a:rPr lang="en-US" dirty="0"/>
              <a:t> vitamin A di </a:t>
            </a:r>
            <a:r>
              <a:rPr lang="en-US" dirty="0" err="1"/>
              <a:t>seluruh</a:t>
            </a:r>
            <a:r>
              <a:rPr lang="en-US" dirty="0"/>
              <a:t> wilayah Indonesia. Karena wilayah </a:t>
            </a:r>
            <a:r>
              <a:rPr lang="en-US" dirty="0" err="1"/>
              <a:t>cukup</a:t>
            </a:r>
            <a:r>
              <a:rPr lang="en-US" dirty="0"/>
              <a:t> </a:t>
            </a:r>
            <a:r>
              <a:rPr lang="en-US" dirty="0" err="1"/>
              <a:t>luas</a:t>
            </a:r>
            <a:r>
              <a:rPr lang="en-US" dirty="0"/>
              <a:t>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30 </a:t>
            </a:r>
            <a:r>
              <a:rPr lang="en-US" dirty="0" err="1"/>
              <a:t>provinsi</a:t>
            </a:r>
            <a:r>
              <a:rPr lang="en-US" dirty="0"/>
              <a:t> dan masing-masing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kondisinya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peneliti</a:t>
            </a:r>
            <a:r>
              <a:rPr lang="en-US" dirty="0"/>
              <a:t> </a:t>
            </a:r>
            <a:r>
              <a:rPr lang="en-US" dirty="0" err="1"/>
              <a:t>mengambil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provinsi</a:t>
            </a:r>
            <a:r>
              <a:rPr lang="en-US" dirty="0"/>
              <a:t>, </a:t>
            </a:r>
            <a:r>
              <a:rPr lang="en-US" dirty="0" err="1"/>
              <a:t>provinsi</a:t>
            </a:r>
            <a:r>
              <a:rPr lang="en-US" dirty="0"/>
              <a:t>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kota</a:t>
            </a:r>
            <a:r>
              <a:rPr lang="en-US" dirty="0"/>
              <a:t>/</a:t>
            </a:r>
            <a:r>
              <a:rPr lang="en-US" dirty="0" err="1"/>
              <a:t>kabupaten</a:t>
            </a:r>
            <a:r>
              <a:rPr lang="en-US" dirty="0"/>
              <a:t>, </a:t>
            </a:r>
            <a:r>
              <a:rPr lang="en-US" dirty="0" err="1"/>
              <a:t>kota</a:t>
            </a:r>
            <a:r>
              <a:rPr lang="en-US" dirty="0"/>
              <a:t>/</a:t>
            </a:r>
            <a:r>
              <a:rPr lang="en-US" dirty="0" err="1"/>
              <a:t>kabupaten</a:t>
            </a:r>
            <a:r>
              <a:rPr lang="en-US" dirty="0"/>
              <a:t>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kecamatan</a:t>
            </a:r>
            <a:r>
              <a:rPr lang="en-US" dirty="0"/>
              <a:t>, </a:t>
            </a:r>
            <a:r>
              <a:rPr lang="en-US" dirty="0" err="1"/>
              <a:t>kecamatan</a:t>
            </a:r>
            <a:r>
              <a:rPr lang="en-US" dirty="0"/>
              <a:t>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kelurahan</a:t>
            </a:r>
            <a:r>
              <a:rPr lang="en-US" dirty="0"/>
              <a:t>/</a:t>
            </a:r>
            <a:r>
              <a:rPr lang="en-US" dirty="0" err="1"/>
              <a:t>desa</a:t>
            </a:r>
            <a:r>
              <a:rPr lang="en-US" dirty="0"/>
              <a:t>,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Rukun</a:t>
            </a:r>
            <a:r>
              <a:rPr lang="en-US" dirty="0"/>
              <a:t> </a:t>
            </a:r>
            <a:r>
              <a:rPr lang="en-US" dirty="0" err="1"/>
              <a:t>Warga</a:t>
            </a:r>
            <a:r>
              <a:rPr lang="en-US" dirty="0"/>
              <a:t> (RW). </a:t>
            </a:r>
            <a:r>
              <a:rPr lang="en-US" dirty="0" err="1"/>
              <a:t>Rukun</a:t>
            </a:r>
            <a:r>
              <a:rPr lang="en-US" dirty="0"/>
              <a:t> </a:t>
            </a:r>
            <a:r>
              <a:rPr lang="en-US" dirty="0" err="1"/>
              <a:t>Warga</a:t>
            </a:r>
            <a:r>
              <a:rPr lang="en-US" dirty="0"/>
              <a:t> (RW)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keluarga-keluarga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imunisasi</a:t>
            </a:r>
            <a:r>
              <a:rPr lang="en-US" dirty="0"/>
              <a:t> vitamin A. </a:t>
            </a:r>
          </a:p>
          <a:p>
            <a:pPr marL="220128" indent="0">
              <a:buNone/>
            </a:pPr>
            <a:endParaRPr lang="en-US" dirty="0"/>
          </a:p>
          <a:p>
            <a:pPr marL="220128" indent="0">
              <a:buNone/>
            </a:pP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demikian</a:t>
            </a:r>
            <a:r>
              <a:rPr lang="en-US" dirty="0"/>
              <a:t>, </a:t>
            </a:r>
            <a:r>
              <a:rPr lang="en-US" dirty="0" err="1"/>
              <a:t>hasilnya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pelaksanaan</a:t>
            </a:r>
            <a:r>
              <a:rPr lang="en-US" dirty="0"/>
              <a:t> </a:t>
            </a:r>
            <a:r>
              <a:rPr lang="en-US" dirty="0" err="1"/>
              <a:t>imunisasi</a:t>
            </a:r>
            <a:r>
              <a:rPr lang="en-US" dirty="0"/>
              <a:t> vitamin A di </a:t>
            </a:r>
            <a:r>
              <a:rPr lang="en-US" dirty="0" err="1"/>
              <a:t>seluruh</a:t>
            </a:r>
            <a:r>
              <a:rPr lang="en-US" dirty="0"/>
              <a:t> Indonesia.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87729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6938-FC9E-465F-B947-F8BFBD167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SAMPLING SISTEMATIS</a:t>
            </a:r>
            <a:endParaRPr lang="en-ID" dirty="0"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94085-FAC2-4F15-B48E-E92FCE685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000" y="1681655"/>
            <a:ext cx="9967186" cy="4670512"/>
          </a:xfrm>
        </p:spPr>
        <p:txBody>
          <a:bodyPr/>
          <a:lstStyle/>
          <a:p>
            <a:pPr marL="505878" indent="-285750">
              <a:buFont typeface="Arial" panose="020B0604020202020204" pitchFamily="34" charset="0"/>
              <a:buChar char="•"/>
            </a:pPr>
            <a:r>
              <a:rPr lang="en-US" dirty="0"/>
              <a:t>Sampling </a:t>
            </a:r>
            <a:r>
              <a:rPr lang="en-US" dirty="0" err="1"/>
              <a:t>sistematis</a:t>
            </a:r>
            <a:r>
              <a:rPr lang="en-US" dirty="0"/>
              <a:t> </a:t>
            </a:r>
            <a:r>
              <a:rPr lang="en-US" dirty="0" err="1"/>
              <a:t>ialah</a:t>
            </a:r>
            <a:r>
              <a:rPr lang="en-US" dirty="0"/>
              <a:t> </a:t>
            </a:r>
            <a:r>
              <a:rPr lang="en-US" dirty="0" err="1"/>
              <a:t>pengambilan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</a:t>
            </a:r>
            <a:r>
              <a:rPr lang="en-US" dirty="0" err="1"/>
              <a:t>didasarkan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populasi</a:t>
            </a:r>
            <a:r>
              <a:rPr lang="en-US" dirty="0"/>
              <a:t>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diberi</a:t>
            </a:r>
            <a:r>
              <a:rPr lang="en-US" dirty="0"/>
              <a:t> </a:t>
            </a:r>
            <a:r>
              <a:rPr lang="en-US" dirty="0" err="1"/>
              <a:t>nomor</a:t>
            </a:r>
            <a:r>
              <a:rPr lang="en-US" dirty="0"/>
              <a:t> </a:t>
            </a:r>
            <a:r>
              <a:rPr lang="en-US" dirty="0" err="1"/>
              <a:t>urut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anggota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</a:t>
            </a:r>
            <a:r>
              <a:rPr lang="en-US" dirty="0" err="1"/>
              <a:t>diambil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populasi</a:t>
            </a:r>
            <a:r>
              <a:rPr lang="en-US" dirty="0"/>
              <a:t> pada </a:t>
            </a:r>
            <a:r>
              <a:rPr lang="en-US" dirty="0" err="1"/>
              <a:t>jarak</a:t>
            </a:r>
            <a:r>
              <a:rPr lang="en-US" dirty="0"/>
              <a:t> interval </a:t>
            </a:r>
            <a:r>
              <a:rPr lang="en-US" dirty="0" err="1"/>
              <a:t>waktu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ruang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yang </a:t>
            </a:r>
            <a:r>
              <a:rPr lang="en-US" dirty="0" err="1"/>
              <a:t>seragam</a:t>
            </a:r>
            <a:r>
              <a:rPr lang="en-US" dirty="0"/>
              <a:t>.</a:t>
            </a:r>
            <a:endParaRPr lang="en-ID" dirty="0"/>
          </a:p>
          <a:p>
            <a:pPr marL="220128" indent="0">
              <a:buNone/>
            </a:pPr>
            <a:endParaRPr lang="en-ID" dirty="0"/>
          </a:p>
          <a:p>
            <a:pPr marL="220128" indent="0">
              <a:buNone/>
            </a:pPr>
            <a:r>
              <a:rPr lang="en-ID" dirty="0" err="1"/>
              <a:t>Contoh</a:t>
            </a:r>
            <a:r>
              <a:rPr lang="en-ID" dirty="0"/>
              <a:t>:</a:t>
            </a:r>
          </a:p>
          <a:p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populasi</a:t>
            </a:r>
            <a:r>
              <a:rPr lang="en-ID" dirty="0"/>
              <a:t> 140 </a:t>
            </a:r>
            <a:r>
              <a:rPr lang="en-ID" dirty="0" err="1"/>
              <a:t>pegawai</a:t>
            </a:r>
            <a:r>
              <a:rPr lang="en-ID" dirty="0"/>
              <a:t> </a:t>
            </a:r>
            <a:r>
              <a:rPr lang="en-ID" dirty="0" err="1"/>
              <a:t>diberi</a:t>
            </a:r>
            <a:r>
              <a:rPr lang="en-ID" dirty="0"/>
              <a:t> </a:t>
            </a:r>
            <a:r>
              <a:rPr lang="en-ID" dirty="0" err="1"/>
              <a:t>nomor</a:t>
            </a:r>
            <a:r>
              <a:rPr lang="en-ID" dirty="0"/>
              <a:t> </a:t>
            </a:r>
            <a:r>
              <a:rPr lang="en-ID" dirty="0" err="1"/>
              <a:t>urut</a:t>
            </a:r>
            <a:r>
              <a:rPr lang="en-ID" dirty="0"/>
              <a:t> 1-140.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sampel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nomor</a:t>
            </a:r>
            <a:r>
              <a:rPr lang="en-ID" dirty="0"/>
              <a:t> </a:t>
            </a:r>
            <a:r>
              <a:rPr lang="en-ID" dirty="0" err="1"/>
              <a:t>genap</a:t>
            </a:r>
            <a:r>
              <a:rPr lang="en-ID" dirty="0"/>
              <a:t> (2, 4, 6, 8, </a:t>
            </a:r>
            <a:r>
              <a:rPr lang="en-ID" dirty="0" err="1"/>
              <a:t>dst</a:t>
            </a:r>
            <a:r>
              <a:rPr lang="en-ID" dirty="0"/>
              <a:t>)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ganjil</a:t>
            </a:r>
            <a:r>
              <a:rPr lang="en-ID" dirty="0"/>
              <a:t> (1, 3, 5, 7, </a:t>
            </a:r>
            <a:r>
              <a:rPr lang="en-ID" dirty="0" err="1"/>
              <a:t>dst</a:t>
            </a:r>
            <a:r>
              <a:rPr lang="en-ID" dirty="0"/>
              <a:t>),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juga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kelipatan</a:t>
            </a:r>
            <a:r>
              <a:rPr lang="en-ID" dirty="0"/>
              <a:t> (</a:t>
            </a:r>
            <a:r>
              <a:rPr lang="en-ID" dirty="0" err="1"/>
              <a:t>kelipatan</a:t>
            </a:r>
            <a:r>
              <a:rPr lang="en-ID" dirty="0"/>
              <a:t> 3, 4, 5, </a:t>
            </a:r>
            <a:r>
              <a:rPr lang="en-ID" dirty="0" err="1"/>
              <a:t>dst</a:t>
            </a:r>
            <a:r>
              <a:rPr lang="en-ID" dirty="0"/>
              <a:t>)</a:t>
            </a:r>
          </a:p>
          <a:p>
            <a:r>
              <a:rPr lang="en-ID" dirty="0"/>
              <a:t>Nama-</a:t>
            </a:r>
            <a:r>
              <a:rPr lang="en-ID" dirty="0" err="1"/>
              <a:t>nama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 </a:t>
            </a:r>
            <a:r>
              <a:rPr lang="en-ID" dirty="0" err="1"/>
              <a:t>listrik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terdaftar</a:t>
            </a:r>
            <a:r>
              <a:rPr lang="en-ID" dirty="0"/>
              <a:t> di Bagian </a:t>
            </a:r>
            <a:r>
              <a:rPr lang="en-ID" dirty="0" err="1"/>
              <a:t>Pembayaran</a:t>
            </a:r>
            <a:r>
              <a:rPr lang="en-ID" dirty="0"/>
              <a:t> Listrik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lokasinya</a:t>
            </a:r>
            <a:r>
              <a:rPr lang="en-ID" dirty="0"/>
              <a:t>.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sampel</a:t>
            </a:r>
            <a:r>
              <a:rPr lang="en-ID" dirty="0"/>
              <a:t> </a:t>
            </a:r>
            <a:r>
              <a:rPr lang="en-ID" dirty="0" err="1"/>
              <a:t>tentang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 </a:t>
            </a:r>
            <a:r>
              <a:rPr lang="en-ID" dirty="0" err="1"/>
              <a:t>listrik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diambil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sistematis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rayon </a:t>
            </a:r>
            <a:r>
              <a:rPr lang="en-ID" dirty="0" err="1"/>
              <a:t>pembayaran</a:t>
            </a:r>
            <a:r>
              <a:rPr lang="en-ID" dirty="0"/>
              <a:t> </a:t>
            </a:r>
            <a:r>
              <a:rPr lang="en-ID" dirty="0" err="1"/>
              <a:t>listrik</a:t>
            </a:r>
            <a:r>
              <a:rPr lang="en-ID" dirty="0"/>
              <a:t> (</a:t>
            </a:r>
            <a:r>
              <a:rPr lang="en-ID" dirty="0" err="1"/>
              <a:t>tiap</a:t>
            </a:r>
            <a:r>
              <a:rPr lang="en-ID" dirty="0"/>
              <a:t> rayon </a:t>
            </a:r>
            <a:r>
              <a:rPr lang="en-ID" dirty="0" err="1"/>
              <a:t>diambil</a:t>
            </a:r>
            <a:r>
              <a:rPr lang="en-ID" dirty="0"/>
              <a:t> </a:t>
            </a:r>
            <a:r>
              <a:rPr lang="en-ID" dirty="0" err="1"/>
              <a:t>sejumlah</a:t>
            </a:r>
            <a:r>
              <a:rPr lang="en-ID" dirty="0"/>
              <a:t> </a:t>
            </a:r>
            <a:r>
              <a:rPr lang="en-ID" dirty="0" err="1"/>
              <a:t>sampel</a:t>
            </a:r>
            <a:r>
              <a:rPr lang="en-ID" dirty="0"/>
              <a:t>).</a:t>
            </a:r>
          </a:p>
          <a:p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mengadakan</a:t>
            </a:r>
            <a:r>
              <a:rPr lang="en-ID" dirty="0"/>
              <a:t> </a:t>
            </a:r>
            <a:r>
              <a:rPr lang="en-ID" dirty="0" err="1"/>
              <a:t>pemeriksaan</a:t>
            </a:r>
            <a:r>
              <a:rPr lang="en-ID" dirty="0"/>
              <a:t> </a:t>
            </a:r>
            <a:r>
              <a:rPr lang="en-ID" dirty="0" err="1"/>
              <a:t>metalurgi</a:t>
            </a:r>
            <a:r>
              <a:rPr lang="en-ID" dirty="0"/>
              <a:t> (</a:t>
            </a:r>
            <a:r>
              <a:rPr lang="en-ID" dirty="0" err="1"/>
              <a:t>ilmu</a:t>
            </a:r>
            <a:r>
              <a:rPr lang="en-ID" dirty="0"/>
              <a:t> </a:t>
            </a:r>
            <a:r>
              <a:rPr lang="en-ID" dirty="0" err="1"/>
              <a:t>bahan</a:t>
            </a:r>
            <a:r>
              <a:rPr lang="en-ID" dirty="0"/>
              <a:t>) pada Perusahaan XYZ.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sampel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pada interval 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, </a:t>
            </a:r>
            <a:r>
              <a:rPr lang="en-ID" dirty="0" err="1"/>
              <a:t>misalnya</a:t>
            </a:r>
            <a:r>
              <a:rPr lang="en-ID" dirty="0"/>
              <a:t> 1 </a:t>
            </a:r>
            <a:r>
              <a:rPr lang="en-ID" dirty="0" err="1"/>
              <a:t>menit</a:t>
            </a:r>
            <a:r>
              <a:rPr lang="en-ID" dirty="0"/>
              <a:t>, 30 </a:t>
            </a:r>
            <a:r>
              <a:rPr lang="en-ID" dirty="0" err="1"/>
              <a:t>menit</a:t>
            </a:r>
            <a:r>
              <a:rPr lang="en-ID" dirty="0"/>
              <a:t>, 1 jam, </a:t>
            </a:r>
            <a:r>
              <a:rPr lang="en-ID" dirty="0" err="1"/>
              <a:t>dst</a:t>
            </a:r>
            <a:r>
              <a:rPr lang="en-ID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248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6938-FC9E-465F-B947-F8BFBD167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SAMPLING KUOTA</a:t>
            </a:r>
            <a:endParaRPr lang="en-ID" dirty="0"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94085-FAC2-4F15-B48E-E92FCE685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001" y="1657117"/>
            <a:ext cx="9818640" cy="4747600"/>
          </a:xfrm>
        </p:spPr>
        <p:txBody>
          <a:bodyPr/>
          <a:lstStyle/>
          <a:p>
            <a:pPr marL="505878" indent="-285750">
              <a:buFont typeface="Arial" panose="020B0604020202020204" pitchFamily="34" charset="0"/>
              <a:buChar char="•"/>
            </a:pPr>
            <a:r>
              <a:rPr lang="en-US" dirty="0" err="1"/>
              <a:t>Ialah</a:t>
            </a:r>
            <a:r>
              <a:rPr lang="en-US" dirty="0"/>
              <a:t>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penentuan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populasi</a:t>
            </a:r>
            <a:r>
              <a:rPr lang="en-US" dirty="0"/>
              <a:t> yang </a:t>
            </a:r>
            <a:r>
              <a:rPr lang="en-US" dirty="0" err="1"/>
              <a:t>mempunyai</a:t>
            </a:r>
            <a:r>
              <a:rPr lang="en-US" dirty="0"/>
              <a:t> </a:t>
            </a:r>
            <a:r>
              <a:rPr lang="en-US" dirty="0" err="1"/>
              <a:t>ciri-ciri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 </a:t>
            </a:r>
            <a:r>
              <a:rPr lang="en-US" dirty="0" err="1"/>
              <a:t>sampai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(</a:t>
            </a:r>
            <a:r>
              <a:rPr lang="en-US" dirty="0" err="1"/>
              <a:t>jatah</a:t>
            </a:r>
            <a:r>
              <a:rPr lang="en-US" dirty="0"/>
              <a:t>) yang </a:t>
            </a:r>
            <a:r>
              <a:rPr lang="en-US" dirty="0" err="1"/>
              <a:t>dikehendaki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pengambilan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yang </a:t>
            </a:r>
            <a:r>
              <a:rPr lang="en-US" dirty="0" err="1"/>
              <a:t>didasarkan</a:t>
            </a:r>
            <a:r>
              <a:rPr lang="en-US" dirty="0"/>
              <a:t> pada </a:t>
            </a:r>
            <a:r>
              <a:rPr lang="en-US" dirty="0" err="1"/>
              <a:t>pertimbangan-pertimbangan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peneliti</a:t>
            </a:r>
            <a:r>
              <a:rPr lang="en-US" dirty="0"/>
              <a:t>.</a:t>
            </a:r>
          </a:p>
          <a:p>
            <a:pPr marL="220128" indent="0">
              <a:buNone/>
            </a:pPr>
            <a:endParaRPr lang="en-ID" dirty="0"/>
          </a:p>
          <a:p>
            <a:pPr marL="220128" indent="0">
              <a:buNone/>
            </a:pPr>
            <a:r>
              <a:rPr lang="en-ID" dirty="0" err="1"/>
              <a:t>Contoh</a:t>
            </a:r>
            <a:r>
              <a:rPr lang="en-ID" dirty="0"/>
              <a:t>:</a:t>
            </a:r>
          </a:p>
          <a:p>
            <a:pPr marL="220128" indent="0">
              <a:buNone/>
            </a:pPr>
            <a:r>
              <a:rPr lang="en-ID" dirty="0" err="1"/>
              <a:t>Jamaah</a:t>
            </a:r>
            <a:r>
              <a:rPr lang="en-ID" dirty="0"/>
              <a:t> haji yang </a:t>
            </a:r>
            <a:r>
              <a:rPr lang="en-ID" dirty="0" err="1"/>
              <a:t>berangkat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tanah</a:t>
            </a:r>
            <a:r>
              <a:rPr lang="en-ID" dirty="0"/>
              <a:t> </a:t>
            </a:r>
            <a:r>
              <a:rPr lang="en-ID" dirty="0" err="1"/>
              <a:t>suci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diberi</a:t>
            </a:r>
            <a:r>
              <a:rPr lang="en-ID" dirty="0"/>
              <a:t> </a:t>
            </a:r>
            <a:r>
              <a:rPr lang="en-ID" dirty="0" err="1"/>
              <a:t>jatah</a:t>
            </a:r>
            <a:r>
              <a:rPr lang="en-ID" dirty="0"/>
              <a:t> oleh </a:t>
            </a:r>
            <a:r>
              <a:rPr lang="en-ID" dirty="0" err="1"/>
              <a:t>Persatuan</a:t>
            </a:r>
            <a:r>
              <a:rPr lang="en-ID" dirty="0"/>
              <a:t> haji Indonesia (PHI) </a:t>
            </a:r>
            <a:r>
              <a:rPr lang="en-ID" dirty="0" err="1"/>
              <a:t>bekerjasama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Pemerintah</a:t>
            </a:r>
            <a:r>
              <a:rPr lang="en-ID" dirty="0"/>
              <a:t> Arab Saudi </a:t>
            </a:r>
            <a:r>
              <a:rPr lang="en-ID" dirty="0" err="1"/>
              <a:t>sebanyak</a:t>
            </a:r>
            <a:r>
              <a:rPr lang="en-ID" dirty="0"/>
              <a:t> 200.000 orang </a:t>
            </a:r>
            <a:r>
              <a:rPr lang="en-ID" dirty="0" err="1"/>
              <a:t>calon</a:t>
            </a:r>
            <a:r>
              <a:rPr lang="en-ID" dirty="0"/>
              <a:t> haji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populasi</a:t>
            </a:r>
            <a:r>
              <a:rPr lang="en-ID" dirty="0"/>
              <a:t> 200.000.000 </a:t>
            </a:r>
            <a:r>
              <a:rPr lang="en-ID" dirty="0" err="1"/>
              <a:t>jiwa</a:t>
            </a:r>
            <a:r>
              <a:rPr lang="en-ID" dirty="0"/>
              <a:t> </a:t>
            </a:r>
            <a:r>
              <a:rPr lang="en-ID" dirty="0" err="1"/>
              <a:t>penduduk</a:t>
            </a:r>
            <a:r>
              <a:rPr lang="en-ID" dirty="0"/>
              <a:t> Indonesia. Jika </a:t>
            </a:r>
            <a:r>
              <a:rPr lang="en-ID" dirty="0" err="1"/>
              <a:t>peneliti</a:t>
            </a:r>
            <a:r>
              <a:rPr lang="en-ID" dirty="0"/>
              <a:t>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meneliti</a:t>
            </a:r>
            <a:r>
              <a:rPr lang="en-ID" dirty="0"/>
              <a:t> Kesehatan </a:t>
            </a:r>
            <a:r>
              <a:rPr lang="en-ID" dirty="0" err="1"/>
              <a:t>calon</a:t>
            </a:r>
            <a:r>
              <a:rPr lang="en-ID" dirty="0"/>
              <a:t> Jemaah haji di </a:t>
            </a:r>
            <a:r>
              <a:rPr lang="en-ID" dirty="0" err="1"/>
              <a:t>tanah</a:t>
            </a:r>
            <a:r>
              <a:rPr lang="en-ID" dirty="0"/>
              <a:t> </a:t>
            </a:r>
            <a:r>
              <a:rPr lang="en-ID" dirty="0" err="1"/>
              <a:t>suci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sampel</a:t>
            </a:r>
            <a:r>
              <a:rPr lang="en-ID" dirty="0"/>
              <a:t> yang </a:t>
            </a:r>
            <a:r>
              <a:rPr lang="en-ID" dirty="0" err="1"/>
              <a:t>dipakai</a:t>
            </a:r>
            <a:r>
              <a:rPr lang="en-ID" dirty="0"/>
              <a:t> </a:t>
            </a:r>
            <a:r>
              <a:rPr lang="en-ID" dirty="0" err="1"/>
              <a:t>sebanyak</a:t>
            </a:r>
            <a:r>
              <a:rPr lang="en-ID" dirty="0"/>
              <a:t> 200.000 orang yang </a:t>
            </a:r>
            <a:r>
              <a:rPr lang="en-ID" dirty="0" err="1"/>
              <a:t>menyebar</a:t>
            </a:r>
            <a:r>
              <a:rPr lang="en-ID" dirty="0"/>
              <a:t> di </a:t>
            </a:r>
            <a:r>
              <a:rPr lang="en-ID" dirty="0" err="1"/>
              <a:t>embarkasi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kloter</a:t>
            </a:r>
            <a:r>
              <a:rPr lang="en-ID" dirty="0"/>
              <a:t> masing-masing wilayah.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545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6938-FC9E-465F-B947-F8BFBD167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2228113"/>
            <a:ext cx="3986800" cy="169502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REVIEW MATERI POPULASI DAN SAMPLING</a:t>
            </a:r>
            <a:endParaRPr lang="en-ID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94085-FAC2-4F15-B48E-E92FCE685E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7840" y="1310640"/>
            <a:ext cx="4453960" cy="4582160"/>
          </a:xfrm>
        </p:spPr>
        <p:txBody>
          <a:bodyPr/>
          <a:lstStyle/>
          <a:p>
            <a:pPr marL="677328" indent="-457200">
              <a:buAutoNum type="arabicPeriod"/>
            </a:pPr>
            <a:r>
              <a:rPr lang="en-US" dirty="0" err="1"/>
              <a:t>Apakah</a:t>
            </a:r>
            <a:r>
              <a:rPr lang="en-US" dirty="0"/>
              <a:t> yang </a:t>
            </a:r>
            <a:r>
              <a:rPr lang="en-US" dirty="0" err="1"/>
              <a:t>dimaksud</a:t>
            </a:r>
            <a:r>
              <a:rPr lang="en-US" dirty="0"/>
              <a:t> </a:t>
            </a:r>
            <a:r>
              <a:rPr lang="en-US" dirty="0" err="1"/>
              <a:t>populasi</a:t>
            </a:r>
            <a:r>
              <a:rPr lang="en-US" dirty="0"/>
              <a:t> </a:t>
            </a:r>
            <a:r>
              <a:rPr lang="en-US" dirty="0" err="1"/>
              <a:t>terbatas</a:t>
            </a:r>
            <a:r>
              <a:rPr lang="en-US" dirty="0"/>
              <a:t> dan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terbatas</a:t>
            </a:r>
            <a:r>
              <a:rPr lang="en-US" dirty="0"/>
              <a:t>? </a:t>
            </a:r>
            <a:r>
              <a:rPr lang="en-US" dirty="0" err="1"/>
              <a:t>Sebutkan</a:t>
            </a:r>
            <a:r>
              <a:rPr lang="en-US" dirty="0"/>
              <a:t> 1 </a:t>
            </a:r>
            <a:r>
              <a:rPr lang="en-US" dirty="0" err="1"/>
              <a:t>contohnya</a:t>
            </a:r>
            <a:r>
              <a:rPr lang="en-US" dirty="0"/>
              <a:t>!</a:t>
            </a:r>
          </a:p>
          <a:p>
            <a:pPr marL="677328" indent="-457200">
              <a:buAutoNum type="arabicPeriod"/>
            </a:pPr>
            <a:r>
              <a:rPr lang="en-US" dirty="0" err="1"/>
              <a:t>Apakah</a:t>
            </a:r>
            <a:r>
              <a:rPr lang="en-US" dirty="0"/>
              <a:t> yang </a:t>
            </a:r>
            <a:r>
              <a:rPr lang="en-US" dirty="0" err="1"/>
              <a:t>dimaksud</a:t>
            </a:r>
            <a:r>
              <a:rPr lang="en-US" dirty="0"/>
              <a:t> </a:t>
            </a:r>
            <a:r>
              <a:rPr lang="en-US" dirty="0" err="1"/>
              <a:t>populasi</a:t>
            </a:r>
            <a:r>
              <a:rPr lang="en-US" dirty="0"/>
              <a:t> </a:t>
            </a:r>
            <a:r>
              <a:rPr lang="en-US" dirty="0" err="1"/>
              <a:t>homogen</a:t>
            </a:r>
            <a:r>
              <a:rPr lang="en-US" dirty="0"/>
              <a:t> dan </a:t>
            </a:r>
            <a:r>
              <a:rPr lang="en-US" dirty="0" err="1"/>
              <a:t>heterogen</a:t>
            </a:r>
            <a:r>
              <a:rPr lang="en-US" dirty="0"/>
              <a:t>? </a:t>
            </a:r>
            <a:r>
              <a:rPr lang="en-US" dirty="0" err="1"/>
              <a:t>Sebutkan</a:t>
            </a:r>
            <a:r>
              <a:rPr lang="en-US" dirty="0"/>
              <a:t> 1 </a:t>
            </a:r>
            <a:r>
              <a:rPr lang="en-US" dirty="0" err="1"/>
              <a:t>contohnya</a:t>
            </a:r>
            <a:r>
              <a:rPr lang="en-US" dirty="0"/>
              <a:t>!</a:t>
            </a:r>
          </a:p>
          <a:p>
            <a:pPr marL="677328" indent="-457200">
              <a:buAutoNum type="arabicPeriod"/>
            </a:pPr>
            <a:r>
              <a:rPr lang="en-US" dirty="0"/>
              <a:t> </a:t>
            </a:r>
            <a:r>
              <a:rPr lang="en-US" dirty="0" err="1"/>
              <a:t>Sebutkan</a:t>
            </a:r>
            <a:r>
              <a:rPr lang="en-US" dirty="0"/>
              <a:t> 4 </a:t>
            </a:r>
            <a:r>
              <a:rPr lang="en-US" dirty="0" err="1"/>
              <a:t>keuntungan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sampel</a:t>
            </a:r>
            <a:r>
              <a:rPr lang="en-US" dirty="0"/>
              <a:t> pada </a:t>
            </a:r>
            <a:r>
              <a:rPr lang="en-US" dirty="0" err="1"/>
              <a:t>penelitian</a:t>
            </a:r>
            <a:r>
              <a:rPr lang="en-US" dirty="0"/>
              <a:t>!</a:t>
            </a:r>
          </a:p>
          <a:p>
            <a:pPr marL="677328" indent="-457200">
              <a:buAutoNum type="arabicPeriod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59902795"/>
      </p:ext>
    </p:extLst>
  </p:cSld>
  <p:clrMapOvr>
    <a:masterClrMapping/>
  </p:clrMapOvr>
</p:sld>
</file>

<file path=ppt/theme/theme1.xml><?xml version="1.0" encoding="utf-8"?>
<a:theme xmlns:a="http://schemas.openxmlformats.org/drawingml/2006/main" name="Green">
  <a:themeElements>
    <a:clrScheme name="Simple Light">
      <a:dk1>
        <a:srgbClr val="000000"/>
      </a:dk1>
      <a:lt1>
        <a:srgbClr val="FFFFFF"/>
      </a:lt1>
      <a:dk2>
        <a:srgbClr val="A6BFA5"/>
      </a:dk2>
      <a:lt2>
        <a:srgbClr val="C9D8C8"/>
      </a:lt2>
      <a:accent1>
        <a:srgbClr val="161922"/>
      </a:accent1>
      <a:accent2>
        <a:srgbClr val="FFFFFF"/>
      </a:accent2>
      <a:accent3>
        <a:srgbClr val="A6BFA5"/>
      </a:accent3>
      <a:accent4>
        <a:srgbClr val="C9D8C8"/>
      </a:accent4>
      <a:accent5>
        <a:srgbClr val="000000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een" id="{68A6435C-DBDB-436D-B827-2DCBA356D5C4}" vid="{13A6E7C2-5EB6-404A-B723-FDEA1D6BE126}"/>
    </a:ext>
  </a:extLst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Green</Template>
  <TotalTime>1394</TotalTime>
  <Words>1067</Words>
  <Application>Microsoft Office PowerPoint</Application>
  <PresentationFormat>Widescreen</PresentationFormat>
  <Paragraphs>102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Livvic</vt:lpstr>
      <vt:lpstr>Montserrat</vt:lpstr>
      <vt:lpstr>Playfair Display</vt:lpstr>
      <vt:lpstr>Playfair Display Regular</vt:lpstr>
      <vt:lpstr>Proxima Nova</vt:lpstr>
      <vt:lpstr>Proxima Nova Semibold</vt:lpstr>
      <vt:lpstr>Roboto Condensed Light</vt:lpstr>
      <vt:lpstr>Green</vt:lpstr>
      <vt:lpstr>Slidesgo Final Pages</vt:lpstr>
      <vt:lpstr>POPULASI DAN SAMPEL</vt:lpstr>
      <vt:lpstr>POPULASI</vt:lpstr>
      <vt:lpstr>JENIS POPULASI</vt:lpstr>
      <vt:lpstr>JENIS POPULASI BERDASARKAN SIFATNYA</vt:lpstr>
      <vt:lpstr>SAMPEL</vt:lpstr>
      <vt:lpstr>KEUNTUNGAN MENGGUNAKAN SAMPEL</vt:lpstr>
      <vt:lpstr>TEKNIK SAMPLING</vt:lpstr>
      <vt:lpstr>SIMPLE RANDOM SAMPLING</vt:lpstr>
      <vt:lpstr>PROPORTIONATE STRATIFIED RANDOM SAMPLING</vt:lpstr>
      <vt:lpstr>DISPROPORTIONATE STRATIFIED RANDOM SAMPLING</vt:lpstr>
      <vt:lpstr>AREA SAMPLING</vt:lpstr>
      <vt:lpstr>SAMPLING SISTEMATIS</vt:lpstr>
      <vt:lpstr>SAMPLING KUOTA</vt:lpstr>
      <vt:lpstr>REVIEW MATERI POPULASI DAN SAMPLING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POPULASI DAN SAMPEL</dc:title>
  <dc:creator>Ashri Shabrina</dc:creator>
  <cp:lastModifiedBy>Ashri Shabrina</cp:lastModifiedBy>
  <cp:revision>8</cp:revision>
  <dcterms:created xsi:type="dcterms:W3CDTF">2022-04-11T03:09:08Z</dcterms:created>
  <dcterms:modified xsi:type="dcterms:W3CDTF">2022-04-13T23:18:16Z</dcterms:modified>
</cp:coreProperties>
</file>