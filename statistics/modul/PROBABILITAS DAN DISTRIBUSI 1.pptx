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0" r:id="rId1"/>
  </p:sldMasterIdLst>
  <p:notesMasterIdLst>
    <p:notesMasterId r:id="rId17"/>
  </p:notesMasterIdLst>
  <p:sldIdLst>
    <p:sldId id="256" r:id="rId2"/>
    <p:sldId id="257" r:id="rId3"/>
    <p:sldId id="258" r:id="rId4"/>
    <p:sldId id="273" r:id="rId5"/>
    <p:sldId id="259" r:id="rId6"/>
    <p:sldId id="260" r:id="rId7"/>
    <p:sldId id="261" r:id="rId8"/>
    <p:sldId id="274" r:id="rId9"/>
    <p:sldId id="278" r:id="rId10"/>
    <p:sldId id="262" r:id="rId11"/>
    <p:sldId id="263" r:id="rId12"/>
    <p:sldId id="264" r:id="rId13"/>
    <p:sldId id="275" r:id="rId14"/>
    <p:sldId id="276" r:id="rId15"/>
    <p:sldId id="277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73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A89403-B95D-4A72-9097-5301EF3B69C4}" type="datetimeFigureOut">
              <a:rPr lang="en-ID" smtClean="0"/>
              <a:t>29/03/2023</a:t>
            </a:fld>
            <a:endParaRPr lang="en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143BCB-E5C4-42F1-AA8D-39E4EB87575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11424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795B1F66-09D0-4385-8CCF-FDE5F56A04F8}" type="datetime1">
              <a:rPr lang="en-ID" smtClean="0"/>
              <a:t>29/03/2023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C1F466DE-140D-499D-9784-92D4347A7E3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2214113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C393E-C9C0-4336-BEC4-34DBA5CF40D5}" type="datetime1">
              <a:rPr lang="en-ID" smtClean="0"/>
              <a:t>29/03/2023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466DE-140D-499D-9784-92D4347A7E3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9442056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58C53-A926-4835-B670-993B4A74EE78}" type="datetime1">
              <a:rPr lang="en-ID" smtClean="0"/>
              <a:t>29/03/2023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466DE-140D-499D-9784-92D4347A7E3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5589954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149DC3-60E0-4BE8-9048-BC1158B2EFD1}" type="datetime1">
              <a:rPr lang="en-ID" smtClean="0"/>
              <a:t>29/03/2023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466DE-140D-499D-9784-92D4347A7E3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229497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68CE04-6168-4EF2-8AD5-BAFAB652B99A}" type="datetime1">
              <a:rPr lang="en-ID" smtClean="0"/>
              <a:t>29/03/2023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466DE-140D-499D-9784-92D4347A7E3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9881135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50B81-C499-428B-9FEF-84776DAFB792}" type="datetime1">
              <a:rPr lang="en-ID" smtClean="0"/>
              <a:t>29/03/2023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466DE-140D-499D-9784-92D4347A7E3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613779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6D82B-F4A9-4A7A-9239-1690FD759FEE}" type="datetime1">
              <a:rPr lang="en-ID" smtClean="0"/>
              <a:t>29/03/2023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466DE-140D-499D-9784-92D4347A7E3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8307697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2CACB-E399-4A29-8AA7-C2AF1C366897}" type="datetime1">
              <a:rPr lang="en-ID" smtClean="0"/>
              <a:t>29/03/2023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466DE-140D-499D-9784-92D4347A7E3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7048471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CCAD0-A1F2-477F-AC52-38D42D23BE15}" type="datetime1">
              <a:rPr lang="en-ID" smtClean="0"/>
              <a:t>29/03/2023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466DE-140D-499D-9784-92D4347A7E3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4573039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4E209-0728-44DA-932F-3D37719D0F90}" type="datetime1">
              <a:rPr lang="en-ID" smtClean="0"/>
              <a:t>29/03/2023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466DE-140D-499D-9784-92D4347A7E3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3433215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753B0-092F-4292-8976-D856BFAD9F5E}" type="datetime1">
              <a:rPr lang="en-ID" smtClean="0"/>
              <a:t>29/03/2023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466DE-140D-499D-9784-92D4347A7E3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1211261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594164-DD5D-454A-9317-A47CC069278D}" type="datetime1">
              <a:rPr lang="en-ID" smtClean="0"/>
              <a:t>29/03/2023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466DE-140D-499D-9784-92D4347A7E3E}" type="slidenum">
              <a:rPr lang="en-ID" smtClean="0"/>
              <a:t>‹#›</a:t>
            </a:fld>
            <a:endParaRPr lang="en-ID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040392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B159EE-4003-461E-B847-16B0B22595C0}" type="datetime1">
              <a:rPr lang="en-ID" smtClean="0"/>
              <a:t>29/03/2023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466DE-140D-499D-9784-92D4347A7E3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1687623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F9204D-13DF-4928-8755-137B4CBD74C1}" type="datetime1">
              <a:rPr lang="en-ID" smtClean="0"/>
              <a:t>29/03/2023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466DE-140D-499D-9784-92D4347A7E3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47571186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97288-FEB1-4514-9D8F-306F5DA78567}" type="datetime1">
              <a:rPr lang="en-ID" smtClean="0"/>
              <a:t>29/03/2023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466DE-140D-499D-9784-92D4347A7E3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0135051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76C36-AC37-48AD-8F02-D6F2B95A3195}" type="datetime1">
              <a:rPr lang="en-ID" smtClean="0"/>
              <a:t>29/03/2023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466DE-140D-499D-9784-92D4347A7E3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88058417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7C2B4-3780-44C2-A762-365EDAFC3DB8}" type="datetime1">
              <a:rPr lang="en-ID" smtClean="0"/>
              <a:t>29/03/2023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466DE-140D-499D-9784-92D4347A7E3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489668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7DB81B-0A4F-4103-8CE1-8929CC82DCBD}" type="datetime1">
              <a:rPr lang="en-ID" smtClean="0"/>
              <a:t>29/03/2023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466DE-140D-499D-9784-92D4347A7E3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08289061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  <p:sldLayoutId id="2147483712" r:id="rId12"/>
    <p:sldLayoutId id="2147483713" r:id="rId13"/>
    <p:sldLayoutId id="2147483714" r:id="rId14"/>
    <p:sldLayoutId id="2147483715" r:id="rId15"/>
    <p:sldLayoutId id="2147483716" r:id="rId16"/>
    <p:sldLayoutId id="2147483717" r:id="rId17"/>
  </p:sldLayoutIdLst>
  <p:transition>
    <p:fade thruBlk="1"/>
  </p:transition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A293AA-E006-48DD-A547-A3BC06CB2A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6425" y="1122363"/>
            <a:ext cx="8314056" cy="2387600"/>
          </a:xfrm>
        </p:spPr>
        <p:txBody>
          <a:bodyPr/>
          <a:lstStyle/>
          <a:p>
            <a:pPr algn="ctr"/>
            <a:r>
              <a:rPr lang="en-US" dirty="0"/>
              <a:t>PROBABILITAS DAN DISTRIBUSI 1</a:t>
            </a:r>
            <a:endParaRPr lang="en-ID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EA8B3B-556A-4F16-9C37-4310CE6115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29974" y="5108415"/>
            <a:ext cx="7532052" cy="400110"/>
          </a:xfrm>
        </p:spPr>
        <p:txBody>
          <a:bodyPr>
            <a:noAutofit/>
          </a:bodyPr>
          <a:lstStyle/>
          <a:p>
            <a:pPr algn="ctr"/>
            <a:r>
              <a:rPr lang="en-US" sz="2400" dirty="0"/>
              <a:t>ASHRI SHABRINA AFRAH., M.T</a:t>
            </a:r>
            <a:endParaRPr lang="en-ID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B685B50-42B8-4C8D-A347-E9EBF0A9787D}"/>
              </a:ext>
            </a:extLst>
          </p:cNvPr>
          <p:cNvSpPr txBox="1"/>
          <p:nvPr/>
        </p:nvSpPr>
        <p:spPr>
          <a:xfrm>
            <a:off x="3351213" y="3579197"/>
            <a:ext cx="53644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MATA KULIAH STATISTIKA (SEMESTER 2)</a:t>
            </a:r>
            <a:endParaRPr lang="en-ID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087970B-7811-4348-A6F3-07CF2F859D12}"/>
              </a:ext>
            </a:extLst>
          </p:cNvPr>
          <p:cNvSpPr txBox="1"/>
          <p:nvPr/>
        </p:nvSpPr>
        <p:spPr>
          <a:xfrm>
            <a:off x="680944" y="406798"/>
            <a:ext cx="46057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PROGRAM STUDI TEKNIK INFORMATIKA</a:t>
            </a:r>
          </a:p>
          <a:p>
            <a:r>
              <a:rPr lang="en-US" dirty="0"/>
              <a:t>UIN MAULANA MALIK IBRAHIM MALANG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9197586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B7007E6-E814-4EA8-9303-6D01ED0D2E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PROBABILITAS (PELUANG)</a:t>
            </a:r>
            <a:endParaRPr lang="en-ID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3058241-5550-4A03-9310-DC35A2F98E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/>
              <a:t>Probabilitas</a:t>
            </a:r>
            <a:r>
              <a:rPr lang="en-US" dirty="0"/>
              <a:t> (</a:t>
            </a:r>
            <a:r>
              <a:rPr lang="en-US" dirty="0" err="1"/>
              <a:t>peluang</a:t>
            </a:r>
            <a:r>
              <a:rPr lang="en-US" dirty="0"/>
              <a:t>) </a:t>
            </a:r>
            <a:r>
              <a:rPr lang="en-US" dirty="0" err="1"/>
              <a:t>kejadian</a:t>
            </a:r>
            <a:r>
              <a:rPr lang="en-US" dirty="0"/>
              <a:t> A </a:t>
            </a:r>
            <a:r>
              <a:rPr lang="en-US" dirty="0" err="1"/>
              <a:t>adalah</a:t>
            </a:r>
            <a:r>
              <a:rPr lang="en-US" dirty="0"/>
              <a:t> </a:t>
            </a:r>
            <a:r>
              <a:rPr lang="en-US" dirty="0" err="1"/>
              <a:t>jumlah</a:t>
            </a:r>
            <a:r>
              <a:rPr lang="en-US" dirty="0"/>
              <a:t> </a:t>
            </a:r>
            <a:r>
              <a:rPr lang="en-US" dirty="0" err="1"/>
              <a:t>bobot</a:t>
            </a:r>
            <a:r>
              <a:rPr lang="en-US" dirty="0"/>
              <a:t> </a:t>
            </a:r>
            <a:r>
              <a:rPr lang="en-US" dirty="0" err="1"/>
              <a:t>semua</a:t>
            </a:r>
            <a:r>
              <a:rPr lang="en-US" dirty="0"/>
              <a:t> </a:t>
            </a:r>
            <a:r>
              <a:rPr lang="en-US" dirty="0" err="1"/>
              <a:t>titik</a:t>
            </a:r>
            <a:r>
              <a:rPr lang="en-US" dirty="0"/>
              <a:t> </a:t>
            </a:r>
            <a:r>
              <a:rPr lang="en-US" dirty="0" err="1"/>
              <a:t>sampel</a:t>
            </a:r>
            <a:r>
              <a:rPr lang="en-US" dirty="0"/>
              <a:t> yang </a:t>
            </a:r>
            <a:r>
              <a:rPr lang="en-US" dirty="0" err="1"/>
              <a:t>termasuk</a:t>
            </a:r>
            <a:r>
              <a:rPr lang="en-US" dirty="0"/>
              <a:t> A. </a:t>
            </a:r>
            <a:r>
              <a:rPr lang="en-US" dirty="0" err="1"/>
              <a:t>Beberapa</a:t>
            </a:r>
            <a:r>
              <a:rPr lang="en-US" dirty="0"/>
              <a:t> </a:t>
            </a:r>
            <a:r>
              <a:rPr lang="en-US" dirty="0" err="1"/>
              <a:t>ketentuan</a:t>
            </a:r>
            <a:r>
              <a:rPr lang="en-US" dirty="0"/>
              <a:t> </a:t>
            </a:r>
            <a:r>
              <a:rPr lang="en-US" dirty="0" err="1"/>
              <a:t>tentang</a:t>
            </a:r>
            <a:r>
              <a:rPr lang="en-US" dirty="0"/>
              <a:t> </a:t>
            </a:r>
            <a:r>
              <a:rPr lang="en-US" dirty="0" err="1"/>
              <a:t>probabilitas</a:t>
            </a:r>
            <a:r>
              <a:rPr lang="en-US" dirty="0"/>
              <a:t>, </a:t>
            </a:r>
            <a:r>
              <a:rPr lang="en-US" dirty="0" err="1"/>
              <a:t>antara</a:t>
            </a:r>
            <a:r>
              <a:rPr lang="en-US" dirty="0"/>
              <a:t> lain: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0 ≤ P(A) ≤ 1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P(Ø) = 0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P(S) = 1</a:t>
            </a:r>
          </a:p>
          <a:p>
            <a:endParaRPr lang="en-ID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D3BA684-4174-4F7D-9A81-952490B9D5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466DE-140D-499D-9784-92D4347A7E3E}" type="slidenum">
              <a:rPr lang="en-ID" smtClean="0"/>
              <a:t>2</a:t>
            </a:fld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2585900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D84E97-8402-48C0-9313-AA85E79201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PROBABILITAS (PELUANG)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0FB1D5-AC9B-41A4-B567-6F11C4215E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Dalam </a:t>
            </a:r>
            <a:r>
              <a:rPr lang="en-US" dirty="0" err="1"/>
              <a:t>perumusan</a:t>
            </a:r>
            <a:r>
              <a:rPr lang="en-US" dirty="0"/>
              <a:t> </a:t>
            </a:r>
            <a:r>
              <a:rPr lang="en-US" dirty="0" err="1"/>
              <a:t>klasik</a:t>
            </a:r>
            <a:r>
              <a:rPr lang="en-US" dirty="0"/>
              <a:t>, </a:t>
            </a:r>
            <a:r>
              <a:rPr lang="en-US" dirty="0" err="1"/>
              <a:t>bila</a:t>
            </a:r>
            <a:r>
              <a:rPr lang="en-US" dirty="0"/>
              <a:t> </a:t>
            </a:r>
            <a:r>
              <a:rPr lang="en-US" dirty="0" err="1"/>
              <a:t>suatu</a:t>
            </a:r>
            <a:r>
              <a:rPr lang="en-US" dirty="0"/>
              <a:t> </a:t>
            </a:r>
            <a:r>
              <a:rPr lang="en-US" dirty="0" err="1"/>
              <a:t>percobaan</a:t>
            </a:r>
            <a:r>
              <a:rPr lang="en-US" dirty="0"/>
              <a:t>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menghasilkan</a:t>
            </a:r>
            <a:r>
              <a:rPr lang="en-US" dirty="0"/>
              <a:t> N </a:t>
            </a:r>
            <a:r>
              <a:rPr lang="en-US" dirty="0" err="1"/>
              <a:t>macam</a:t>
            </a:r>
            <a:r>
              <a:rPr lang="en-US" dirty="0"/>
              <a:t> </a:t>
            </a:r>
            <a:r>
              <a:rPr lang="en-US" dirty="0" err="1"/>
              <a:t>hasil</a:t>
            </a:r>
            <a:r>
              <a:rPr lang="en-US" dirty="0"/>
              <a:t> yang </a:t>
            </a:r>
            <a:r>
              <a:rPr lang="en-US" dirty="0" err="1"/>
              <a:t>berkemungkinan</a:t>
            </a:r>
            <a:r>
              <a:rPr lang="en-US" dirty="0"/>
              <a:t> </a:t>
            </a:r>
            <a:r>
              <a:rPr lang="en-US" dirty="0" err="1"/>
              <a:t>sama</a:t>
            </a:r>
            <a:r>
              <a:rPr lang="en-US" dirty="0"/>
              <a:t>, dan </a:t>
            </a:r>
            <a:r>
              <a:rPr lang="en-US" dirty="0" err="1"/>
              <a:t>bila</a:t>
            </a:r>
            <a:r>
              <a:rPr lang="en-US" dirty="0"/>
              <a:t> </a:t>
            </a:r>
            <a:r>
              <a:rPr lang="en-US" dirty="0" err="1"/>
              <a:t>tepat</a:t>
            </a:r>
            <a:r>
              <a:rPr lang="en-US" dirty="0"/>
              <a:t> </a:t>
            </a:r>
            <a:r>
              <a:rPr lang="en-US" dirty="0" err="1"/>
              <a:t>sebanyak</a:t>
            </a:r>
            <a:r>
              <a:rPr lang="en-US" dirty="0"/>
              <a:t> n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hasil</a:t>
            </a:r>
            <a:r>
              <a:rPr lang="en-US" dirty="0"/>
              <a:t> </a:t>
            </a:r>
            <a:r>
              <a:rPr lang="en-US" dirty="0" err="1"/>
              <a:t>berkaitan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kejadian</a:t>
            </a:r>
            <a:r>
              <a:rPr lang="en-US" dirty="0"/>
              <a:t> A, </a:t>
            </a:r>
            <a:r>
              <a:rPr lang="en-US" dirty="0" err="1"/>
              <a:t>maka</a:t>
            </a:r>
            <a:r>
              <a:rPr lang="en-US" dirty="0"/>
              <a:t> </a:t>
            </a:r>
            <a:r>
              <a:rPr lang="en-US" dirty="0" err="1"/>
              <a:t>peluang</a:t>
            </a:r>
            <a:r>
              <a:rPr lang="en-US" dirty="0"/>
              <a:t> </a:t>
            </a:r>
            <a:r>
              <a:rPr lang="en-US" dirty="0" err="1"/>
              <a:t>kejadian</a:t>
            </a:r>
            <a:r>
              <a:rPr lang="en-US" dirty="0"/>
              <a:t> A </a:t>
            </a:r>
            <a:r>
              <a:rPr lang="en-US" dirty="0" err="1"/>
              <a:t>adalah</a:t>
            </a:r>
            <a:r>
              <a:rPr lang="en-US" dirty="0"/>
              <a:t>: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4FEB40-A191-459C-AD9B-F1B2D21210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9500" t="38667" r="31334" b="52741"/>
          <a:stretch/>
        </p:blipFill>
        <p:spPr>
          <a:xfrm>
            <a:off x="4997669" y="4185920"/>
            <a:ext cx="2196662" cy="1158240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400C5D-D759-407A-9A7C-FE39F1DF1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466DE-140D-499D-9784-92D4347A7E3E}" type="slidenum">
              <a:rPr lang="en-ID" smtClean="0"/>
              <a:t>3</a:t>
            </a:fld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2898646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D84E97-8402-48C0-9313-AA85E79201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PROBABILITAS (PELUANG)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0FB1D5-AC9B-41A4-B567-6F11C4215E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Dalam </a:t>
            </a:r>
            <a:r>
              <a:rPr lang="en-US" dirty="0" err="1"/>
              <a:t>perumusan</a:t>
            </a:r>
            <a:r>
              <a:rPr lang="en-US" dirty="0"/>
              <a:t> </a:t>
            </a:r>
            <a:r>
              <a:rPr lang="en-US" dirty="0" err="1"/>
              <a:t>empiris</a:t>
            </a:r>
            <a:r>
              <a:rPr lang="en-US" dirty="0"/>
              <a:t>, </a:t>
            </a:r>
            <a:r>
              <a:rPr lang="en-US" dirty="0" err="1"/>
              <a:t>probabilitas</a:t>
            </a:r>
            <a:r>
              <a:rPr lang="en-US" dirty="0"/>
              <a:t> </a:t>
            </a:r>
            <a:r>
              <a:rPr lang="en-US" dirty="0" err="1"/>
              <a:t>dihitung</a:t>
            </a:r>
            <a:r>
              <a:rPr lang="en-US" dirty="0"/>
              <a:t> </a:t>
            </a:r>
            <a:r>
              <a:rPr lang="en-US" dirty="0" err="1"/>
              <a:t>berdasarkan</a:t>
            </a:r>
            <a:r>
              <a:rPr lang="en-US" dirty="0"/>
              <a:t> </a:t>
            </a:r>
            <a:r>
              <a:rPr lang="en-US" dirty="0" err="1"/>
              <a:t>frekuensi</a:t>
            </a:r>
            <a:r>
              <a:rPr lang="en-US" dirty="0"/>
              <a:t> </a:t>
            </a:r>
            <a:r>
              <a:rPr lang="en-US" dirty="0" err="1"/>
              <a:t>relatif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kejadian</a:t>
            </a:r>
            <a:r>
              <a:rPr lang="en-US" dirty="0"/>
              <a:t>,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syarat</a:t>
            </a:r>
            <a:r>
              <a:rPr lang="en-US" dirty="0"/>
              <a:t> </a:t>
            </a:r>
            <a:r>
              <a:rPr lang="en-US" dirty="0" err="1"/>
              <a:t>jumlah</a:t>
            </a:r>
            <a:r>
              <a:rPr lang="en-US" dirty="0"/>
              <a:t> </a:t>
            </a:r>
            <a:r>
              <a:rPr lang="en-US" dirty="0" err="1"/>
              <a:t>percobaannya</a:t>
            </a:r>
            <a:r>
              <a:rPr lang="en-US" dirty="0"/>
              <a:t> sangat </a:t>
            </a:r>
            <a:r>
              <a:rPr lang="en-US" dirty="0" err="1"/>
              <a:t>banyak</a:t>
            </a:r>
            <a:r>
              <a:rPr lang="en-US" dirty="0"/>
              <a:t> (</a:t>
            </a:r>
            <a:r>
              <a:rPr lang="en-US" dirty="0" err="1"/>
              <a:t>tak</a:t>
            </a:r>
            <a:r>
              <a:rPr lang="en-US" dirty="0"/>
              <a:t> </a:t>
            </a:r>
            <a:r>
              <a:rPr lang="en-US" dirty="0" err="1"/>
              <a:t>terhingga</a:t>
            </a:r>
            <a:r>
              <a:rPr lang="en-US" dirty="0"/>
              <a:t>). </a:t>
            </a:r>
            <a:r>
              <a:rPr lang="en-US" dirty="0" err="1"/>
              <a:t>Bila</a:t>
            </a:r>
            <a:r>
              <a:rPr lang="en-US" dirty="0"/>
              <a:t> </a:t>
            </a:r>
            <a:r>
              <a:rPr lang="en-US" dirty="0" err="1"/>
              <a:t>jumlah</a:t>
            </a:r>
            <a:r>
              <a:rPr lang="en-US" dirty="0"/>
              <a:t> </a:t>
            </a:r>
            <a:r>
              <a:rPr lang="en-US" dirty="0" err="1"/>
              <a:t>percobaan</a:t>
            </a:r>
            <a:r>
              <a:rPr lang="en-US" dirty="0"/>
              <a:t> N sangat </a:t>
            </a:r>
            <a:r>
              <a:rPr lang="en-US" dirty="0" err="1"/>
              <a:t>banyak</a:t>
            </a:r>
            <a:r>
              <a:rPr lang="en-US" dirty="0"/>
              <a:t> (</a:t>
            </a:r>
            <a:r>
              <a:rPr lang="en-US" dirty="0" err="1"/>
              <a:t>tak</a:t>
            </a:r>
            <a:r>
              <a:rPr lang="en-US" dirty="0"/>
              <a:t> </a:t>
            </a:r>
            <a:r>
              <a:rPr lang="en-US" dirty="0" err="1"/>
              <a:t>terhingga</a:t>
            </a:r>
            <a:r>
              <a:rPr lang="en-US" dirty="0"/>
              <a:t>), </a:t>
            </a:r>
            <a:r>
              <a:rPr lang="en-US" dirty="0" err="1"/>
              <a:t>maka</a:t>
            </a:r>
            <a:r>
              <a:rPr lang="en-US" dirty="0"/>
              <a:t> </a:t>
            </a:r>
            <a:r>
              <a:rPr lang="en-US" dirty="0" err="1"/>
              <a:t>probabilitas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kejadian</a:t>
            </a:r>
            <a:r>
              <a:rPr lang="en-US" dirty="0"/>
              <a:t> A </a:t>
            </a:r>
            <a:r>
              <a:rPr lang="en-US" dirty="0" err="1"/>
              <a:t>adalah</a:t>
            </a:r>
            <a:r>
              <a:rPr lang="en-US" dirty="0"/>
              <a:t>:</a:t>
            </a:r>
          </a:p>
          <a:p>
            <a:endParaRPr lang="en-ID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9A550A9-8991-47DF-8E89-F5B95FE7D6D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8417" t="61037" r="30333" b="30075"/>
          <a:stretch/>
        </p:blipFill>
        <p:spPr>
          <a:xfrm>
            <a:off x="4804409" y="4460239"/>
            <a:ext cx="2583181" cy="1148081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4FBBFD-69CC-4C63-A6D2-59D2ADE24F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466DE-140D-499D-9784-92D4347A7E3E}" type="slidenum">
              <a:rPr lang="en-ID" smtClean="0"/>
              <a:t>4</a:t>
            </a:fld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4811948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49D6C6-1AC5-465D-AE04-152F07A914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PROBABILITAS PERISTIWA SEDERHANA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360D97-DF1F-4C37-9DD4-198427192F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err="1"/>
              <a:t>Probabilitas</a:t>
            </a:r>
            <a:r>
              <a:rPr lang="en-US" dirty="0"/>
              <a:t> </a:t>
            </a:r>
            <a:r>
              <a:rPr lang="en-US" dirty="0" err="1"/>
              <a:t>peristiwa</a:t>
            </a:r>
            <a:r>
              <a:rPr lang="en-US" dirty="0"/>
              <a:t> </a:t>
            </a:r>
            <a:r>
              <a:rPr lang="en-US" dirty="0" err="1"/>
              <a:t>sederhana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peristiwa</a:t>
            </a:r>
            <a:r>
              <a:rPr lang="en-US" dirty="0"/>
              <a:t> A </a:t>
            </a:r>
            <a:r>
              <a:rPr lang="en-US" dirty="0" err="1"/>
              <a:t>dinyatakan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 err="1"/>
              <a:t>Ciri-ciri</a:t>
            </a:r>
            <a:r>
              <a:rPr lang="en-US" dirty="0"/>
              <a:t> </a:t>
            </a:r>
            <a:r>
              <a:rPr lang="en-US" dirty="0" err="1"/>
              <a:t>probabilitas</a:t>
            </a:r>
            <a:r>
              <a:rPr lang="en-US" dirty="0"/>
              <a:t> </a:t>
            </a:r>
            <a:r>
              <a:rPr lang="en-US" dirty="0" err="1"/>
              <a:t>peristiwa</a:t>
            </a:r>
            <a:r>
              <a:rPr lang="en-US" dirty="0"/>
              <a:t> </a:t>
            </a:r>
            <a:r>
              <a:rPr lang="en-US" dirty="0" err="1"/>
              <a:t>sederhana</a:t>
            </a:r>
            <a:r>
              <a:rPr lang="en-US" dirty="0"/>
              <a:t>: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Nilai </a:t>
            </a:r>
            <a:r>
              <a:rPr lang="en-US" dirty="0" err="1"/>
              <a:t>probabilitasnya</a:t>
            </a:r>
            <a:r>
              <a:rPr lang="en-US" dirty="0"/>
              <a:t> 0 ≤ P(A) ≤ 1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err="1"/>
              <a:t>Jumlah</a:t>
            </a:r>
            <a:r>
              <a:rPr lang="en-US" dirty="0"/>
              <a:t> </a:t>
            </a:r>
            <a:r>
              <a:rPr lang="en-US" dirty="0" err="1"/>
              <a:t>seluruh</a:t>
            </a:r>
            <a:r>
              <a:rPr lang="en-US" dirty="0"/>
              <a:t> </a:t>
            </a:r>
            <a:r>
              <a:rPr lang="en-US" dirty="0" err="1"/>
              <a:t>nilai</a:t>
            </a:r>
            <a:r>
              <a:rPr lang="en-US" dirty="0"/>
              <a:t> </a:t>
            </a:r>
            <a:r>
              <a:rPr lang="en-US" dirty="0" err="1"/>
              <a:t>probabilitasnya</a:t>
            </a:r>
            <a:r>
              <a:rPr lang="en-US" dirty="0"/>
              <a:t> </a:t>
            </a:r>
            <a:r>
              <a:rPr lang="en-US" dirty="0" err="1"/>
              <a:t>sama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1</a:t>
            </a:r>
          </a:p>
          <a:p>
            <a:endParaRPr lang="en-ID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527744A-25AB-435D-A7C6-5211CAA3CBA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6167" t="50000" r="27917" b="40148"/>
          <a:stretch/>
        </p:blipFill>
        <p:spPr>
          <a:xfrm>
            <a:off x="4512911" y="2877820"/>
            <a:ext cx="3166177" cy="1102360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27548B-0211-41DC-9367-EBF5363B5A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466DE-140D-499D-9784-92D4347A7E3E}" type="slidenum">
              <a:rPr lang="en-ID" smtClean="0"/>
              <a:t>5</a:t>
            </a:fld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6703223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6BC231-048E-4B69-8580-2B151E1729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PROBABILITAS PERISTIWA </a:t>
            </a:r>
            <a:r>
              <a:rPr lang="en-US" i="1" dirty="0"/>
              <a:t>MUTUALLY EXCLUSIVE</a:t>
            </a:r>
            <a:endParaRPr lang="en-ID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F57A3BB-9329-4AE7-BB94-09473540FAC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41413" y="2290127"/>
                <a:ext cx="5025708" cy="3541714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dirty="0"/>
                  <a:t>Kejadian A dan </a:t>
                </a:r>
                <a:r>
                  <a:rPr lang="en-US" dirty="0" err="1"/>
                  <a:t>Kejadian</a:t>
                </a:r>
                <a:r>
                  <a:rPr lang="en-US" dirty="0"/>
                  <a:t> B </a:t>
                </a:r>
                <a:r>
                  <a:rPr lang="en-US" dirty="0" err="1"/>
                  <a:t>dikatakan</a:t>
                </a:r>
                <a:r>
                  <a:rPr lang="en-US" dirty="0"/>
                  <a:t> </a:t>
                </a:r>
                <a:r>
                  <a:rPr lang="en-US" i="1" dirty="0"/>
                  <a:t>mutually exclusive </a:t>
                </a:r>
                <a:r>
                  <a:rPr lang="en-US" dirty="0" err="1"/>
                  <a:t>atau</a:t>
                </a:r>
                <a:r>
                  <a:rPr lang="en-US" dirty="0"/>
                  <a:t> </a:t>
                </a:r>
                <a:r>
                  <a:rPr lang="en-US" dirty="0" err="1"/>
                  <a:t>saling</a:t>
                </a:r>
                <a:r>
                  <a:rPr lang="en-US" dirty="0"/>
                  <a:t> </a:t>
                </a:r>
                <a:r>
                  <a:rPr lang="en-US" dirty="0" err="1"/>
                  <a:t>eksklusif</a:t>
                </a:r>
                <a:r>
                  <a:rPr lang="en-US" dirty="0"/>
                  <a:t>, </a:t>
                </a:r>
                <a:r>
                  <a:rPr lang="en-US" dirty="0" err="1"/>
                  <a:t>apabila</a:t>
                </a:r>
                <a:r>
                  <a:rPr lang="en-US" dirty="0"/>
                  <a:t> </a:t>
                </a:r>
                <a:r>
                  <a:rPr lang="en-US" dirty="0" err="1"/>
                  <a:t>Kejadian</a:t>
                </a:r>
                <a:r>
                  <a:rPr lang="en-US" dirty="0"/>
                  <a:t> A menyebabkan tidak terjadinya Kejadian B, begitu pula sebaliknya. Pada kejadian saling eksklusif, tidak terdapat irisan antara Kejadian A dan Kejadian B 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=∅</m:t>
                    </m:r>
                  </m:oMath>
                </a14:m>
                <a:r>
                  <a:rPr lang="en-ID" dirty="0"/>
                  <a:t>).</a:t>
                </a:r>
              </a:p>
              <a:p>
                <a:endParaRPr lang="en-ID" dirty="0"/>
              </a:p>
              <a:p>
                <a:endParaRPr lang="en-ID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F57A3BB-9329-4AE7-BB94-09473540FAC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41413" y="2290127"/>
                <a:ext cx="5025708" cy="3541714"/>
              </a:xfrm>
              <a:blipFill>
                <a:blip r:embed="rId2"/>
                <a:stretch>
                  <a:fillRect l="-2424" t="-3098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02D5B613-9092-4D64-85FE-467F8A0844E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640"/>
          <a:stretch/>
        </p:blipFill>
        <p:spPr>
          <a:xfrm>
            <a:off x="6882764" y="2560320"/>
            <a:ext cx="4174807" cy="2804160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B6D776-A2CD-468E-B022-A64F864986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466DE-140D-499D-9784-92D4347A7E3E}" type="slidenum">
              <a:rPr lang="en-ID" smtClean="0"/>
              <a:t>6</a:t>
            </a:fld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7315675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339CD0-B8B8-4C60-BE20-A849493C9F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PROBABILITAS PERISTIWA </a:t>
            </a:r>
            <a:r>
              <a:rPr lang="en-US" i="1" dirty="0"/>
              <a:t>NON-MUTUALLY EXCLUSIVE</a:t>
            </a:r>
            <a:endParaRPr lang="en-ID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9A1D0F6-9EF3-4EC3-8EF3-72B9E59B747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41413" y="2397759"/>
                <a:ext cx="3715068" cy="3393441"/>
              </a:xfrm>
            </p:spPr>
            <p:txBody>
              <a:bodyPr>
                <a:normAutofit fontScale="92500"/>
              </a:bodyPr>
              <a:lstStyle/>
              <a:p>
                <a:r>
                  <a:rPr lang="en-US" dirty="0"/>
                  <a:t>Kejadian A dan </a:t>
                </a:r>
                <a:r>
                  <a:rPr lang="en-US" dirty="0" err="1"/>
                  <a:t>Kejadian</a:t>
                </a:r>
                <a:r>
                  <a:rPr lang="en-US" dirty="0"/>
                  <a:t> B </a:t>
                </a:r>
                <a:r>
                  <a:rPr lang="en-US" dirty="0" err="1"/>
                  <a:t>dikatakan</a:t>
                </a:r>
                <a:r>
                  <a:rPr lang="en-US" dirty="0"/>
                  <a:t> </a:t>
                </a:r>
                <a:r>
                  <a:rPr lang="en-US" i="1" dirty="0"/>
                  <a:t>non-mutually exclusive</a:t>
                </a:r>
                <a:r>
                  <a:rPr lang="en-US" dirty="0"/>
                  <a:t> </a:t>
                </a:r>
                <a:r>
                  <a:rPr lang="en-US" dirty="0" err="1"/>
                  <a:t>atau</a:t>
                </a:r>
                <a:r>
                  <a:rPr lang="en-US" dirty="0"/>
                  <a:t> </a:t>
                </a:r>
                <a:r>
                  <a:rPr lang="en-US" dirty="0" err="1"/>
                  <a:t>tidak</a:t>
                </a:r>
                <a:r>
                  <a:rPr lang="en-US" dirty="0"/>
                  <a:t> </a:t>
                </a:r>
                <a:r>
                  <a:rPr lang="en-US" dirty="0" err="1"/>
                  <a:t>saling</a:t>
                </a:r>
                <a:r>
                  <a:rPr lang="en-US" dirty="0"/>
                  <a:t> </a:t>
                </a:r>
                <a:r>
                  <a:rPr lang="en-US" dirty="0" err="1"/>
                  <a:t>eksklusif</a:t>
                </a:r>
                <a:r>
                  <a:rPr lang="en-US" dirty="0"/>
                  <a:t> </a:t>
                </a:r>
                <a:r>
                  <a:rPr lang="en-US" dirty="0" err="1"/>
                  <a:t>apabila</a:t>
                </a:r>
                <a:r>
                  <a:rPr lang="en-US" dirty="0"/>
                  <a:t> </a:t>
                </a:r>
                <a:r>
                  <a:rPr lang="en-US" dirty="0" err="1"/>
                  <a:t>keduanya</a:t>
                </a:r>
                <a:r>
                  <a:rPr lang="en-US" dirty="0"/>
                  <a:t> </a:t>
                </a:r>
                <a:r>
                  <a:rPr lang="en-US" dirty="0" err="1"/>
                  <a:t>dapat</a:t>
                </a:r>
                <a:r>
                  <a:rPr lang="en-US" dirty="0"/>
                  <a:t> </a:t>
                </a:r>
                <a:r>
                  <a:rPr lang="en-US" dirty="0" err="1"/>
                  <a:t>terjadi</a:t>
                </a:r>
                <a:r>
                  <a:rPr lang="en-US" dirty="0"/>
                  <a:t> pada </a:t>
                </a:r>
                <a:r>
                  <a:rPr lang="en-US" dirty="0" err="1"/>
                  <a:t>waktu</a:t>
                </a:r>
                <a:r>
                  <a:rPr lang="en-US" dirty="0"/>
                  <a:t> yang </a:t>
                </a:r>
                <a:r>
                  <a:rPr lang="en-US" dirty="0" err="1"/>
                  <a:t>sama</a:t>
                </a:r>
                <a:r>
                  <a:rPr lang="en-US" dirty="0"/>
                  <a:t> 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≠∅)</m:t>
                    </m:r>
                  </m:oMath>
                </a14:m>
                <a:r>
                  <a:rPr lang="en-ID" dirty="0"/>
                  <a:t>. </a:t>
                </a:r>
                <a:r>
                  <a:rPr lang="en-ID" dirty="0" err="1"/>
                  <a:t>Terdapat</a:t>
                </a:r>
                <a:r>
                  <a:rPr lang="en-ID" dirty="0"/>
                  <a:t> </a:t>
                </a:r>
                <a:r>
                  <a:rPr lang="en-ID" dirty="0" err="1"/>
                  <a:t>irisan</a:t>
                </a:r>
                <a:r>
                  <a:rPr lang="en-ID" dirty="0"/>
                  <a:t> pada </a:t>
                </a:r>
                <a:r>
                  <a:rPr lang="en-ID" dirty="0" err="1"/>
                  <a:t>Kejadian</a:t>
                </a:r>
                <a:r>
                  <a:rPr lang="en-ID" dirty="0"/>
                  <a:t> A dan </a:t>
                </a:r>
                <a:r>
                  <a:rPr lang="en-ID" dirty="0" err="1"/>
                  <a:t>Kejadian</a:t>
                </a:r>
                <a:r>
                  <a:rPr lang="en-ID" dirty="0"/>
                  <a:t> B.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9A1D0F6-9EF3-4EC3-8EF3-72B9E59B747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41413" y="2397759"/>
                <a:ext cx="3715068" cy="3393441"/>
              </a:xfrm>
              <a:blipFill>
                <a:blip r:embed="rId2"/>
                <a:stretch>
                  <a:fillRect l="-2787" t="-1975" b="-539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88E9999B-1101-4DD4-8E1C-E6CEBA9ACE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8000" y="2759210"/>
            <a:ext cx="5619375" cy="2299596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192239-7D60-4D6B-B50E-77D83B3B05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466DE-140D-499D-9784-92D4347A7E3E}" type="slidenum">
              <a:rPr lang="en-ID" smtClean="0"/>
              <a:t>7</a:t>
            </a:fld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508104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339CD0-B8B8-4C60-BE20-A849493C9F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PROBABILITAS PERISTIWA </a:t>
            </a:r>
            <a:r>
              <a:rPr lang="en-US" i="1" dirty="0"/>
              <a:t>NON-MUTUALLY EXCLUSIVE </a:t>
            </a:r>
            <a:r>
              <a:rPr lang="en-US" dirty="0"/>
              <a:t>(SOAL)</a:t>
            </a:r>
            <a:endParaRPr lang="en-ID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3E210A2-AF87-4377-B3D1-CEECCE10B7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8820" y="2635768"/>
            <a:ext cx="7455000" cy="2749031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852BAA3-F152-43C4-B6FC-C7F2AEA02D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466DE-140D-499D-9784-92D4347A7E3E}" type="slidenum">
              <a:rPr lang="en-ID" smtClean="0"/>
              <a:t>8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9198853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339CD0-B8B8-4C60-BE20-A849493C9F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PROBABILITAS PERISTIWA </a:t>
            </a:r>
            <a:r>
              <a:rPr lang="en-US" i="1" dirty="0"/>
              <a:t>NON-MUTUALLY EXCLUSIVE </a:t>
            </a:r>
            <a:r>
              <a:rPr lang="en-US" dirty="0"/>
              <a:t>(SOAL)</a:t>
            </a:r>
            <a:endParaRPr lang="en-ID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852BAA3-F152-43C4-B6FC-C7F2AEA02D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466DE-140D-499D-9784-92D4347A7E3E}" type="slidenum">
              <a:rPr lang="en-ID" smtClean="0"/>
              <a:t>9</a:t>
            </a:fld>
            <a:endParaRPr lang="en-ID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A7918DC5-3EEB-4507-9AA5-618800EB3E1E}"/>
              </a:ext>
            </a:extLst>
          </p:cNvPr>
          <p:cNvGrpSpPr/>
          <p:nvPr/>
        </p:nvGrpSpPr>
        <p:grpSpPr>
          <a:xfrm>
            <a:off x="3210560" y="2425700"/>
            <a:ext cx="5770880" cy="3457574"/>
            <a:chOff x="0" y="0"/>
            <a:chExt cx="3352800" cy="200660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961E43F4-B855-4A10-9A99-4876896B733D}"/>
                </a:ext>
              </a:extLst>
            </p:cNvPr>
            <p:cNvSpPr/>
            <p:nvPr/>
          </p:nvSpPr>
          <p:spPr>
            <a:xfrm>
              <a:off x="0" y="0"/>
              <a:ext cx="3352800" cy="2006600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ID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F019F121-558C-456F-9E85-08DBBF3F207B}"/>
                </a:ext>
              </a:extLst>
            </p:cNvPr>
            <p:cNvSpPr/>
            <p:nvPr/>
          </p:nvSpPr>
          <p:spPr>
            <a:xfrm>
              <a:off x="654050" y="438150"/>
              <a:ext cx="1181100" cy="1117600"/>
            </a:xfrm>
            <a:prstGeom prst="ellips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ID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8CD35132-184D-457C-995F-35C7301B8EDE}"/>
                </a:ext>
              </a:extLst>
            </p:cNvPr>
            <p:cNvSpPr/>
            <p:nvPr/>
          </p:nvSpPr>
          <p:spPr>
            <a:xfrm>
              <a:off x="1530350" y="438150"/>
              <a:ext cx="1181100" cy="1117600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ID"/>
            </a:p>
          </p:txBody>
        </p:sp>
        <p:sp>
          <p:nvSpPr>
            <p:cNvPr id="10" name="Text Box 2">
              <a:extLst>
                <a:ext uri="{FF2B5EF4-FFF2-40B4-BE49-F238E27FC236}">
                  <a16:creationId xmlns:a16="http://schemas.microsoft.com/office/drawing/2014/main" id="{57C72730-6D52-4774-BD01-73B8BA6AA83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85850" y="165100"/>
              <a:ext cx="279400" cy="266700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ID" sz="110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11" name="Text Box 2">
              <a:extLst>
                <a:ext uri="{FF2B5EF4-FFF2-40B4-BE49-F238E27FC236}">
                  <a16:creationId xmlns:a16="http://schemas.microsoft.com/office/drawing/2014/main" id="{66DC0F30-0A7A-475B-9855-9EB9D67E106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87550" y="152400"/>
              <a:ext cx="279400" cy="266700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ID" sz="110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B</a:t>
              </a: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147F60D5-7851-4CCA-8E18-46400B5B7515}"/>
              </a:ext>
            </a:extLst>
          </p:cNvPr>
          <p:cNvSpPr txBox="1"/>
          <p:nvPr/>
        </p:nvSpPr>
        <p:spPr>
          <a:xfrm>
            <a:off x="5164992" y="2772901"/>
            <a:ext cx="343364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A</a:t>
            </a:r>
            <a:endParaRPr lang="en-ID" b="1"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078F971-15DA-4A06-BB6A-11000D76BBC1}"/>
              </a:ext>
            </a:extLst>
          </p:cNvPr>
          <p:cNvSpPr txBox="1"/>
          <p:nvPr/>
        </p:nvSpPr>
        <p:spPr>
          <a:xfrm>
            <a:off x="6689397" y="2772901"/>
            <a:ext cx="306494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B</a:t>
            </a:r>
            <a:endParaRPr lang="en-ID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85422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BD3215-9952-468B-94CB-E204AED425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PROBABILITAS PERISTIWA INDEPENDEN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D326F5-4D19-423A-AE05-BBE9760C93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Dua</a:t>
            </a:r>
            <a:r>
              <a:rPr lang="en-US" dirty="0"/>
              <a:t> </a:t>
            </a:r>
            <a:r>
              <a:rPr lang="en-US" dirty="0" err="1"/>
              <a:t>kejadian</a:t>
            </a:r>
            <a:r>
              <a:rPr lang="en-US" dirty="0"/>
              <a:t> </a:t>
            </a:r>
            <a:r>
              <a:rPr lang="en-US" dirty="0" err="1"/>
              <a:t>dikatakan</a:t>
            </a:r>
            <a:r>
              <a:rPr lang="en-US" dirty="0"/>
              <a:t> </a:t>
            </a:r>
            <a:r>
              <a:rPr lang="en-US" dirty="0" err="1"/>
              <a:t>saling</a:t>
            </a:r>
            <a:r>
              <a:rPr lang="en-US" dirty="0"/>
              <a:t> </a:t>
            </a:r>
            <a:r>
              <a:rPr lang="en-US" dirty="0" err="1"/>
              <a:t>bebas</a:t>
            </a:r>
            <a:r>
              <a:rPr lang="en-US" dirty="0"/>
              <a:t> </a:t>
            </a:r>
            <a:r>
              <a:rPr lang="en-US" dirty="0" err="1"/>
              <a:t>atau</a:t>
            </a:r>
            <a:r>
              <a:rPr lang="en-US" dirty="0"/>
              <a:t> independent </a:t>
            </a:r>
            <a:r>
              <a:rPr lang="en-US" dirty="0" err="1"/>
              <a:t>jika</a:t>
            </a:r>
            <a:r>
              <a:rPr lang="en-US" dirty="0"/>
              <a:t> </a:t>
            </a:r>
            <a:r>
              <a:rPr lang="en-US" dirty="0" err="1"/>
              <a:t>terjadinya</a:t>
            </a:r>
            <a:r>
              <a:rPr lang="en-US" dirty="0"/>
              <a:t>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terjadinya</a:t>
            </a:r>
            <a:r>
              <a:rPr lang="en-US" dirty="0"/>
              <a:t> </a:t>
            </a:r>
            <a:r>
              <a:rPr lang="en-US" dirty="0" err="1"/>
              <a:t>peristiwa</a:t>
            </a:r>
            <a:r>
              <a:rPr lang="en-US" dirty="0"/>
              <a:t> yang </a:t>
            </a:r>
            <a:r>
              <a:rPr lang="en-US" dirty="0" err="1"/>
              <a:t>satu</a:t>
            </a:r>
            <a:r>
              <a:rPr lang="en-US" dirty="0"/>
              <a:t>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mempengaruhi</a:t>
            </a:r>
            <a:r>
              <a:rPr lang="en-US" dirty="0"/>
              <a:t>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dipengaruhi</a:t>
            </a:r>
            <a:r>
              <a:rPr lang="en-US" dirty="0"/>
              <a:t> oleh </a:t>
            </a:r>
            <a:r>
              <a:rPr lang="en-US" dirty="0" err="1"/>
              <a:t>lainnya</a:t>
            </a:r>
            <a:r>
              <a:rPr lang="en-US" dirty="0"/>
              <a:t> (</a:t>
            </a:r>
            <a:r>
              <a:rPr lang="en-US" dirty="0" err="1"/>
              <a:t>Sudjana</a:t>
            </a:r>
            <a:r>
              <a:rPr lang="en-US" dirty="0"/>
              <a:t>, 2004)</a:t>
            </a:r>
          </a:p>
          <a:p>
            <a:r>
              <a:rPr lang="en-US" dirty="0" err="1"/>
              <a:t>Kejadian</a:t>
            </a:r>
            <a:r>
              <a:rPr lang="en-US" dirty="0"/>
              <a:t> A dan B </a:t>
            </a:r>
            <a:r>
              <a:rPr lang="en-US" dirty="0" err="1"/>
              <a:t>dikatakan</a:t>
            </a:r>
            <a:r>
              <a:rPr lang="en-US" dirty="0"/>
              <a:t> independent </a:t>
            </a:r>
            <a:r>
              <a:rPr lang="en-US" dirty="0" err="1"/>
              <a:t>jika</a:t>
            </a:r>
            <a:r>
              <a:rPr lang="en-US" dirty="0"/>
              <a:t>:</a:t>
            </a:r>
          </a:p>
          <a:p>
            <a:pPr marL="0" indent="0">
              <a:buNone/>
            </a:pPr>
            <a:endParaRPr lang="en-ID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D91C14-7522-4CCE-AA7E-0A023603EEC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5084" t="42519" r="27333" b="50000"/>
          <a:stretch/>
        </p:blipFill>
        <p:spPr>
          <a:xfrm>
            <a:off x="4482873" y="4632960"/>
            <a:ext cx="3226253" cy="772160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6A62DA-4597-410B-8A0E-E24F1A04C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466DE-140D-499D-9784-92D4347A7E3E}" type="slidenum">
              <a:rPr lang="en-ID" smtClean="0"/>
              <a:t>10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586781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41EEDC-C03A-4F90-A64B-61C9101511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PROBABILITAS PERISTIWA DEPENDEN</a:t>
            </a:r>
            <a:endParaRPr lang="en-ID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2C62CA-1F83-4842-BB33-9753A925A58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Dua </a:t>
                </a:r>
                <a:r>
                  <a:rPr lang="en-US" dirty="0" err="1"/>
                  <a:t>kejadian</a:t>
                </a:r>
                <a:r>
                  <a:rPr lang="en-US" dirty="0"/>
                  <a:t> yang </a:t>
                </a:r>
                <a:r>
                  <a:rPr lang="en-US" dirty="0" err="1"/>
                  <a:t>terjadi</a:t>
                </a:r>
                <a:r>
                  <a:rPr lang="en-US" dirty="0"/>
                  <a:t> </a:t>
                </a:r>
                <a:r>
                  <a:rPr lang="en-US" dirty="0" err="1"/>
                  <a:t>berurutan</a:t>
                </a:r>
                <a:r>
                  <a:rPr lang="en-US" dirty="0"/>
                  <a:t> </a:t>
                </a:r>
                <a:r>
                  <a:rPr lang="en-US" dirty="0" err="1"/>
                  <a:t>dikatakan</a:t>
                </a:r>
                <a:r>
                  <a:rPr lang="en-US" dirty="0"/>
                  <a:t> dependent (</a:t>
                </a:r>
                <a:r>
                  <a:rPr lang="en-US" dirty="0" err="1"/>
                  <a:t>kejadian</a:t>
                </a:r>
                <a:r>
                  <a:rPr lang="en-US" dirty="0"/>
                  <a:t> </a:t>
                </a:r>
                <a:r>
                  <a:rPr lang="en-US" dirty="0" err="1"/>
                  <a:t>bersyarat</a:t>
                </a:r>
                <a:r>
                  <a:rPr lang="en-US" dirty="0"/>
                  <a:t>) </a:t>
                </a:r>
                <a:r>
                  <a:rPr lang="en-US" dirty="0" err="1"/>
                  <a:t>apabila</a:t>
                </a:r>
                <a:r>
                  <a:rPr lang="en-US" dirty="0"/>
                  <a:t> </a:t>
                </a:r>
                <a:r>
                  <a:rPr lang="en-US" dirty="0" err="1"/>
                  <a:t>terjadinya</a:t>
                </a:r>
                <a:r>
                  <a:rPr lang="en-US" dirty="0"/>
                  <a:t> </a:t>
                </a:r>
                <a:r>
                  <a:rPr lang="en-US" dirty="0" err="1"/>
                  <a:t>kejadian</a:t>
                </a:r>
                <a:r>
                  <a:rPr lang="en-US" dirty="0"/>
                  <a:t> </a:t>
                </a:r>
                <a:r>
                  <a:rPr lang="en-US" dirty="0" err="1"/>
                  <a:t>pertama</a:t>
                </a:r>
                <a:r>
                  <a:rPr lang="en-US" dirty="0"/>
                  <a:t> </a:t>
                </a:r>
                <a:r>
                  <a:rPr lang="en-US" dirty="0" err="1"/>
                  <a:t>mempengaruhi</a:t>
                </a:r>
                <a:r>
                  <a:rPr lang="en-US" dirty="0"/>
                  <a:t> </a:t>
                </a:r>
                <a:r>
                  <a:rPr lang="en-US" dirty="0" err="1"/>
                  <a:t>kejadian</a:t>
                </a:r>
                <a:r>
                  <a:rPr lang="en-US" dirty="0"/>
                  <a:t> </a:t>
                </a:r>
                <a:r>
                  <a:rPr lang="en-US" dirty="0" err="1"/>
                  <a:t>kedua</a:t>
                </a:r>
                <a:r>
                  <a:rPr lang="en-US" dirty="0"/>
                  <a:t>. Jika </a:t>
                </a:r>
                <a:r>
                  <a:rPr lang="en-US" dirty="0" err="1"/>
                  <a:t>terjadinya</a:t>
                </a:r>
                <a:r>
                  <a:rPr lang="en-US" dirty="0"/>
                  <a:t> </a:t>
                </a:r>
                <a:r>
                  <a:rPr lang="en-US" dirty="0" err="1"/>
                  <a:t>Kejadian</a:t>
                </a:r>
                <a:r>
                  <a:rPr lang="en-US" dirty="0"/>
                  <a:t> A </a:t>
                </a:r>
                <a:r>
                  <a:rPr lang="en-US" dirty="0" err="1"/>
                  <a:t>mempengaruhi</a:t>
                </a:r>
                <a:r>
                  <a:rPr lang="en-US" dirty="0"/>
                  <a:t> </a:t>
                </a:r>
                <a:r>
                  <a:rPr lang="en-US" dirty="0" err="1"/>
                  <a:t>kejadian</a:t>
                </a:r>
                <a:r>
                  <a:rPr lang="en-US" dirty="0"/>
                  <a:t> B, </a:t>
                </a:r>
                <a:r>
                  <a:rPr lang="en-US" dirty="0" err="1"/>
                  <a:t>maka</a:t>
                </a:r>
                <a:r>
                  <a:rPr lang="en-US" dirty="0"/>
                  <a:t> </a:t>
                </a:r>
                <a:r>
                  <a:rPr lang="en-US" dirty="0" err="1"/>
                  <a:t>probabilitas</a:t>
                </a:r>
                <a:r>
                  <a:rPr lang="en-US" dirty="0"/>
                  <a:t> </a:t>
                </a:r>
                <a:r>
                  <a:rPr lang="en-US" dirty="0" err="1"/>
                  <a:t>Kejadian</a:t>
                </a:r>
                <a:r>
                  <a:rPr lang="en-US" dirty="0"/>
                  <a:t> B 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ID" dirty="0"/>
                  <a:t>) </a:t>
                </a:r>
                <a:r>
                  <a:rPr lang="en-ID" dirty="0" err="1"/>
                  <a:t>adalah</a:t>
                </a:r>
                <a:r>
                  <a:rPr lang="en-ID" dirty="0"/>
                  <a:t>:</a:t>
                </a:r>
              </a:p>
              <a:p>
                <a:pPr marL="0" indent="0">
                  <a:buNone/>
                </a:pPr>
                <a:endParaRPr lang="en-ID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2C62CA-1F83-4842-BB33-9753A925A58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31" t="-2238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E46D010E-F9F3-4BEB-89CA-F926B84B702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6250" t="59703" r="28083" b="32000"/>
          <a:stretch/>
        </p:blipFill>
        <p:spPr>
          <a:xfrm>
            <a:off x="4561114" y="4612640"/>
            <a:ext cx="3069771" cy="914400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845771-BFCC-4323-8F76-79E6660C4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466DE-140D-499D-9784-92D4347A7E3E}" type="slidenum">
              <a:rPr lang="en-ID" smtClean="0"/>
              <a:t>11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9446377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892755-E3C6-4912-A292-B2E62BCB56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ATURAN BAYES</a:t>
            </a:r>
            <a:endParaRPr lang="en-ID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34B8198-CC77-4151-B8F4-1504B0697A0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43000" y="2249487"/>
                <a:ext cx="9905999" cy="3541714"/>
              </a:xfrm>
            </p:spPr>
            <p:txBody>
              <a:bodyPr/>
              <a:lstStyle/>
              <a:p>
                <a:r>
                  <a:rPr lang="en-US" dirty="0"/>
                  <a:t>Jika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…,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ID" dirty="0"/>
                  <a:t> </a:t>
                </a:r>
                <a:r>
                  <a:rPr lang="en-ID" dirty="0" err="1"/>
                  <a:t>merupakan</a:t>
                </a:r>
                <a:r>
                  <a:rPr lang="en-ID" dirty="0"/>
                  <a:t> </a:t>
                </a:r>
                <a:r>
                  <a:rPr lang="en-ID" dirty="0" err="1"/>
                  <a:t>himpunan</a:t>
                </a:r>
                <a:r>
                  <a:rPr lang="en-ID" dirty="0"/>
                  <a:t> </a:t>
                </a:r>
                <a:r>
                  <a:rPr lang="en-ID" dirty="0" err="1"/>
                  <a:t>kejadian</a:t>
                </a:r>
                <a:r>
                  <a:rPr lang="en-ID" dirty="0"/>
                  <a:t> yang </a:t>
                </a:r>
                <a:r>
                  <a:rPr lang="en-ID" dirty="0" err="1"/>
                  <a:t>merupakan</a:t>
                </a:r>
                <a:r>
                  <a:rPr lang="en-ID" dirty="0"/>
                  <a:t> </a:t>
                </a:r>
                <a:r>
                  <a:rPr lang="en-ID" dirty="0" err="1"/>
                  <a:t>sekatan</a:t>
                </a:r>
                <a:r>
                  <a:rPr lang="en-ID" dirty="0"/>
                  <a:t> </a:t>
                </a:r>
                <a:r>
                  <a:rPr lang="en-ID" dirty="0" err="1"/>
                  <a:t>dari</a:t>
                </a:r>
                <a:r>
                  <a:rPr lang="en-ID" dirty="0"/>
                  <a:t> </a:t>
                </a:r>
                <a:r>
                  <a:rPr lang="en-ID" dirty="0" err="1"/>
                  <a:t>ruang</a:t>
                </a:r>
                <a:r>
                  <a:rPr lang="en-ID" dirty="0"/>
                  <a:t> </a:t>
                </a:r>
                <a:r>
                  <a:rPr lang="en-ID" dirty="0" err="1"/>
                  <a:t>sampel</a:t>
                </a:r>
                <a:r>
                  <a:rPr lang="en-ID" dirty="0"/>
                  <a:t> S, dan A </a:t>
                </a:r>
                <a:r>
                  <a:rPr lang="en-ID" dirty="0" err="1"/>
                  <a:t>adalah</a:t>
                </a:r>
                <a:r>
                  <a:rPr lang="en-ID" dirty="0"/>
                  <a:t> </a:t>
                </a:r>
                <a:r>
                  <a:rPr lang="en-ID" dirty="0" err="1"/>
                  <a:t>elemen</a:t>
                </a:r>
                <a:r>
                  <a:rPr lang="en-ID" dirty="0"/>
                  <a:t> </a:t>
                </a:r>
                <a:r>
                  <a:rPr lang="en-ID" dirty="0" err="1"/>
                  <a:t>dari</a:t>
                </a:r>
                <a:r>
                  <a:rPr lang="en-ID" dirty="0"/>
                  <a:t> </a:t>
                </a:r>
                <a:r>
                  <a:rPr lang="en-ID" dirty="0" err="1"/>
                  <a:t>ruang</a:t>
                </a:r>
                <a:r>
                  <a:rPr lang="en-ID" dirty="0"/>
                  <a:t> </a:t>
                </a:r>
                <a:r>
                  <a:rPr lang="en-ID" dirty="0" err="1"/>
                  <a:t>sampel</a:t>
                </a:r>
                <a:r>
                  <a:rPr lang="en-ID" dirty="0"/>
                  <a:t> S, </a:t>
                </a:r>
                <a:r>
                  <a:rPr lang="en-ID" dirty="0" err="1"/>
                  <a:t>maka</a:t>
                </a:r>
                <a:r>
                  <a:rPr lang="en-ID" dirty="0"/>
                  <a:t> </a:t>
                </a:r>
                <a:r>
                  <a:rPr lang="en-ID" dirty="0" err="1"/>
                  <a:t>nilai</a:t>
                </a:r>
                <a:r>
                  <a:rPr lang="en-ID" dirty="0"/>
                  <a:t> </a:t>
                </a:r>
                <a:r>
                  <a:rPr lang="en-ID" dirty="0" err="1"/>
                  <a:t>dari</a:t>
                </a:r>
                <a:r>
                  <a:rPr lang="en-ID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</m:oMath>
                </a14:m>
                <a:r>
                  <a:rPr lang="en-ID" dirty="0"/>
                  <a:t> adalah: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34B8198-CC77-4151-B8F4-1504B0697A0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43000" y="2249487"/>
                <a:ext cx="9905999" cy="3541714"/>
              </a:xfrm>
              <a:blipFill>
                <a:blip r:embed="rId2"/>
                <a:stretch>
                  <a:fillRect l="-1293" t="-2238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525DECA8-B590-4DDA-9171-C2821E03631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0583" t="51111" r="22584" b="37779"/>
          <a:stretch/>
        </p:blipFill>
        <p:spPr>
          <a:xfrm>
            <a:off x="3738918" y="4175760"/>
            <a:ext cx="4710988" cy="1097280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1287B1-13AE-459A-BA17-069212A82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466DE-140D-499D-9784-92D4347A7E3E}" type="slidenum">
              <a:rPr lang="en-ID" smtClean="0"/>
              <a:t>12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8748258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E0A075-526F-44CD-851F-636240690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Variabel</a:t>
            </a:r>
            <a:r>
              <a:rPr lang="en-US" dirty="0"/>
              <a:t> </a:t>
            </a:r>
            <a:r>
              <a:rPr lang="en-US" dirty="0" err="1"/>
              <a:t>acak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C6E8B2-E5D1-4AF3-B5CF-DFF6835BBE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Variabel</a:t>
            </a:r>
            <a:r>
              <a:rPr lang="en-US" dirty="0"/>
              <a:t> </a:t>
            </a:r>
            <a:r>
              <a:rPr lang="en-US" dirty="0" err="1"/>
              <a:t>acak</a:t>
            </a:r>
            <a:r>
              <a:rPr lang="en-US" dirty="0"/>
              <a:t> (random variable) </a:t>
            </a:r>
            <a:r>
              <a:rPr lang="en-US" dirty="0" err="1"/>
              <a:t>adalah</a:t>
            </a:r>
            <a:r>
              <a:rPr lang="en-US" dirty="0"/>
              <a:t> </a:t>
            </a:r>
            <a:r>
              <a:rPr lang="en-US" dirty="0" err="1"/>
              <a:t>fungsi</a:t>
            </a:r>
            <a:r>
              <a:rPr lang="en-US" dirty="0"/>
              <a:t> </a:t>
            </a:r>
            <a:r>
              <a:rPr lang="en-US" dirty="0" err="1"/>
              <a:t>bernilai</a:t>
            </a:r>
            <a:r>
              <a:rPr lang="en-US" dirty="0"/>
              <a:t> real yang </a:t>
            </a:r>
            <a:r>
              <a:rPr lang="en-US" dirty="0" err="1"/>
              <a:t>harganya</a:t>
            </a:r>
            <a:r>
              <a:rPr lang="en-US" dirty="0"/>
              <a:t> </a:t>
            </a:r>
            <a:r>
              <a:rPr lang="en-US" dirty="0" err="1"/>
              <a:t>ditentukan</a:t>
            </a:r>
            <a:r>
              <a:rPr lang="en-US" dirty="0"/>
              <a:t> oleh </a:t>
            </a:r>
            <a:r>
              <a:rPr lang="en-US" dirty="0" err="1"/>
              <a:t>tiap-tiap</a:t>
            </a:r>
            <a:r>
              <a:rPr lang="en-US" dirty="0"/>
              <a:t> </a:t>
            </a:r>
            <a:r>
              <a:rPr lang="en-US" dirty="0" err="1"/>
              <a:t>anggota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ruang</a:t>
            </a:r>
            <a:r>
              <a:rPr lang="en-US" dirty="0"/>
              <a:t> </a:t>
            </a:r>
            <a:r>
              <a:rPr lang="en-US" dirty="0" err="1"/>
              <a:t>sampel</a:t>
            </a:r>
            <a:r>
              <a:rPr lang="en-US" dirty="0"/>
              <a:t>.</a:t>
            </a:r>
          </a:p>
          <a:p>
            <a:r>
              <a:rPr lang="en-US" dirty="0" err="1"/>
              <a:t>Variabel</a:t>
            </a:r>
            <a:r>
              <a:rPr lang="en-US" dirty="0"/>
              <a:t> </a:t>
            </a:r>
            <a:r>
              <a:rPr lang="en-US" dirty="0" err="1"/>
              <a:t>acak</a:t>
            </a:r>
            <a:r>
              <a:rPr lang="en-US" dirty="0"/>
              <a:t> </a:t>
            </a:r>
            <a:r>
              <a:rPr lang="en-US" dirty="0" err="1"/>
              <a:t>ada</a:t>
            </a:r>
            <a:r>
              <a:rPr lang="en-US" dirty="0"/>
              <a:t> 2 </a:t>
            </a:r>
            <a:r>
              <a:rPr lang="en-US" dirty="0" err="1"/>
              <a:t>jenis</a:t>
            </a:r>
            <a:r>
              <a:rPr lang="en-US" dirty="0"/>
              <a:t>, </a:t>
            </a:r>
            <a:r>
              <a:rPr lang="en-US" dirty="0" err="1"/>
              <a:t>yaitu</a:t>
            </a:r>
            <a:r>
              <a:rPr lang="en-US" dirty="0"/>
              <a:t> variable </a:t>
            </a:r>
            <a:r>
              <a:rPr lang="en-US" dirty="0" err="1"/>
              <a:t>acak</a:t>
            </a:r>
            <a:r>
              <a:rPr lang="en-US" dirty="0"/>
              <a:t> </a:t>
            </a:r>
            <a:r>
              <a:rPr lang="en-US" dirty="0" err="1"/>
              <a:t>kontinyu</a:t>
            </a:r>
            <a:r>
              <a:rPr lang="en-US" dirty="0"/>
              <a:t> dan variable </a:t>
            </a:r>
            <a:r>
              <a:rPr lang="en-US" dirty="0" err="1"/>
              <a:t>acak</a:t>
            </a:r>
            <a:r>
              <a:rPr lang="en-US" dirty="0"/>
              <a:t> </a:t>
            </a:r>
            <a:r>
              <a:rPr lang="en-US" dirty="0" err="1"/>
              <a:t>diskrit</a:t>
            </a:r>
            <a:r>
              <a:rPr lang="en-US" dirty="0"/>
              <a:t>.</a:t>
            </a:r>
          </a:p>
          <a:p>
            <a:r>
              <a:rPr lang="en-US" dirty="0" err="1"/>
              <a:t>Contoh</a:t>
            </a:r>
            <a:r>
              <a:rPr lang="en-US" dirty="0"/>
              <a:t>: Bila 1 </a:t>
            </a:r>
            <a:r>
              <a:rPr lang="en-US" dirty="0" err="1"/>
              <a:t>mata</a:t>
            </a:r>
            <a:r>
              <a:rPr lang="en-US" dirty="0"/>
              <a:t> uang </a:t>
            </a:r>
            <a:r>
              <a:rPr lang="en-US" dirty="0" err="1"/>
              <a:t>dilempar</a:t>
            </a:r>
            <a:r>
              <a:rPr lang="en-US" dirty="0"/>
              <a:t> 3 kali dan </a:t>
            </a:r>
            <a:r>
              <a:rPr lang="en-US" dirty="0" err="1"/>
              <a:t>variabel</a:t>
            </a:r>
            <a:r>
              <a:rPr lang="en-US" dirty="0"/>
              <a:t> </a:t>
            </a:r>
            <a:r>
              <a:rPr lang="en-US" dirty="0" err="1"/>
              <a:t>acak</a:t>
            </a:r>
            <a:r>
              <a:rPr lang="en-US" dirty="0"/>
              <a:t> X </a:t>
            </a:r>
            <a:r>
              <a:rPr lang="en-US" dirty="0" err="1"/>
              <a:t>menyatakan</a:t>
            </a:r>
            <a:r>
              <a:rPr lang="en-US" dirty="0"/>
              <a:t> </a:t>
            </a:r>
            <a:r>
              <a:rPr lang="en-US" dirty="0" err="1"/>
              <a:t>banyaknya</a:t>
            </a:r>
            <a:r>
              <a:rPr lang="en-US" dirty="0"/>
              <a:t> </a:t>
            </a:r>
            <a:r>
              <a:rPr lang="en-US" dirty="0" err="1"/>
              <a:t>angka</a:t>
            </a:r>
            <a:r>
              <a:rPr lang="en-US" dirty="0"/>
              <a:t> yang </a:t>
            </a:r>
            <a:r>
              <a:rPr lang="en-US" dirty="0" err="1"/>
              <a:t>muncul</a:t>
            </a:r>
            <a:r>
              <a:rPr lang="en-US" dirty="0"/>
              <a:t>, </a:t>
            </a:r>
            <a:r>
              <a:rPr lang="en-US" dirty="0" err="1"/>
              <a:t>maka</a:t>
            </a:r>
            <a:r>
              <a:rPr lang="en-US" dirty="0"/>
              <a:t> x yang </a:t>
            </a:r>
            <a:r>
              <a:rPr lang="en-US" dirty="0" err="1"/>
              <a:t>menyatakan</a:t>
            </a:r>
            <a:r>
              <a:rPr lang="en-US" dirty="0"/>
              <a:t> </a:t>
            </a:r>
            <a:r>
              <a:rPr lang="en-US" dirty="0" err="1"/>
              <a:t>nilai</a:t>
            </a:r>
            <a:r>
              <a:rPr lang="en-US" dirty="0"/>
              <a:t> X yang </a:t>
            </a:r>
            <a:r>
              <a:rPr lang="en-US" dirty="0" err="1"/>
              <a:t>mungkin</a:t>
            </a:r>
            <a:r>
              <a:rPr lang="en-US" dirty="0"/>
              <a:t> </a:t>
            </a:r>
            <a:r>
              <a:rPr lang="en-US" dirty="0" err="1"/>
              <a:t>memiliki</a:t>
            </a:r>
            <a:r>
              <a:rPr lang="en-US" dirty="0"/>
              <a:t> </a:t>
            </a:r>
            <a:r>
              <a:rPr lang="en-US" dirty="0" err="1"/>
              <a:t>harga</a:t>
            </a:r>
            <a:r>
              <a:rPr lang="en-US" dirty="0"/>
              <a:t> 0, 1, 2, </a:t>
            </a:r>
            <a:r>
              <a:rPr lang="en-US" dirty="0" err="1"/>
              <a:t>atau</a:t>
            </a:r>
            <a:r>
              <a:rPr lang="en-US" dirty="0"/>
              <a:t> 3.</a:t>
            </a:r>
          </a:p>
          <a:p>
            <a:pPr marL="0" indent="0">
              <a:buNone/>
            </a:pPr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8E0895-39AF-4761-8CE3-FC3F2C593F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466DE-140D-499D-9784-92D4347A7E3E}" type="slidenum">
              <a:rPr lang="en-ID" smtClean="0"/>
              <a:t>13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5045523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F252B0-18C7-4D3F-89CA-085592BAB3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VARIABEL ACAK DISKRIT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64FFE8-B946-455A-8C79-44AE16D916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err="1"/>
              <a:t>Variabel</a:t>
            </a:r>
            <a:r>
              <a:rPr lang="en-US" dirty="0"/>
              <a:t> </a:t>
            </a:r>
            <a:r>
              <a:rPr lang="en-US" dirty="0" err="1"/>
              <a:t>acak</a:t>
            </a:r>
            <a:r>
              <a:rPr lang="en-US" dirty="0"/>
              <a:t> </a:t>
            </a:r>
            <a:r>
              <a:rPr lang="en-US" dirty="0" err="1"/>
              <a:t>diskrit</a:t>
            </a:r>
            <a:r>
              <a:rPr lang="en-US" dirty="0"/>
              <a:t> </a:t>
            </a:r>
            <a:r>
              <a:rPr lang="en-US" dirty="0" err="1"/>
              <a:t>adalah</a:t>
            </a:r>
            <a:r>
              <a:rPr lang="en-US" dirty="0"/>
              <a:t> variable </a:t>
            </a:r>
            <a:r>
              <a:rPr lang="en-US" dirty="0" err="1"/>
              <a:t>acak</a:t>
            </a:r>
            <a:r>
              <a:rPr lang="en-US" dirty="0"/>
              <a:t> yang </a:t>
            </a:r>
            <a:r>
              <a:rPr lang="en-US" dirty="0" err="1"/>
              <a:t>terdiri</a:t>
            </a:r>
            <a:r>
              <a:rPr lang="en-US" dirty="0"/>
              <a:t> </a:t>
            </a:r>
            <a:r>
              <a:rPr lang="en-US" dirty="0" err="1"/>
              <a:t>atas</a:t>
            </a:r>
            <a:r>
              <a:rPr lang="en-US" dirty="0"/>
              <a:t> </a:t>
            </a:r>
            <a:r>
              <a:rPr lang="en-US" dirty="0" err="1"/>
              <a:t>bilangan</a:t>
            </a:r>
            <a:r>
              <a:rPr lang="en-US" dirty="0"/>
              <a:t> </a:t>
            </a:r>
            <a:r>
              <a:rPr lang="en-US" dirty="0" err="1"/>
              <a:t>bulat</a:t>
            </a:r>
            <a:r>
              <a:rPr lang="en-US" dirty="0"/>
              <a:t> dan </a:t>
            </a:r>
            <a:r>
              <a:rPr lang="en-US" dirty="0" err="1"/>
              <a:t>merupakan</a:t>
            </a:r>
            <a:r>
              <a:rPr lang="en-US" dirty="0"/>
              <a:t> </a:t>
            </a:r>
            <a:r>
              <a:rPr lang="en-US" dirty="0" err="1"/>
              <a:t>hasil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pencacahan</a:t>
            </a:r>
            <a:r>
              <a:rPr lang="en-US" dirty="0"/>
              <a:t>.</a:t>
            </a:r>
          </a:p>
          <a:p>
            <a:r>
              <a:rPr lang="en-ID" dirty="0"/>
              <a:t>Ruang </a:t>
            </a:r>
            <a:r>
              <a:rPr lang="en-ID" dirty="0" err="1"/>
              <a:t>sampel</a:t>
            </a:r>
            <a:r>
              <a:rPr lang="en-ID" dirty="0"/>
              <a:t> </a:t>
            </a:r>
            <a:r>
              <a:rPr lang="en-ID" dirty="0" err="1"/>
              <a:t>adalah</a:t>
            </a:r>
            <a:r>
              <a:rPr lang="en-ID" dirty="0"/>
              <a:t> </a:t>
            </a:r>
            <a:r>
              <a:rPr lang="en-ID" dirty="0" err="1"/>
              <a:t>kumpulan</a:t>
            </a:r>
            <a:r>
              <a:rPr lang="en-ID" dirty="0"/>
              <a:t> </a:t>
            </a:r>
            <a:r>
              <a:rPr lang="en-ID" dirty="0" err="1"/>
              <a:t>seluruh</a:t>
            </a:r>
            <a:r>
              <a:rPr lang="en-ID" dirty="0"/>
              <a:t> </a:t>
            </a:r>
            <a:r>
              <a:rPr lang="en-ID" dirty="0" err="1"/>
              <a:t>titik</a:t>
            </a:r>
            <a:r>
              <a:rPr lang="en-ID" dirty="0"/>
              <a:t> </a:t>
            </a:r>
            <a:r>
              <a:rPr lang="en-ID" dirty="0" err="1"/>
              <a:t>sampel</a:t>
            </a:r>
            <a:r>
              <a:rPr lang="en-ID" dirty="0"/>
              <a:t>. </a:t>
            </a:r>
            <a:r>
              <a:rPr lang="en-ID" dirty="0" err="1"/>
              <a:t>Apabila</a:t>
            </a:r>
            <a:r>
              <a:rPr lang="en-ID" dirty="0"/>
              <a:t> </a:t>
            </a:r>
            <a:r>
              <a:rPr lang="en-ID" dirty="0" err="1"/>
              <a:t>suatu</a:t>
            </a:r>
            <a:r>
              <a:rPr lang="en-ID" dirty="0"/>
              <a:t> </a:t>
            </a:r>
            <a:r>
              <a:rPr lang="en-ID" dirty="0" err="1"/>
              <a:t>ruang</a:t>
            </a:r>
            <a:r>
              <a:rPr lang="en-ID" dirty="0"/>
              <a:t> </a:t>
            </a:r>
            <a:r>
              <a:rPr lang="en-ID" dirty="0" err="1"/>
              <a:t>sampel</a:t>
            </a:r>
            <a:r>
              <a:rPr lang="en-ID" dirty="0"/>
              <a:t> </a:t>
            </a:r>
            <a:r>
              <a:rPr lang="en-ID" dirty="0" err="1"/>
              <a:t>mengandung</a:t>
            </a:r>
            <a:r>
              <a:rPr lang="en-ID" dirty="0"/>
              <a:t> </a:t>
            </a:r>
            <a:r>
              <a:rPr lang="en-ID" dirty="0" err="1"/>
              <a:t>titik</a:t>
            </a:r>
            <a:r>
              <a:rPr lang="en-ID" dirty="0"/>
              <a:t> </a:t>
            </a:r>
            <a:r>
              <a:rPr lang="en-ID" dirty="0" err="1"/>
              <a:t>sampel</a:t>
            </a:r>
            <a:r>
              <a:rPr lang="en-ID" dirty="0"/>
              <a:t> yang </a:t>
            </a:r>
            <a:r>
              <a:rPr lang="en-ID" dirty="0" err="1"/>
              <a:t>berhingga</a:t>
            </a:r>
            <a:r>
              <a:rPr lang="en-ID" dirty="0"/>
              <a:t> </a:t>
            </a:r>
            <a:r>
              <a:rPr lang="en-ID" dirty="0" err="1"/>
              <a:t>banyaknya</a:t>
            </a:r>
            <a:r>
              <a:rPr lang="en-ID" dirty="0"/>
              <a:t>,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suatu</a:t>
            </a:r>
            <a:r>
              <a:rPr lang="en-ID" dirty="0"/>
              <a:t> </a:t>
            </a:r>
            <a:r>
              <a:rPr lang="en-ID" dirty="0" err="1"/>
              <a:t>deretan</a:t>
            </a:r>
            <a:r>
              <a:rPr lang="en-ID" dirty="0"/>
              <a:t> </a:t>
            </a:r>
            <a:r>
              <a:rPr lang="en-ID" dirty="0" err="1"/>
              <a:t>anggota</a:t>
            </a:r>
            <a:r>
              <a:rPr lang="en-ID" dirty="0"/>
              <a:t> yang </a:t>
            </a:r>
            <a:r>
              <a:rPr lang="en-ID" dirty="0" err="1"/>
              <a:t>banyaknya</a:t>
            </a:r>
            <a:r>
              <a:rPr lang="en-ID" dirty="0"/>
              <a:t> </a:t>
            </a:r>
            <a:r>
              <a:rPr lang="en-ID" dirty="0" err="1"/>
              <a:t>sama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banyaknya</a:t>
            </a:r>
            <a:r>
              <a:rPr lang="en-ID" dirty="0"/>
              <a:t> </a:t>
            </a:r>
            <a:r>
              <a:rPr lang="en-ID" dirty="0" err="1"/>
              <a:t>bilangan</a:t>
            </a:r>
            <a:r>
              <a:rPr lang="en-ID" dirty="0"/>
              <a:t> </a:t>
            </a:r>
            <a:r>
              <a:rPr lang="en-ID" dirty="0" err="1"/>
              <a:t>bulat</a:t>
            </a:r>
            <a:r>
              <a:rPr lang="en-ID" dirty="0"/>
              <a:t>, </a:t>
            </a:r>
            <a:r>
              <a:rPr lang="en-ID" dirty="0" err="1"/>
              <a:t>maka</a:t>
            </a:r>
            <a:r>
              <a:rPr lang="en-ID" dirty="0"/>
              <a:t> </a:t>
            </a:r>
            <a:r>
              <a:rPr lang="en-ID" dirty="0" err="1"/>
              <a:t>ruang</a:t>
            </a:r>
            <a:r>
              <a:rPr lang="en-ID" dirty="0"/>
              <a:t> </a:t>
            </a:r>
            <a:r>
              <a:rPr lang="en-ID" dirty="0" err="1"/>
              <a:t>sampel</a:t>
            </a:r>
            <a:r>
              <a:rPr lang="en-ID" dirty="0"/>
              <a:t> </a:t>
            </a:r>
            <a:r>
              <a:rPr lang="en-ID" dirty="0" err="1"/>
              <a:t>tersebut</a:t>
            </a:r>
            <a:r>
              <a:rPr lang="en-ID" dirty="0"/>
              <a:t> </a:t>
            </a:r>
            <a:r>
              <a:rPr lang="en-ID" dirty="0" err="1"/>
              <a:t>disebut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ruang</a:t>
            </a:r>
            <a:r>
              <a:rPr lang="en-ID" dirty="0"/>
              <a:t> </a:t>
            </a:r>
            <a:r>
              <a:rPr lang="en-ID" dirty="0" err="1"/>
              <a:t>sampel</a:t>
            </a:r>
            <a:r>
              <a:rPr lang="en-ID" dirty="0"/>
              <a:t> </a:t>
            </a:r>
            <a:r>
              <a:rPr lang="en-ID" dirty="0" err="1"/>
              <a:t>diskrit</a:t>
            </a:r>
            <a:r>
              <a:rPr lang="en-ID" dirty="0"/>
              <a:t>, dan </a:t>
            </a:r>
            <a:r>
              <a:rPr lang="en-ID" dirty="0" err="1"/>
              <a:t>variabel</a:t>
            </a:r>
            <a:r>
              <a:rPr lang="en-ID" dirty="0"/>
              <a:t> </a:t>
            </a:r>
            <a:r>
              <a:rPr lang="en-ID" dirty="0" err="1"/>
              <a:t>acak</a:t>
            </a:r>
            <a:r>
              <a:rPr lang="en-ID" dirty="0"/>
              <a:t> di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ruang</a:t>
            </a:r>
            <a:r>
              <a:rPr lang="en-ID" dirty="0"/>
              <a:t> </a:t>
            </a:r>
            <a:r>
              <a:rPr lang="en-ID" dirty="0" err="1"/>
              <a:t>sampel</a:t>
            </a:r>
            <a:r>
              <a:rPr lang="en-ID" dirty="0"/>
              <a:t> </a:t>
            </a:r>
            <a:r>
              <a:rPr lang="en-ID" dirty="0" err="1"/>
              <a:t>tersebut</a:t>
            </a:r>
            <a:r>
              <a:rPr lang="en-ID" dirty="0"/>
              <a:t> </a:t>
            </a:r>
            <a:r>
              <a:rPr lang="en-ID" dirty="0" err="1"/>
              <a:t>dinamakan</a:t>
            </a:r>
            <a:r>
              <a:rPr lang="en-ID" dirty="0"/>
              <a:t> variable </a:t>
            </a:r>
            <a:r>
              <a:rPr lang="en-ID" dirty="0" err="1"/>
              <a:t>acak</a:t>
            </a:r>
            <a:r>
              <a:rPr lang="en-ID" dirty="0"/>
              <a:t> </a:t>
            </a:r>
            <a:r>
              <a:rPr lang="en-ID" dirty="0" err="1"/>
              <a:t>diskrit</a:t>
            </a:r>
            <a:r>
              <a:rPr lang="en-ID"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8E0402-90A4-40B8-9688-3D45C7D5C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466DE-140D-499D-9784-92D4347A7E3E}" type="slidenum">
              <a:rPr lang="en-ID" smtClean="0"/>
              <a:t>14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5216436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96E313-3FB8-4FBE-9A7F-4A28B04C6D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VARIABEL ACAK KONTINYU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F44AA4-1262-446E-B7D4-CA22F2DB01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Variabel</a:t>
            </a:r>
            <a:r>
              <a:rPr lang="en-US" dirty="0"/>
              <a:t> </a:t>
            </a:r>
            <a:r>
              <a:rPr lang="en-US" dirty="0" err="1"/>
              <a:t>acak</a:t>
            </a:r>
            <a:r>
              <a:rPr lang="en-US" dirty="0"/>
              <a:t> </a:t>
            </a:r>
            <a:r>
              <a:rPr lang="en-US" dirty="0" err="1"/>
              <a:t>kontinyu</a:t>
            </a:r>
            <a:r>
              <a:rPr lang="en-US" dirty="0"/>
              <a:t> </a:t>
            </a:r>
            <a:r>
              <a:rPr lang="en-US" dirty="0" err="1"/>
              <a:t>adalah</a:t>
            </a:r>
            <a:r>
              <a:rPr lang="en-US" dirty="0"/>
              <a:t> variable yang </a:t>
            </a:r>
            <a:r>
              <a:rPr lang="en-US" dirty="0" err="1"/>
              <a:t>nilainya</a:t>
            </a:r>
            <a:r>
              <a:rPr lang="en-US" dirty="0"/>
              <a:t> </a:t>
            </a:r>
            <a:r>
              <a:rPr lang="en-US" dirty="0" err="1"/>
              <a:t>berada</a:t>
            </a:r>
            <a:r>
              <a:rPr lang="en-US" dirty="0"/>
              <a:t> di </a:t>
            </a:r>
            <a:r>
              <a:rPr lang="en-US" dirty="0" err="1"/>
              <a:t>antara</a:t>
            </a:r>
            <a:r>
              <a:rPr lang="en-US" dirty="0"/>
              <a:t> </a:t>
            </a:r>
            <a:r>
              <a:rPr lang="en-US" dirty="0" err="1"/>
              <a:t>bilangan</a:t>
            </a:r>
            <a:r>
              <a:rPr lang="en-US" dirty="0"/>
              <a:t> </a:t>
            </a:r>
            <a:r>
              <a:rPr lang="en-US" dirty="0" err="1"/>
              <a:t>bulat</a:t>
            </a:r>
            <a:r>
              <a:rPr lang="en-US" dirty="0"/>
              <a:t> dan </a:t>
            </a:r>
            <a:r>
              <a:rPr lang="en-US" dirty="0" err="1"/>
              <a:t>diperoleh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hasil</a:t>
            </a:r>
            <a:r>
              <a:rPr lang="en-US" dirty="0"/>
              <a:t> </a:t>
            </a:r>
            <a:r>
              <a:rPr lang="en-US" dirty="0" err="1"/>
              <a:t>pengukuran</a:t>
            </a:r>
            <a:r>
              <a:rPr lang="en-US" dirty="0"/>
              <a:t>.</a:t>
            </a:r>
          </a:p>
          <a:p>
            <a:r>
              <a:rPr lang="en-US" dirty="0" err="1"/>
              <a:t>Bila</a:t>
            </a:r>
            <a:r>
              <a:rPr lang="en-US" dirty="0"/>
              <a:t> </a:t>
            </a:r>
            <a:r>
              <a:rPr lang="en-US" dirty="0" err="1"/>
              <a:t>ruang</a:t>
            </a:r>
            <a:r>
              <a:rPr lang="en-US" dirty="0"/>
              <a:t> </a:t>
            </a:r>
            <a:r>
              <a:rPr lang="en-US" dirty="0" err="1"/>
              <a:t>sampel</a:t>
            </a:r>
            <a:r>
              <a:rPr lang="en-US" dirty="0"/>
              <a:t> </a:t>
            </a:r>
            <a:r>
              <a:rPr lang="en-US" dirty="0" err="1"/>
              <a:t>mengandung</a:t>
            </a:r>
            <a:r>
              <a:rPr lang="en-US" dirty="0"/>
              <a:t> </a:t>
            </a:r>
            <a:r>
              <a:rPr lang="en-US" dirty="0" err="1"/>
              <a:t>titik</a:t>
            </a:r>
            <a:r>
              <a:rPr lang="en-US" dirty="0"/>
              <a:t> </a:t>
            </a:r>
            <a:r>
              <a:rPr lang="en-US" dirty="0" err="1"/>
              <a:t>sampel</a:t>
            </a:r>
            <a:r>
              <a:rPr lang="en-US" dirty="0"/>
              <a:t> yang </a:t>
            </a:r>
            <a:r>
              <a:rPr lang="en-US" dirty="0" err="1"/>
              <a:t>tak</a:t>
            </a:r>
            <a:r>
              <a:rPr lang="en-US" dirty="0"/>
              <a:t> </a:t>
            </a:r>
            <a:r>
              <a:rPr lang="en-US" dirty="0" err="1"/>
              <a:t>terhingga</a:t>
            </a:r>
            <a:r>
              <a:rPr lang="en-US" dirty="0"/>
              <a:t> dan </a:t>
            </a:r>
            <a:r>
              <a:rPr lang="en-US" dirty="0" err="1"/>
              <a:t>sama</a:t>
            </a:r>
            <a:r>
              <a:rPr lang="en-US" dirty="0"/>
              <a:t> </a:t>
            </a:r>
            <a:r>
              <a:rPr lang="en-US" dirty="0" err="1"/>
              <a:t>banyaknya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jumlah</a:t>
            </a:r>
            <a:r>
              <a:rPr lang="en-US" dirty="0"/>
              <a:t> </a:t>
            </a:r>
            <a:r>
              <a:rPr lang="en-US" dirty="0" err="1"/>
              <a:t>titik</a:t>
            </a:r>
            <a:r>
              <a:rPr lang="en-US" dirty="0"/>
              <a:t> di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sepotong</a:t>
            </a:r>
            <a:r>
              <a:rPr lang="en-US" dirty="0"/>
              <a:t> garis, </a:t>
            </a:r>
            <a:r>
              <a:rPr lang="en-US" dirty="0" err="1"/>
              <a:t>maka</a:t>
            </a:r>
            <a:r>
              <a:rPr lang="en-US" dirty="0"/>
              <a:t> </a:t>
            </a:r>
            <a:r>
              <a:rPr lang="en-US" dirty="0" err="1"/>
              <a:t>ruang</a:t>
            </a:r>
            <a:r>
              <a:rPr lang="en-US" dirty="0"/>
              <a:t> </a:t>
            </a:r>
            <a:r>
              <a:rPr lang="en-US" dirty="0" err="1"/>
              <a:t>sampel</a:t>
            </a:r>
            <a:r>
              <a:rPr lang="en-US" dirty="0"/>
              <a:t> </a:t>
            </a:r>
            <a:r>
              <a:rPr lang="en-US" dirty="0" err="1"/>
              <a:t>tersebut</a:t>
            </a:r>
            <a:r>
              <a:rPr lang="en-US" dirty="0"/>
              <a:t> </a:t>
            </a:r>
            <a:r>
              <a:rPr lang="en-US" dirty="0" err="1"/>
              <a:t>dinamakan</a:t>
            </a:r>
            <a:r>
              <a:rPr lang="en-US" dirty="0"/>
              <a:t> </a:t>
            </a:r>
            <a:r>
              <a:rPr lang="en-US" dirty="0" err="1"/>
              <a:t>ruang</a:t>
            </a:r>
            <a:r>
              <a:rPr lang="en-US" dirty="0"/>
              <a:t> </a:t>
            </a:r>
            <a:r>
              <a:rPr lang="en-US" dirty="0" err="1"/>
              <a:t>sampel</a:t>
            </a:r>
            <a:r>
              <a:rPr lang="en-US" dirty="0"/>
              <a:t> </a:t>
            </a:r>
            <a:r>
              <a:rPr lang="en-US" dirty="0" err="1"/>
              <a:t>kontinyu</a:t>
            </a:r>
            <a:r>
              <a:rPr lang="en-US" dirty="0"/>
              <a:t>, dan variable </a:t>
            </a:r>
            <a:r>
              <a:rPr lang="en-US" dirty="0" err="1"/>
              <a:t>acak</a:t>
            </a:r>
            <a:r>
              <a:rPr lang="en-US" dirty="0"/>
              <a:t> di </a:t>
            </a:r>
            <a:r>
              <a:rPr lang="en-US" dirty="0" err="1"/>
              <a:t>dalamnya</a:t>
            </a:r>
            <a:r>
              <a:rPr lang="en-US" dirty="0"/>
              <a:t> </a:t>
            </a:r>
            <a:r>
              <a:rPr lang="en-US" dirty="0" err="1"/>
              <a:t>disebut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variable </a:t>
            </a:r>
            <a:r>
              <a:rPr lang="en-US" dirty="0" err="1"/>
              <a:t>acak</a:t>
            </a:r>
            <a:r>
              <a:rPr lang="en-US" dirty="0"/>
              <a:t> </a:t>
            </a:r>
            <a:r>
              <a:rPr lang="en-US" dirty="0" err="1"/>
              <a:t>kontinyu</a:t>
            </a:r>
            <a:r>
              <a:rPr lang="en-US" dirty="0"/>
              <a:t>.</a:t>
            </a:r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95E00E-E164-49CB-AB67-846DC2C8C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466DE-140D-499D-9784-92D4347A7E3E}" type="slidenum">
              <a:rPr lang="en-ID" smtClean="0"/>
              <a:t>15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7449254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2200</TotalTime>
  <Words>643</Words>
  <Application>Microsoft Office PowerPoint</Application>
  <PresentationFormat>Widescreen</PresentationFormat>
  <Paragraphs>63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Cambria Math</vt:lpstr>
      <vt:lpstr>Tw Cen MT</vt:lpstr>
      <vt:lpstr>Circuit</vt:lpstr>
      <vt:lpstr>PROBABILITAS DAN DISTRIBUSI 1</vt:lpstr>
      <vt:lpstr>PROBABILITAS (PELUANG)</vt:lpstr>
      <vt:lpstr>PROBABILITAS (PELUANG)</vt:lpstr>
      <vt:lpstr>PROBABILITAS (PELUANG)</vt:lpstr>
      <vt:lpstr>PROBABILITAS PERISTIWA SEDERHANA</vt:lpstr>
      <vt:lpstr>PROBABILITAS PERISTIWA MUTUALLY EXCLUSIVE</vt:lpstr>
      <vt:lpstr>PROBABILITAS PERISTIWA NON-MUTUALLY EXCLUSIVE</vt:lpstr>
      <vt:lpstr>PROBABILITAS PERISTIWA NON-MUTUALLY EXCLUSIVE (SOAL)</vt:lpstr>
      <vt:lpstr>PROBABILITAS PERISTIWA NON-MUTUALLY EXCLUSIVE (SOAL)</vt:lpstr>
      <vt:lpstr>PROBABILITAS PERISTIWA INDEPENDEN</vt:lpstr>
      <vt:lpstr>PROBABILITAS PERISTIWA DEPENDEN</vt:lpstr>
      <vt:lpstr>ATURAN BAYES</vt:lpstr>
      <vt:lpstr>Variabel acak</vt:lpstr>
      <vt:lpstr>VARIABEL ACAK DISKRIT</vt:lpstr>
      <vt:lpstr>VARIABEL ACAK KONTINYU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PROBABILITAS DAN DISTRIBUSI</dc:title>
  <dc:creator>Ashri Shabrina</dc:creator>
  <cp:lastModifiedBy>Ashri Shabrina</cp:lastModifiedBy>
  <cp:revision>8</cp:revision>
  <dcterms:created xsi:type="dcterms:W3CDTF">2022-03-15T02:17:11Z</dcterms:created>
  <dcterms:modified xsi:type="dcterms:W3CDTF">2023-03-29T01:15:31Z</dcterms:modified>
</cp:coreProperties>
</file>