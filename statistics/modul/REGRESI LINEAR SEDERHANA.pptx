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C132A43-6433-4069-8B10-AA82A1992E5E}" type="datetimeFigureOut">
              <a:rPr lang="en-ID" smtClean="0"/>
              <a:t>01/06/2023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0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071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61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78197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4752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480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882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792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628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410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8580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5B81011-30BF-4FDF-830E-BF18BD8FCE4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014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transition>
    <p:fade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8A8E-E985-1D47-CE40-74A24DA661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REGRESI LINEAR SEDERHANA</a:t>
            </a:r>
            <a:endParaRPr lang="en-ID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4696D-2987-F9E7-D1C9-74082DCF9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0" y="4348480"/>
            <a:ext cx="8767860" cy="90931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ASHRI SHABRINA AFRAH, M.T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86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74C305-1967-6D42-CC27-77437648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REGRESI LINEAR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1406F-1B0A-8EC4-14C1-577C09DBE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Salah </a:t>
            </a:r>
            <a:r>
              <a:rPr lang="en-US" dirty="0" err="1">
                <a:solidFill>
                  <a:schemeClr val="tx1"/>
                </a:solidFill>
              </a:rPr>
              <a:t>satu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alat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dapat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memprediksi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suatu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nilai</a:t>
            </a:r>
            <a:r>
              <a:rPr lang="en-US" dirty="0">
                <a:solidFill>
                  <a:schemeClr val="tx1"/>
                </a:solidFill>
              </a:rPr>
              <a:t> di masa yang </a:t>
            </a:r>
            <a:r>
              <a:rPr lang="en-US" dirty="0" err="1">
                <a:solidFill>
                  <a:schemeClr val="tx1"/>
                </a:solidFill>
              </a:rPr>
              <a:t>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datang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berdasarkan</a:t>
            </a:r>
            <a:r>
              <a:rPr lang="en-US" dirty="0">
                <a:solidFill>
                  <a:schemeClr val="tx1"/>
                </a:solidFill>
              </a:rPr>
              <a:t> data masa </a:t>
            </a:r>
            <a:r>
              <a:rPr lang="en-US" dirty="0" err="1">
                <a:solidFill>
                  <a:schemeClr val="tx1"/>
                </a:solidFill>
              </a:rPr>
              <a:t>lalu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linear. </a:t>
            </a:r>
            <a:r>
              <a:rPr lang="en-US" dirty="0" err="1">
                <a:solidFill>
                  <a:schemeClr val="tx1"/>
                </a:solidFill>
              </a:rPr>
              <a:t>Secara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umum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dapat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mengetahui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pengaruh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suatu</a:t>
            </a:r>
            <a:r>
              <a:rPr lang="en-US" dirty="0">
                <a:solidFill>
                  <a:schemeClr val="tx1"/>
                </a:solidFill>
              </a:rPr>
              <a:t> variable </a:t>
            </a:r>
            <a:r>
              <a:rPr lang="en-US" dirty="0" err="1">
                <a:solidFill>
                  <a:schemeClr val="tx1"/>
                </a:solidFill>
              </a:rPr>
              <a:t>bebas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terhadap</a:t>
            </a:r>
            <a:r>
              <a:rPr lang="en-US" dirty="0">
                <a:solidFill>
                  <a:schemeClr val="tx1"/>
                </a:solidFill>
              </a:rPr>
              <a:t> variable </a:t>
            </a:r>
            <a:r>
              <a:rPr lang="en-US" dirty="0" err="1">
                <a:solidFill>
                  <a:schemeClr val="tx1"/>
                </a:solidFill>
              </a:rPr>
              <a:t>terikat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dibagi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menjadi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yaitu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sederhana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berganda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Sederhana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1 variable </a:t>
            </a:r>
            <a:r>
              <a:rPr lang="en-US" dirty="0" err="1">
                <a:solidFill>
                  <a:schemeClr val="tx1"/>
                </a:solidFill>
              </a:rPr>
              <a:t>bebas</a:t>
            </a:r>
            <a:r>
              <a:rPr lang="en-US" dirty="0">
                <a:solidFill>
                  <a:schemeClr val="tx1"/>
                </a:solidFill>
              </a:rPr>
              <a:t> dan 1 variable </a:t>
            </a:r>
            <a:r>
              <a:rPr lang="en-US" dirty="0" err="1">
                <a:solidFill>
                  <a:schemeClr val="tx1"/>
                </a:solidFill>
              </a:rPr>
              <a:t>terikat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Berganda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2 </a:t>
            </a:r>
            <a:r>
              <a:rPr lang="en-US" dirty="0" err="1">
                <a:solidFill>
                  <a:schemeClr val="tx1"/>
                </a:solidFill>
              </a:rPr>
              <a:t>atau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lebih</a:t>
            </a:r>
            <a:r>
              <a:rPr lang="en-US" dirty="0">
                <a:solidFill>
                  <a:schemeClr val="tx1"/>
                </a:solidFill>
              </a:rPr>
              <a:t> variable </a:t>
            </a:r>
            <a:r>
              <a:rPr lang="en-US" dirty="0" err="1">
                <a:solidFill>
                  <a:schemeClr val="tx1"/>
                </a:solidFill>
              </a:rPr>
              <a:t>bebas</a:t>
            </a:r>
            <a:r>
              <a:rPr lang="en-US" dirty="0">
                <a:solidFill>
                  <a:schemeClr val="tx1"/>
                </a:solidFill>
              </a:rPr>
              <a:t> dan 1 variable </a:t>
            </a:r>
            <a:r>
              <a:rPr lang="en-US" dirty="0" err="1">
                <a:solidFill>
                  <a:schemeClr val="tx1"/>
                </a:solidFill>
              </a:rPr>
              <a:t>terikat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882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27DE-F2A5-B040-EE58-3097812C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REGRESI LINEAR SEDERHANA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9BABB-61FF-642A-A407-84B41F25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Tujuan </a:t>
            </a:r>
            <a:r>
              <a:rPr lang="en-US" dirty="0" err="1">
                <a:solidFill>
                  <a:schemeClr val="tx1"/>
                </a:solidFill>
              </a:rPr>
              <a:t>penerapan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Metode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Sederhana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meramalkan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atau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memprediksi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besaran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nilai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sebuah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variabel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terikat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dipengaruhi</a:t>
            </a:r>
            <a:r>
              <a:rPr lang="en-US" dirty="0">
                <a:solidFill>
                  <a:schemeClr val="tx1"/>
                </a:solidFill>
              </a:rPr>
              <a:t> oleh </a:t>
            </a:r>
            <a:r>
              <a:rPr lang="en-US" dirty="0" err="1">
                <a:solidFill>
                  <a:schemeClr val="tx1"/>
                </a:solidFill>
              </a:rPr>
              <a:t>sebuah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variabel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bebas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Rumus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Sederhana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ID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ID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ID" dirty="0">
                <a:solidFill>
                  <a:schemeClr val="tx1"/>
                </a:solidFill>
              </a:rPr>
              <a:t>Di mana Y = variable </a:t>
            </a:r>
            <a:r>
              <a:rPr lang="en-ID" dirty="0" err="1">
                <a:solidFill>
                  <a:schemeClr val="tx1"/>
                </a:solidFill>
              </a:rPr>
              <a:t>terikat</a:t>
            </a:r>
            <a:r>
              <a:rPr lang="en-ID" dirty="0">
                <a:solidFill>
                  <a:schemeClr val="tx1"/>
                </a:solidFill>
              </a:rPr>
              <a:t>, X = variable </a:t>
            </a:r>
            <a:r>
              <a:rPr lang="en-ID" dirty="0" err="1">
                <a:solidFill>
                  <a:schemeClr val="tx1"/>
                </a:solidFill>
              </a:rPr>
              <a:t>bebas</a:t>
            </a:r>
            <a:r>
              <a:rPr lang="en-ID" dirty="0">
                <a:solidFill>
                  <a:schemeClr val="tx1"/>
                </a:solidFill>
              </a:rPr>
              <a:t>, a dan b = </a:t>
            </a:r>
            <a:r>
              <a:rPr lang="en-ID" dirty="0" err="1">
                <a:solidFill>
                  <a:schemeClr val="tx1"/>
                </a:solidFill>
              </a:rPr>
              <a:t>konstanta</a:t>
            </a:r>
            <a:endParaRPr lang="en-ID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4346716-4BE1-70DC-DA2F-67F4CAA612CF}"/>
                  </a:ext>
                </a:extLst>
              </p:cNvPr>
              <p:cNvSpPr/>
              <p:nvPr/>
            </p:nvSpPr>
            <p:spPr>
              <a:xfrm>
                <a:off x="4978400" y="4269740"/>
                <a:ext cx="2529840" cy="98298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ID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ID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4346716-4BE1-70DC-DA2F-67F4CAA612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0" y="4269740"/>
                <a:ext cx="2529840" cy="9829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94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60A3-3541-2560-0895-BBB9A16F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REGRESI LINEAR SEDERHANA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CB89-2C82-4038-D22B-FE104F6F0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Langkah-Langkah </a:t>
            </a:r>
            <a:r>
              <a:rPr lang="en-US" dirty="0" err="1">
                <a:solidFill>
                  <a:schemeClr val="tx1"/>
                </a:solidFill>
              </a:rPr>
              <a:t>membuat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persamaan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linear </a:t>
            </a:r>
            <a:r>
              <a:rPr lang="en-US" dirty="0" err="1">
                <a:solidFill>
                  <a:schemeClr val="tx1"/>
                </a:solidFill>
              </a:rPr>
              <a:t>sederhana</a:t>
            </a:r>
            <a:r>
              <a:rPr lang="en-US" dirty="0">
                <a:solidFill>
                  <a:schemeClr val="tx1"/>
                </a:solidFill>
              </a:rPr>
              <a:t> dan uji </a:t>
            </a:r>
            <a:r>
              <a:rPr lang="en-US" dirty="0" err="1">
                <a:solidFill>
                  <a:schemeClr val="tx1"/>
                </a:solidFill>
              </a:rPr>
              <a:t>korelasi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metode</a:t>
            </a:r>
            <a:r>
              <a:rPr lang="en-US" dirty="0">
                <a:solidFill>
                  <a:schemeClr val="tx1"/>
                </a:solidFill>
              </a:rPr>
              <a:t> Pearson’s Product Moment, </a:t>
            </a:r>
            <a:r>
              <a:rPr lang="en-US" dirty="0" err="1">
                <a:solidFill>
                  <a:schemeClr val="tx1"/>
                </a:solidFill>
              </a:rPr>
              <a:t>antara</a:t>
            </a:r>
            <a:r>
              <a:rPr lang="en-US" dirty="0">
                <a:solidFill>
                  <a:schemeClr val="tx1"/>
                </a:solidFill>
              </a:rPr>
              <a:t> lain: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Membuat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hipotesis</a:t>
            </a:r>
            <a:r>
              <a:rPr lang="en-US" dirty="0">
                <a:solidFill>
                  <a:schemeClr val="tx1"/>
                </a:solidFill>
              </a:rPr>
              <a:t> Ho dan Ha.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Membuat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penolong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Mencari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nilai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konstanta</a:t>
            </a:r>
            <a:r>
              <a:rPr lang="en-US" dirty="0">
                <a:solidFill>
                  <a:schemeClr val="tx1"/>
                </a:solidFill>
              </a:rPr>
              <a:t> b,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rumus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marL="50292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Mencari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nilai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konstanta</a:t>
            </a:r>
            <a:r>
              <a:rPr lang="en-US" dirty="0">
                <a:solidFill>
                  <a:schemeClr val="tx1"/>
                </a:solidFill>
              </a:rPr>
              <a:t> a,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rumus</a:t>
            </a:r>
            <a:r>
              <a:rPr lang="en-US" dirty="0">
                <a:solidFill>
                  <a:schemeClr val="tx1"/>
                </a:solidFill>
              </a:rPr>
              <a:t>: 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4C41C2-9D95-B867-4F10-3E4F105532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33" t="38371" r="46833" b="47260"/>
          <a:stretch/>
        </p:blipFill>
        <p:spPr>
          <a:xfrm>
            <a:off x="6746240" y="3429000"/>
            <a:ext cx="2844800" cy="98552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FBA743-C426-B48E-9453-91B75E2832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50" t="57333" r="51417" b="28667"/>
          <a:stretch/>
        </p:blipFill>
        <p:spPr>
          <a:xfrm>
            <a:off x="6746240" y="4602480"/>
            <a:ext cx="2296160" cy="960121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16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60A3-3541-2560-0895-BBB9A16F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REGRESI LINEAR SEDERHANA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CB89-2C82-4038-D22B-FE104F6F0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 startAt="5"/>
            </a:pPr>
            <a:r>
              <a:rPr lang="en-US" dirty="0" err="1">
                <a:solidFill>
                  <a:schemeClr val="tx1"/>
                </a:solidFill>
              </a:rPr>
              <a:t>Membuat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persamaan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regresi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berdasarkan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rumus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marL="502920" indent="-457200">
              <a:buFont typeface="+mj-lt"/>
              <a:buAutoNum type="arabicPeriod" startAt="5"/>
            </a:pPr>
            <a:r>
              <a:rPr lang="en-US" dirty="0" err="1">
                <a:solidFill>
                  <a:schemeClr val="tx1"/>
                </a:solidFill>
              </a:rPr>
              <a:t>Selanjutnya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lakukan</a:t>
            </a:r>
            <a:r>
              <a:rPr lang="en-US" dirty="0">
                <a:solidFill>
                  <a:schemeClr val="tx1"/>
                </a:solidFill>
              </a:rPr>
              <a:t> uji </a:t>
            </a:r>
            <a:r>
              <a:rPr lang="en-US" dirty="0" err="1">
                <a:solidFill>
                  <a:schemeClr val="tx1"/>
                </a:solidFill>
              </a:rPr>
              <a:t>korelasi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Metode</a:t>
            </a:r>
            <a:r>
              <a:rPr lang="en-US" dirty="0">
                <a:solidFill>
                  <a:schemeClr val="tx1"/>
                </a:solidFill>
              </a:rPr>
              <a:t> Pearson’s Product Moment. </a:t>
            </a:r>
            <a:r>
              <a:rPr lang="en-US" dirty="0" err="1">
                <a:solidFill>
                  <a:schemeClr val="tx1"/>
                </a:solidFill>
              </a:rPr>
              <a:t>Hitung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nilai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koefisien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korelasi</a:t>
            </a:r>
            <a:r>
              <a:rPr lang="en-US" dirty="0">
                <a:solidFill>
                  <a:schemeClr val="tx1"/>
                </a:solidFill>
              </a:rPr>
              <a:t> (r)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rumus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502920" indent="-457200">
              <a:buFont typeface="+mj-lt"/>
              <a:buAutoNum type="arabicPeriod" startAt="5"/>
            </a:pPr>
            <a:endParaRPr lang="en-US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 startAt="5"/>
            </a:pPr>
            <a:endParaRPr lang="en-US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 startAt="5"/>
            </a:pPr>
            <a:endParaRPr lang="en-US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 startAt="5"/>
            </a:pPr>
            <a:r>
              <a:rPr lang="en-US" dirty="0" err="1">
                <a:solidFill>
                  <a:schemeClr val="tx1"/>
                </a:solidFill>
              </a:rPr>
              <a:t>Hitung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nilai</a:t>
            </a: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rumus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marL="502920" indent="-457200">
              <a:buFont typeface="+mj-lt"/>
              <a:buAutoNum type="arabicPeriod" startAt="5"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2B973-32C6-F62F-70E9-4412A352F9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833" t="75259" r="55250" b="15704"/>
          <a:stretch/>
        </p:blipFill>
        <p:spPr>
          <a:xfrm>
            <a:off x="7609840" y="1898650"/>
            <a:ext cx="1818640" cy="61976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B15EAD-D8BE-4226-E0DF-D1FAFE2C24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83" t="48445" r="38750" b="36444"/>
          <a:stretch/>
        </p:blipFill>
        <p:spPr>
          <a:xfrm>
            <a:off x="2326640" y="3423329"/>
            <a:ext cx="4531360" cy="103632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317A8AB3-966F-4B83-B62C-F1FC0E8A94C0}"/>
                  </a:ext>
                </a:extLst>
              </p:cNvPr>
              <p:cNvSpPr txBox="1"/>
              <p:nvPr/>
            </p:nvSpPr>
            <p:spPr>
              <a:xfrm>
                <a:off x="3163187" y="4810540"/>
                <a:ext cx="712759" cy="29956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h𝑖𝑡𝑢𝑛𝑔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317A8AB3-966F-4B83-B62C-F1FC0E8A9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187" y="4810540"/>
                <a:ext cx="712759" cy="299569"/>
              </a:xfrm>
              <a:prstGeom prst="rect">
                <a:avLst/>
              </a:prstGeom>
              <a:blipFill>
                <a:blip r:embed="rId4"/>
                <a:stretch>
                  <a:fillRect l="-7692" r="-5983" b="-3061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43E4ADE-05E7-3202-EC8F-C773FFDAE7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750" t="65778" r="56667" b="20889"/>
          <a:stretch/>
        </p:blipFill>
        <p:spPr>
          <a:xfrm>
            <a:off x="2351166" y="5334000"/>
            <a:ext cx="2265680" cy="91440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776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60A3-3541-2560-0895-BBB9A16F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REGRESI LINEAR SEDERHANA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6CB89-2C82-4038-D22B-FE104F6F0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 startAt="8"/>
            </a:pPr>
            <a:r>
              <a:rPr lang="en-US" dirty="0" err="1">
                <a:solidFill>
                  <a:schemeClr val="tx1"/>
                </a:solidFill>
              </a:rPr>
              <a:t>Mencari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nilai</a:t>
            </a:r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Distribusi</a:t>
            </a:r>
            <a:r>
              <a:rPr lang="en-US" dirty="0">
                <a:solidFill>
                  <a:schemeClr val="tx1"/>
                </a:solidFill>
              </a:rPr>
              <a:t> t-Student,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rumus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502920" indent="-457200">
              <a:buFont typeface="+mj-lt"/>
              <a:buAutoNum type="arabicPeriod" startAt="8"/>
            </a:pPr>
            <a:endParaRPr lang="en-US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 startAt="8"/>
            </a:pPr>
            <a:endParaRPr lang="en-US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 startAt="8"/>
            </a:pPr>
            <a:endParaRPr lang="en-US" dirty="0">
              <a:solidFill>
                <a:schemeClr val="tx1"/>
              </a:solidFill>
            </a:endParaRPr>
          </a:p>
          <a:p>
            <a:pPr marL="502920" indent="-457200">
              <a:buFont typeface="+mj-lt"/>
              <a:buAutoNum type="arabicPeriod" startAt="8"/>
            </a:pPr>
            <a:r>
              <a:rPr lang="en-US" dirty="0" err="1">
                <a:solidFill>
                  <a:schemeClr val="tx1"/>
                </a:solidFill>
              </a:rPr>
              <a:t>Selanjutnya</a:t>
            </a:r>
            <a:r>
              <a:rPr lang="en-US" dirty="0">
                <a:solidFill>
                  <a:schemeClr val="tx1"/>
                </a:solidFill>
              </a:rPr>
              <a:t>, uji </a:t>
            </a:r>
            <a:r>
              <a:rPr lang="en-US" dirty="0" err="1">
                <a:solidFill>
                  <a:schemeClr val="tx1"/>
                </a:solidFill>
              </a:rPr>
              <a:t>signifikansi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kaidah</a:t>
            </a: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	Jika                                                , </a:t>
            </a:r>
            <a:r>
              <a:rPr lang="en-US" dirty="0" err="1">
                <a:solidFill>
                  <a:schemeClr val="tx1"/>
                </a:solidFill>
              </a:rPr>
              <a:t>maka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hubungan</a:t>
            </a:r>
            <a:r>
              <a:rPr lang="en-US" dirty="0">
                <a:solidFill>
                  <a:schemeClr val="tx1"/>
                </a:solidFill>
              </a:rPr>
              <a:t>. Jika                               , 	</a:t>
            </a:r>
            <a:r>
              <a:rPr lang="en-US" dirty="0" err="1">
                <a:solidFill>
                  <a:schemeClr val="tx1"/>
                </a:solidFill>
              </a:rPr>
              <a:t>maka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hubungan</a:t>
            </a:r>
            <a:r>
              <a:rPr lang="en-US" dirty="0">
                <a:solidFill>
                  <a:schemeClr val="tx1"/>
                </a:solidFill>
              </a:rPr>
              <a:t>.   </a:t>
            </a:r>
          </a:p>
          <a:p>
            <a:pPr marL="502920" indent="-457200">
              <a:buFont typeface="+mj-lt"/>
              <a:buAutoNum type="arabicPeriod" startAt="10"/>
            </a:pPr>
            <a:r>
              <a:rPr lang="en-US" dirty="0" err="1">
                <a:solidFill>
                  <a:schemeClr val="tx1"/>
                </a:solidFill>
              </a:rPr>
              <a:t>Penarikan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kesimpulan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berdasarkan</a:t>
            </a:r>
            <a:r>
              <a:rPr lang="en-US" dirty="0">
                <a:solidFill>
                  <a:schemeClr val="tx1"/>
                </a:solidFill>
              </a:rPr>
              <a:t> uji </a:t>
            </a:r>
            <a:r>
              <a:rPr lang="en-US" dirty="0" err="1">
                <a:solidFill>
                  <a:schemeClr val="tx1"/>
                </a:solidFill>
              </a:rPr>
              <a:t>signifikansi</a:t>
            </a:r>
            <a:r>
              <a:rPr lang="en-US" dirty="0">
                <a:solidFill>
                  <a:schemeClr val="tx1"/>
                </a:solidFill>
              </a:rPr>
              <a:t> pada </a:t>
            </a:r>
            <a:r>
              <a:rPr lang="en-US" dirty="0" err="1">
                <a:solidFill>
                  <a:schemeClr val="tx1"/>
                </a:solidFill>
              </a:rPr>
              <a:t>langkah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sebelumnya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502920" indent="-457200">
              <a:buFont typeface="+mj-lt"/>
              <a:buAutoNum type="arabicPeriod" startAt="5"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2">
                <a:extLst>
                  <a:ext uri="{FF2B5EF4-FFF2-40B4-BE49-F238E27FC236}">
                    <a16:creationId xmlns:a16="http://schemas.microsoft.com/office/drawing/2014/main" id="{9A174A2E-04F7-48F8-B681-2F3288A66E79}"/>
                  </a:ext>
                </a:extLst>
              </p:cNvPr>
              <p:cNvSpPr txBox="1"/>
              <p:nvPr/>
            </p:nvSpPr>
            <p:spPr>
              <a:xfrm>
                <a:off x="3356560" y="2083595"/>
                <a:ext cx="580993" cy="2769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/>
              </a:p>
            </p:txBody>
          </p:sp>
        </mc:Choice>
        <mc:Fallback xmlns="">
          <p:sp>
            <p:nvSpPr>
              <p:cNvPr id="9" name="TextBox 22">
                <a:extLst>
                  <a:ext uri="{FF2B5EF4-FFF2-40B4-BE49-F238E27FC236}">
                    <a16:creationId xmlns:a16="http://schemas.microsoft.com/office/drawing/2014/main" id="{9A174A2E-04F7-48F8-B681-2F3288A66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560" y="2083595"/>
                <a:ext cx="580993" cy="276999"/>
              </a:xfrm>
              <a:prstGeom prst="rect">
                <a:avLst/>
              </a:prstGeom>
              <a:blipFill>
                <a:blip r:embed="rId2"/>
                <a:stretch>
                  <a:fillRect l="-9474" r="-4211" b="-1777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66835C6-CE0C-8343-18FD-2C4F8DF14B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250" t="73037" r="56000" b="16741"/>
          <a:stretch/>
        </p:blipFill>
        <p:spPr>
          <a:xfrm>
            <a:off x="2361326" y="2743199"/>
            <a:ext cx="2407920" cy="70104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23">
                <a:extLst>
                  <a:ext uri="{FF2B5EF4-FFF2-40B4-BE49-F238E27FC236}">
                    <a16:creationId xmlns:a16="http://schemas.microsoft.com/office/drawing/2014/main" id="{1067AECF-E9B8-43F4-9248-09D05864AF6E}"/>
                  </a:ext>
                </a:extLst>
              </p:cNvPr>
              <p:cNvSpPr txBox="1"/>
              <p:nvPr/>
            </p:nvSpPr>
            <p:spPr>
              <a:xfrm>
                <a:off x="2720084" y="4475555"/>
                <a:ext cx="2530373" cy="29956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𝑡𝑎𝑏𝑒𝑙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D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h𝑖𝑡𝑢𝑛𝑔</m:t>
                          </m:r>
                        </m:sub>
                      </m:sSub>
                      <m:r>
                        <a:rPr lang="en-ID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12" name="TextBox 23">
                <a:extLst>
                  <a:ext uri="{FF2B5EF4-FFF2-40B4-BE49-F238E27FC236}">
                    <a16:creationId xmlns:a16="http://schemas.microsoft.com/office/drawing/2014/main" id="{1067AECF-E9B8-43F4-9248-09D05864A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084" y="4475555"/>
                <a:ext cx="2530373" cy="299569"/>
              </a:xfrm>
              <a:prstGeom prst="rect">
                <a:avLst/>
              </a:prstGeom>
              <a:blipFill>
                <a:blip r:embed="rId4"/>
                <a:stretch>
                  <a:fillRect r="-482" b="-3061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24">
                <a:extLst>
                  <a:ext uri="{FF2B5EF4-FFF2-40B4-BE49-F238E27FC236}">
                    <a16:creationId xmlns:a16="http://schemas.microsoft.com/office/drawing/2014/main" id="{568E0B19-D132-4A49-AD23-6E41D1F6C0C7}"/>
                  </a:ext>
                </a:extLst>
              </p:cNvPr>
              <p:cNvSpPr txBox="1"/>
              <p:nvPr/>
            </p:nvSpPr>
            <p:spPr>
              <a:xfrm>
                <a:off x="8871584" y="4505259"/>
                <a:ext cx="1918335" cy="29956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h𝑖𝑡𝑢𝑛𝑔</m:t>
                          </m:r>
                        </m:sub>
                      </m:sSub>
                      <m:r>
                        <a:rPr lang="en-ID" sz="18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14" name="TextBox 24">
                <a:extLst>
                  <a:ext uri="{FF2B5EF4-FFF2-40B4-BE49-F238E27FC236}">
                    <a16:creationId xmlns:a16="http://schemas.microsoft.com/office/drawing/2014/main" id="{568E0B19-D132-4A49-AD23-6E41D1F6C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584" y="4505259"/>
                <a:ext cx="1918335" cy="299569"/>
              </a:xfrm>
              <a:prstGeom prst="rect">
                <a:avLst/>
              </a:prstGeom>
              <a:blipFill>
                <a:blip r:embed="rId5"/>
                <a:stretch>
                  <a:fillRect b="-3061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21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B941-028C-F2EE-08D7-6F218385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7AEBC-6DE9-1C4B-6AB1-CD7E051C2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Perusahaan </a:t>
            </a:r>
            <a:r>
              <a:rPr lang="en-US" dirty="0" err="1">
                <a:solidFill>
                  <a:schemeClr val="tx1"/>
                </a:solidFill>
              </a:rPr>
              <a:t>barang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elektronik</a:t>
            </a:r>
            <a:r>
              <a:rPr lang="en-US" dirty="0">
                <a:solidFill>
                  <a:schemeClr val="tx1"/>
                </a:solidFill>
              </a:rPr>
              <a:t> PT </a:t>
            </a:r>
            <a:r>
              <a:rPr lang="en-US" dirty="0" err="1">
                <a:solidFill>
                  <a:schemeClr val="tx1"/>
                </a:solidFill>
              </a:rPr>
              <a:t>Cahaya</a:t>
            </a:r>
            <a:r>
              <a:rPr lang="en-US" dirty="0">
                <a:solidFill>
                  <a:schemeClr val="tx1"/>
                </a:solidFill>
              </a:rPr>
              <a:t> Abadi </a:t>
            </a:r>
            <a:r>
              <a:rPr lang="en-US" dirty="0" err="1">
                <a:solidFill>
                  <a:schemeClr val="tx1"/>
                </a:solidFill>
              </a:rPr>
              <a:t>ingin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mengetahui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pengaruh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pengalaman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kerja</a:t>
            </a:r>
            <a:r>
              <a:rPr lang="en-US" dirty="0">
                <a:solidFill>
                  <a:schemeClr val="tx1"/>
                </a:solidFill>
              </a:rPr>
              <a:t> (X)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jumlah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penjualan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barang</a:t>
            </a:r>
            <a:r>
              <a:rPr lang="en-US" dirty="0">
                <a:solidFill>
                  <a:schemeClr val="tx1"/>
                </a:solidFill>
              </a:rPr>
              <a:t> (Y). </a:t>
            </a:r>
            <a:r>
              <a:rPr lang="en-US" dirty="0" err="1">
                <a:solidFill>
                  <a:schemeClr val="tx1"/>
                </a:solidFill>
              </a:rPr>
              <a:t>Diambil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sampel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secara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acak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sebanyak</a:t>
            </a:r>
            <a:r>
              <a:rPr lang="en-US" dirty="0">
                <a:solidFill>
                  <a:schemeClr val="tx1"/>
                </a:solidFill>
              </a:rPr>
              <a:t> 8 orang </a:t>
            </a:r>
            <a:r>
              <a:rPr lang="en-US" dirty="0" err="1">
                <a:solidFill>
                  <a:schemeClr val="tx1"/>
                </a:solidFill>
              </a:rPr>
              <a:t>pegawai</a:t>
            </a:r>
            <a:r>
              <a:rPr lang="en-US" dirty="0">
                <a:solidFill>
                  <a:schemeClr val="tx1"/>
                </a:solidFill>
              </a:rPr>
              <a:t> Divisi Marketing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data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berikut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ID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ID" dirty="0" err="1">
                <a:solidFill>
                  <a:schemeClr val="tx1"/>
                </a:solidFill>
              </a:rPr>
              <a:t>Carilah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persamaan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regresi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berdasarkan</a:t>
            </a:r>
            <a:r>
              <a:rPr lang="en-ID" dirty="0">
                <a:solidFill>
                  <a:schemeClr val="tx1"/>
                </a:solidFill>
              </a:rPr>
              <a:t> data </a:t>
            </a:r>
            <a:r>
              <a:rPr lang="en-ID" dirty="0" err="1">
                <a:solidFill>
                  <a:schemeClr val="tx1"/>
                </a:solidFill>
              </a:rPr>
              <a:t>tersebut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buktikan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apakah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terdapat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pengaruh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signifikan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antara</a:t>
            </a:r>
            <a:r>
              <a:rPr lang="en-ID" dirty="0">
                <a:solidFill>
                  <a:schemeClr val="tx1"/>
                </a:solidFill>
              </a:rPr>
              <a:t> variable </a:t>
            </a:r>
            <a:r>
              <a:rPr lang="en-ID" dirty="0" err="1">
                <a:solidFill>
                  <a:schemeClr val="tx1"/>
                </a:solidFill>
              </a:rPr>
              <a:t>bebas</a:t>
            </a:r>
            <a:r>
              <a:rPr lang="en-ID" dirty="0">
                <a:solidFill>
                  <a:schemeClr val="tx1"/>
                </a:solidFill>
              </a:rPr>
              <a:t> (</a:t>
            </a:r>
            <a:r>
              <a:rPr lang="en-ID" dirty="0" err="1">
                <a:solidFill>
                  <a:schemeClr val="tx1"/>
                </a:solidFill>
              </a:rPr>
              <a:t>pengalaman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kerja</a:t>
            </a:r>
            <a:r>
              <a:rPr lang="en-ID" dirty="0">
                <a:solidFill>
                  <a:schemeClr val="tx1"/>
                </a:solidFill>
              </a:rPr>
              <a:t>) dan variable </a:t>
            </a:r>
            <a:r>
              <a:rPr lang="en-ID" dirty="0" err="1">
                <a:solidFill>
                  <a:schemeClr val="tx1"/>
                </a:solidFill>
              </a:rPr>
              <a:t>terikat</a:t>
            </a:r>
            <a:r>
              <a:rPr lang="en-ID" dirty="0">
                <a:solidFill>
                  <a:schemeClr val="tx1"/>
                </a:solidFill>
              </a:rPr>
              <a:t> (</a:t>
            </a:r>
            <a:r>
              <a:rPr lang="en-ID" dirty="0" err="1">
                <a:solidFill>
                  <a:schemeClr val="tx1"/>
                </a:solidFill>
              </a:rPr>
              <a:t>jumlah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penjualan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barang</a:t>
            </a:r>
            <a:r>
              <a:rPr lang="en-ID" dirty="0">
                <a:solidFill>
                  <a:schemeClr val="tx1"/>
                </a:solidFill>
              </a:rPr>
              <a:t>)!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387790-C3B4-2A60-675C-3AD920413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47969"/>
              </p:ext>
            </p:extLst>
          </p:nvPr>
        </p:nvGraphicFramePr>
        <p:xfrm>
          <a:off x="3195320" y="3667760"/>
          <a:ext cx="5801360" cy="50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8240">
                  <a:extLst>
                    <a:ext uri="{9D8B030D-6E8A-4147-A177-3AD203B41FA5}">
                      <a16:colId xmlns:a16="http://schemas.microsoft.com/office/drawing/2014/main" val="715132056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165402274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568663403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640596029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686776871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109047019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103903937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3267817105"/>
                    </a:ext>
                  </a:extLst>
                </a:gridCol>
                <a:gridCol w="375920">
                  <a:extLst>
                    <a:ext uri="{9D8B030D-6E8A-4147-A177-3AD203B41FA5}">
                      <a16:colId xmlns:a16="http://schemas.microsoft.com/office/drawing/2014/main" val="133188695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1" u="none" strike="noStrike" dirty="0" err="1">
                          <a:effectLst/>
                        </a:rPr>
                        <a:t>Pengalaman</a:t>
                      </a:r>
                      <a:r>
                        <a:rPr lang="en-ID" sz="1600" b="1" u="none" strike="noStrike" dirty="0">
                          <a:effectLst/>
                        </a:rPr>
                        <a:t> </a:t>
                      </a:r>
                      <a:r>
                        <a:rPr lang="en-ID" sz="1600" b="1" u="none" strike="noStrike" dirty="0" err="1">
                          <a:effectLst/>
                        </a:rPr>
                        <a:t>kerja</a:t>
                      </a:r>
                      <a:r>
                        <a:rPr lang="en-ID" sz="1600" b="1" u="none" strike="noStrike" dirty="0">
                          <a:effectLst/>
                        </a:rPr>
                        <a:t> (x) </a:t>
                      </a:r>
                      <a:r>
                        <a:rPr lang="en-ID" sz="1600" b="1" u="none" strike="noStrike" dirty="0" err="1">
                          <a:effectLst/>
                        </a:rPr>
                        <a:t>tahun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1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4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1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4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1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3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3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2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9730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1" u="none" strike="noStrike" dirty="0" err="1">
                          <a:effectLst/>
                        </a:rPr>
                        <a:t>Penjualan</a:t>
                      </a:r>
                      <a:r>
                        <a:rPr lang="en-ID" sz="1600" b="1" u="none" strike="noStrike" dirty="0">
                          <a:effectLst/>
                        </a:rPr>
                        <a:t> </a:t>
                      </a:r>
                      <a:r>
                        <a:rPr lang="en-ID" sz="1600" b="1" u="none" strike="noStrike" dirty="0" err="1">
                          <a:effectLst/>
                        </a:rPr>
                        <a:t>barang</a:t>
                      </a:r>
                      <a:r>
                        <a:rPr lang="en-ID" sz="1600" b="1" u="none" strike="noStrike" dirty="0">
                          <a:effectLst/>
                        </a:rPr>
                        <a:t> (y) unit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50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45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>
                          <a:effectLst/>
                        </a:rPr>
                        <a:t>30</a:t>
                      </a:r>
                      <a:endParaRPr lang="en-ID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65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30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45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50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600" u="none" strike="noStrike" dirty="0">
                          <a:effectLst/>
                        </a:rPr>
                        <a:t>35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40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297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333B-5C93-3C65-091E-629E7921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(PENYELESAIAN)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DE07-B72F-5B51-FE99-F6D4B9DB2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1. Langkah </a:t>
            </a:r>
            <a:r>
              <a:rPr lang="en-US" dirty="0" err="1">
                <a:solidFill>
                  <a:schemeClr val="tx1"/>
                </a:solidFill>
              </a:rPr>
              <a:t>pertama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menentukan</a:t>
            </a:r>
            <a:r>
              <a:rPr lang="en-US" dirty="0">
                <a:solidFill>
                  <a:schemeClr val="tx1"/>
                </a:solidFill>
              </a:rPr>
              <a:t> Ho dan Ha </a:t>
            </a: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bentuk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kalimat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maupun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statistika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rgbClr val="C00000"/>
                </a:solidFill>
              </a:rPr>
              <a:t>Ho: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terdapat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pengaruh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signifikan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pengalaman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kerja</a:t>
            </a:r>
            <a:r>
              <a:rPr lang="en-US" dirty="0">
                <a:solidFill>
                  <a:schemeClr val="tx1"/>
                </a:solidFill>
              </a:rPr>
              <a:t> 	</a:t>
            </a:r>
            <a:r>
              <a:rPr lang="en-US" dirty="0" err="1">
                <a:solidFill>
                  <a:schemeClr val="tx1"/>
                </a:solidFill>
              </a:rPr>
              <a:t>terhadap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penjualan</a:t>
            </a:r>
            <a:r>
              <a:rPr lang="en-US" dirty="0">
                <a:solidFill>
                  <a:schemeClr val="tx1"/>
                </a:solidFill>
              </a:rPr>
              <a:t>. (Ho: r = 0)</a:t>
            </a:r>
          </a:p>
          <a:p>
            <a:pPr marL="45720" indent="0">
              <a:buNone/>
            </a:pPr>
            <a:r>
              <a:rPr lang="en-ID" dirty="0">
                <a:solidFill>
                  <a:schemeClr val="tx1"/>
                </a:solidFill>
              </a:rPr>
              <a:t>	</a:t>
            </a:r>
            <a:r>
              <a:rPr lang="en-ID" b="1" dirty="0">
                <a:solidFill>
                  <a:srgbClr val="C00000"/>
                </a:solidFill>
              </a:rPr>
              <a:t>Ha: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Terdapat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pengaruh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signifikan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antara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pengalaman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kerja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terhadap</a:t>
            </a:r>
            <a:r>
              <a:rPr lang="en-ID" dirty="0">
                <a:solidFill>
                  <a:schemeClr val="tx1"/>
                </a:solidFill>
              </a:rPr>
              <a:t> 	</a:t>
            </a:r>
            <a:r>
              <a:rPr lang="en-ID" dirty="0" err="1">
                <a:solidFill>
                  <a:schemeClr val="tx1"/>
                </a:solidFill>
              </a:rPr>
              <a:t>penjualan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barang</a:t>
            </a:r>
            <a:r>
              <a:rPr lang="en-ID" dirty="0">
                <a:solidFill>
                  <a:schemeClr val="tx1"/>
                </a:solidFill>
              </a:rPr>
              <a:t>. (</a:t>
            </a:r>
            <a:r>
              <a:rPr lang="en-US" dirty="0">
                <a:solidFill>
                  <a:schemeClr val="tx1"/>
                </a:solidFill>
              </a:rPr>
              <a:t>Ha: r ≠ 0)</a:t>
            </a:r>
            <a:endParaRPr lang="en-ID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en-ID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ID" dirty="0">
                <a:solidFill>
                  <a:schemeClr val="tx1"/>
                </a:solidFill>
              </a:rPr>
              <a:t>2. </a:t>
            </a:r>
            <a:r>
              <a:rPr lang="en-ID" dirty="0" err="1">
                <a:solidFill>
                  <a:schemeClr val="tx1"/>
                </a:solidFill>
              </a:rPr>
              <a:t>Selanjutnya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buatlah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tabel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penolong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berdasarkan</a:t>
            </a:r>
            <a:r>
              <a:rPr lang="en-ID" dirty="0">
                <a:solidFill>
                  <a:schemeClr val="tx1"/>
                </a:solidFill>
              </a:rPr>
              <a:t> data yang </a:t>
            </a:r>
            <a:r>
              <a:rPr lang="en-ID" dirty="0" err="1">
                <a:solidFill>
                  <a:schemeClr val="tx1"/>
                </a:solidFill>
              </a:rPr>
              <a:t>dibuat</a:t>
            </a:r>
            <a:r>
              <a:rPr lang="en-ID" dirty="0">
                <a:solidFill>
                  <a:schemeClr val="tx1"/>
                </a:solidFill>
              </a:rPr>
              <a:t>. </a:t>
            </a:r>
            <a:r>
              <a:rPr lang="en-ID" dirty="0" err="1">
                <a:solidFill>
                  <a:schemeClr val="tx1"/>
                </a:solidFill>
              </a:rPr>
              <a:t>Contoh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tabel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penolong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ada</a:t>
            </a:r>
            <a:r>
              <a:rPr lang="en-ID" dirty="0">
                <a:solidFill>
                  <a:schemeClr val="tx1"/>
                </a:solidFill>
              </a:rPr>
              <a:t> di slide </a:t>
            </a:r>
            <a:r>
              <a:rPr lang="en-ID" dirty="0" err="1">
                <a:solidFill>
                  <a:schemeClr val="tx1"/>
                </a:solidFill>
              </a:rPr>
              <a:t>selanjutnya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170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333B-5C93-3C65-091E-629E7921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(PENYELESAIAN)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DE07-B72F-5B51-FE99-F6D4B9DB2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81AE9-6887-445B-A312-1F481501B5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33" t="34075" r="20083" b="29925"/>
          <a:stretch/>
        </p:blipFill>
        <p:spPr>
          <a:xfrm>
            <a:off x="3254955" y="2133599"/>
            <a:ext cx="5648960" cy="3565447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6841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0C48-C72A-7913-F7BE-0B24EE6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(PENYELESAIAN)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9A227-3B2B-173B-0A57-DBD5A15393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4572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3. </a:t>
                </a:r>
                <a:r>
                  <a:rPr lang="en-US" dirty="0" err="1">
                    <a:solidFill>
                      <a:schemeClr val="tx1"/>
                    </a:solidFill>
                  </a:rPr>
                  <a:t>Menghitung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nilai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konstanta</a:t>
                </a:r>
                <a:r>
                  <a:rPr lang="en-US" dirty="0">
                    <a:solidFill>
                      <a:schemeClr val="tx1"/>
                    </a:solidFill>
                  </a:rPr>
                  <a:t> b:</a:t>
                </a: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" indent="0"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e>
                        </m:nary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nary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nary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𝑋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(8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905)−(19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350)</m:t>
                        </m:r>
                      </m:num>
                      <m:den>
                        <m:d>
                          <m:d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×57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−361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D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D" b="1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6,211</a:t>
                </a: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" indent="0">
                  <a:buNone/>
                </a:pPr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4. </a:t>
                </a:r>
                <a:r>
                  <a:rPr lang="en-ID" sz="2400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Menghitung</a:t>
                </a:r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nilai</a:t>
                </a:r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konstanta</a:t>
                </a:r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a:</a:t>
                </a:r>
              </a:p>
              <a:p>
                <a:pPr marL="45720" indent="0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</a:endParaRPr>
              </a:p>
              <a:p>
                <a:pPr marL="45720" indent="0">
                  <a:buNone/>
                </a:pPr>
                <a:r>
                  <a:rPr lang="en-ID" sz="2400" dirty="0">
                    <a:solidFill>
                      <a:schemeClr val="tx1"/>
                    </a:solidFill>
                  </a:rPr>
                  <a:t>5.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Mencari</a:t>
                </a:r>
                <a:r>
                  <a:rPr lang="en-ID" sz="2400" dirty="0">
                    <a:solidFill>
                      <a:schemeClr val="tx1"/>
                    </a:solidFill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persamaan</a:t>
                </a:r>
                <a:r>
                  <a:rPr lang="en-ID" sz="2400" dirty="0">
                    <a:solidFill>
                      <a:schemeClr val="tx1"/>
                    </a:solidFill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Regresi</a:t>
                </a:r>
                <a:r>
                  <a:rPr lang="en-ID" sz="2400" dirty="0">
                    <a:solidFill>
                      <a:schemeClr val="tx1"/>
                    </a:solidFill>
                  </a:rPr>
                  <a:t> Linear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Sederhana</a:t>
                </a:r>
                <a:r>
                  <a:rPr lang="en-ID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</a:endParaRPr>
              </a:p>
              <a:p>
                <a:pPr marL="45720" indent="0">
                  <a:buNone/>
                </a:pPr>
                <a:r>
                  <a:rPr lang="en-US" dirty="0" err="1">
                    <a:solidFill>
                      <a:schemeClr val="tx1"/>
                    </a:solidFill>
                  </a:rPr>
                  <a:t>Dengan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demikian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</a:rPr>
                  <a:t>pertanyaan</a:t>
                </a:r>
                <a:r>
                  <a:rPr lang="en-US" dirty="0">
                    <a:solidFill>
                      <a:schemeClr val="tx1"/>
                    </a:solidFill>
                  </a:rPr>
                  <a:t> no 1 </a:t>
                </a:r>
                <a:r>
                  <a:rPr lang="en-US" dirty="0" err="1">
                    <a:solidFill>
                      <a:schemeClr val="tx1"/>
                    </a:solidFill>
                  </a:rPr>
                  <a:t>tentang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persamaan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regresi</a:t>
                </a:r>
                <a:r>
                  <a:rPr lang="en-US" dirty="0">
                    <a:solidFill>
                      <a:schemeClr val="tx1"/>
                    </a:solidFill>
                  </a:rPr>
                  <a:t> linear </a:t>
                </a:r>
                <a:r>
                  <a:rPr lang="en-US" dirty="0" err="1">
                    <a:solidFill>
                      <a:schemeClr val="tx1"/>
                    </a:solidFill>
                  </a:rPr>
                  <a:t>dari</a:t>
                </a:r>
                <a:r>
                  <a:rPr lang="en-US" dirty="0">
                    <a:solidFill>
                      <a:schemeClr val="tx1"/>
                    </a:solidFill>
                  </a:rPr>
                  <a:t> data </a:t>
                </a:r>
                <a:r>
                  <a:rPr lang="en-US" dirty="0" err="1">
                    <a:solidFill>
                      <a:schemeClr val="tx1"/>
                    </a:solidFill>
                  </a:rPr>
                  <a:t>sudah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terjawab</a:t>
                </a:r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  <a:endParaRPr lang="en-ID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9A227-3B2B-173B-0A57-DBD5A15393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" t="-256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6D1A70C3-767E-6BA5-3F93-4C099924FEBE}"/>
                  </a:ext>
                </a:extLst>
              </p:cNvPr>
              <p:cNvSpPr txBox="1"/>
              <p:nvPr/>
            </p:nvSpPr>
            <p:spPr>
              <a:xfrm>
                <a:off x="1449070" y="4064423"/>
                <a:ext cx="4475264" cy="675570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180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ID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D" sz="18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e>
                          </m:nary>
                          <m:r>
                            <a:rPr lang="en-US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D" sz="18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nary>
                        </m:num>
                        <m:den>
                          <m:r>
                            <a:rPr lang="en-US" sz="18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18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350−(6,211</m:t>
                          </m:r>
                          <m:r>
                            <a:rPr lang="en-US" sz="18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×19)</m:t>
                          </m:r>
                        </m:num>
                        <m:den>
                          <m:r>
                            <a:rPr lang="en-US" sz="1800" b="0" i="1" kern="12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1800" b="0" i="1" kern="12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 kern="1200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𝟐𝟗</m:t>
                      </m:r>
                    </m:oMath>
                  </m:oMathPara>
                </a14:m>
                <a:endParaRPr lang="en-ID" sz="11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6D1A70C3-767E-6BA5-3F93-4C099924F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070" y="4064423"/>
                <a:ext cx="4475264" cy="675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9B0824D1-AC05-4DE6-E16C-A829B7A3B65A}"/>
                  </a:ext>
                </a:extLst>
              </p:cNvPr>
              <p:cNvSpPr txBox="1"/>
              <p:nvPr/>
            </p:nvSpPr>
            <p:spPr>
              <a:xfrm>
                <a:off x="1570990" y="5123498"/>
                <a:ext cx="2864567" cy="39895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𝒀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𝒂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𝒃𝑿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𝟐𝟗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𝟔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𝟐𝟏𝟏</m:t>
                      </m:r>
                      <m:r>
                        <a:rPr lang="en-US" sz="1800" b="1" i="1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lang="en-ID" sz="1100" b="1" dirty="0">
                  <a:solidFill>
                    <a:srgbClr val="C0000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9B0824D1-AC05-4DE6-E16C-A829B7A3B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990" y="5123498"/>
                <a:ext cx="2864567" cy="398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64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0C48-C72A-7913-F7BE-0B24EE6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(PENYELESAIAN)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9A227-3B2B-173B-0A57-DBD5A15393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4572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6. </a:t>
                </a:r>
                <a:r>
                  <a:rPr lang="en-US" dirty="0" err="1">
                    <a:solidFill>
                      <a:schemeClr val="tx1"/>
                    </a:solidFill>
                  </a:rPr>
                  <a:t>Selanjutnya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</a:rPr>
                  <a:t>kita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perlu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melakukan</a:t>
                </a:r>
                <a:r>
                  <a:rPr lang="en-US" dirty="0">
                    <a:solidFill>
                      <a:schemeClr val="tx1"/>
                    </a:solidFill>
                  </a:rPr>
                  <a:t> uji </a:t>
                </a:r>
                <a:r>
                  <a:rPr lang="en-US" dirty="0" err="1">
                    <a:solidFill>
                      <a:schemeClr val="tx1"/>
                    </a:solidFill>
                  </a:rPr>
                  <a:t>korelasi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dengan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menggunakan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Metode</a:t>
                </a:r>
                <a:r>
                  <a:rPr lang="en-US" dirty="0">
                    <a:solidFill>
                      <a:schemeClr val="tx1"/>
                    </a:solidFill>
                  </a:rPr>
                  <a:t> Pearson’s Product Moment. </a:t>
                </a:r>
                <a:r>
                  <a:rPr lang="en-US" dirty="0" err="1">
                    <a:solidFill>
                      <a:schemeClr val="tx1"/>
                    </a:solidFill>
                  </a:rPr>
                  <a:t>Untuk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itu</a:t>
                </a:r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>
                    <a:solidFill>
                      <a:schemeClr val="tx1"/>
                    </a:solidFill>
                  </a:rPr>
                  <a:t>kita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perlu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menghitung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nilai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koefisien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korelasi</a:t>
                </a:r>
                <a:r>
                  <a:rPr lang="en-US" dirty="0">
                    <a:solidFill>
                      <a:schemeClr val="tx1"/>
                    </a:solidFill>
                  </a:rPr>
                  <a:t> (r):</a:t>
                </a:r>
              </a:p>
              <a:p>
                <a:pPr marL="4572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45720" indent="0">
                  <a:buNone/>
                </a:pPr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7. </a:t>
                </a:r>
                <a:r>
                  <a:rPr lang="en-ID" sz="2400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Menghitung</a:t>
                </a:r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nilai</a:t>
                </a:r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</m:oMath>
                </a14:m>
                <a:r>
                  <a:rPr lang="en-ID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:</a:t>
                </a:r>
              </a:p>
              <a:p>
                <a:pPr marL="45720" indent="0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</a:endParaRPr>
              </a:p>
              <a:p>
                <a:pPr marL="45720" indent="0">
                  <a:buNone/>
                </a:pPr>
                <a:r>
                  <a:rPr lang="en-ID" sz="2400" dirty="0">
                    <a:solidFill>
                      <a:schemeClr val="tx1"/>
                    </a:solidFill>
                  </a:rPr>
                  <a:t>8.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Mencari</a:t>
                </a:r>
                <a:r>
                  <a:rPr lang="en-ID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𝑡𝑎𝑏𝑒𝑙</m:t>
                        </m:r>
                      </m:sub>
                    </m:sSub>
                  </m:oMath>
                </a14:m>
                <a:r>
                  <a:rPr lang="en-ID" sz="24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45720" indent="0">
                  <a:buNone/>
                </a:pPr>
                <a:r>
                  <a:rPr lang="en-ID" sz="2400" dirty="0" err="1">
                    <a:solidFill>
                      <a:schemeClr val="tx1"/>
                    </a:solidFill>
                  </a:rPr>
                  <a:t>Berdasarkan</a:t>
                </a:r>
                <a:r>
                  <a:rPr lang="en-ID" sz="2400" dirty="0">
                    <a:solidFill>
                      <a:schemeClr val="tx1"/>
                    </a:solidFill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Tabel</a:t>
                </a:r>
                <a:r>
                  <a:rPr lang="en-ID" sz="2400" dirty="0">
                    <a:solidFill>
                      <a:schemeClr val="tx1"/>
                    </a:solidFill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Distribusi</a:t>
                </a:r>
                <a:r>
                  <a:rPr lang="en-ID" sz="2400" dirty="0">
                    <a:solidFill>
                      <a:schemeClr val="tx1"/>
                    </a:solidFill>
                  </a:rPr>
                  <a:t> t-Student,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nilai</a:t>
                </a:r>
                <a:r>
                  <a:rPr lang="en-ID" sz="2400" dirty="0">
                    <a:solidFill>
                      <a:schemeClr val="tx1"/>
                    </a:solidFill>
                  </a:rPr>
                  <a:t> </a:t>
                </a:r>
                <a:r>
                  <a:rPr lang="en-ID" sz="2400" dirty="0" err="1">
                    <a:solidFill>
                      <a:schemeClr val="tx1"/>
                    </a:solidFill>
                  </a:rPr>
                  <a:t>dari</a:t>
                </a:r>
                <a:r>
                  <a:rPr lang="en-ID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</a:endParaRP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</a:endParaRP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</a:endParaRPr>
              </a:p>
              <a:p>
                <a:pPr marL="45720" indent="0">
                  <a:buNone/>
                </a:pPr>
                <a:endParaRPr lang="en-ID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39A227-3B2B-173B-0A57-DBD5A15393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2266" b="-287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6">
                <a:extLst>
                  <a:ext uri="{FF2B5EF4-FFF2-40B4-BE49-F238E27FC236}">
                    <a16:creationId xmlns:a16="http://schemas.microsoft.com/office/drawing/2014/main" id="{27AF97F3-4F31-4BEC-9765-7497E7D02472}"/>
                  </a:ext>
                </a:extLst>
              </p:cNvPr>
              <p:cNvSpPr txBox="1"/>
              <p:nvPr/>
            </p:nvSpPr>
            <p:spPr>
              <a:xfrm>
                <a:off x="1176129" y="2818325"/>
                <a:ext cx="10189713" cy="930832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e>
                              </m:nary>
                            </m:e>
                          </m:d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−(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.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8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1800" b="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a:rPr lang="en-US" sz="1800" b="0" i="1">
                                                  <a:solidFill>
                                                    <a:schemeClr val="tx1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][</m:t>
                                  </m:r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  <m:r>
                                    <a:rPr lang="en-US" sz="18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nary>
                                        <m:naryPr>
                                          <m:chr m:val="∑"/>
                                          <m:subHide m:val="on"/>
                                          <m:supHide m:val="on"/>
                                          <m:ctrlPr>
                                            <a:rPr lang="en-US" sz="18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a:rPr lang="en-US" sz="1800" b="0" i="1">
                                              <a:solidFill>
                                                <a:schemeClr val="tx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nary>
                                      <m:r>
                                        <a:rPr lang="en-US" sz="18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sz="18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×905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−(19×350)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×57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19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)×(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8×16300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350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8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𝟔𝟖𝟏</m:t>
                      </m:r>
                    </m:oMath>
                  </m:oMathPara>
                </a14:m>
                <a:endParaRPr/>
              </a:p>
              <a:p>
                <a:endParaRPr lang="en-ID" sz="1800" dirty="0"/>
              </a:p>
            </p:txBody>
          </p:sp>
        </mc:Choice>
        <mc:Fallback xmlns="">
          <p:sp>
            <p:nvSpPr>
              <p:cNvPr id="6" name="TextBox 26">
                <a:extLst>
                  <a:ext uri="{FF2B5EF4-FFF2-40B4-BE49-F238E27FC236}">
                    <a16:creationId xmlns:a16="http://schemas.microsoft.com/office/drawing/2014/main" id="{27AF97F3-4F31-4BEC-9765-7497E7D02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29" y="2818325"/>
                <a:ext cx="10189713" cy="9308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2F057F46-524F-4ABE-82B0-2D887AC17DD8}"/>
                  </a:ext>
                </a:extLst>
              </p:cNvPr>
              <p:cNvSpPr txBox="1"/>
              <p:nvPr/>
            </p:nvSpPr>
            <p:spPr>
              <a:xfrm>
                <a:off x="1530350" y="4430028"/>
                <a:ext cx="3907865" cy="45409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ID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h𝑖𝑡𝑢𝑛𝑔</m:t>
                        </m:r>
                      </m:sub>
                    </m:sSub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𝑟</m:t>
                        </m:r>
                        <m:rad>
                          <m:radPr>
                            <m:degHide m:val="on"/>
                            <m:ctrlPr>
                              <a:rPr lang="en-US" sz="18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0.681</m:t>
                        </m:r>
                        <m:rad>
                          <m:radPr>
                            <m:deg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8−2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0.681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ID" sz="1800" dirty="0"/>
                  <a:t> = </a:t>
                </a:r>
                <a:r>
                  <a:rPr lang="en-ID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2.278236</a:t>
                </a:r>
                <a:r>
                  <a:rPr lang="en-ID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2F057F46-524F-4ABE-82B0-2D887AC17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350" y="4430028"/>
                <a:ext cx="3907865" cy="454099"/>
              </a:xfrm>
              <a:prstGeom prst="rect">
                <a:avLst/>
              </a:prstGeom>
              <a:blipFill>
                <a:blip r:embed="rId4"/>
                <a:stretch>
                  <a:fillRect r="-1404" b="-2027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29">
                <a:extLst>
                  <a:ext uri="{FF2B5EF4-FFF2-40B4-BE49-F238E27FC236}">
                    <a16:creationId xmlns:a16="http://schemas.microsoft.com/office/drawing/2014/main" id="{53C4CCED-DDEA-408B-8D39-4FE60D6B067D}"/>
                  </a:ext>
                </a:extLst>
              </p:cNvPr>
              <p:cNvSpPr txBox="1"/>
              <p:nvPr/>
            </p:nvSpPr>
            <p:spPr>
              <a:xfrm>
                <a:off x="6950908" y="5745496"/>
                <a:ext cx="3924344" cy="303673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𝑡𝑎𝑏𝑙𝑒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/2)</m:t>
                          </m:r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d>
                            <m:dPr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6,0.025</m:t>
                              </m:r>
                            </m:e>
                          </m:d>
                        </m:sub>
                      </m:sSub>
                      <m:r>
                        <a:rPr lang="en-US" sz="1800" b="0" i="1">
                          <a:latin typeface="Cambria Math" panose="02040503050406030204" pitchFamily="18" charset="0"/>
                        </a:rPr>
                        <m:t>=2,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4469</m:t>
                      </m:r>
                    </m:oMath>
                  </m:oMathPara>
                </a14:m>
                <a:endParaRPr lang="en-ID" sz="1800" dirty="0"/>
              </a:p>
            </p:txBody>
          </p:sp>
        </mc:Choice>
        <mc:Fallback>
          <p:sp>
            <p:nvSpPr>
              <p:cNvPr id="8" name="TextBox 29">
                <a:extLst>
                  <a:ext uri="{FF2B5EF4-FFF2-40B4-BE49-F238E27FC236}">
                    <a16:creationId xmlns:a16="http://schemas.microsoft.com/office/drawing/2014/main" id="{53C4CCED-DDEA-408B-8D39-4FE60D6B0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908" y="5745496"/>
                <a:ext cx="3924344" cy="303673"/>
              </a:xfrm>
              <a:prstGeom prst="rect">
                <a:avLst/>
              </a:prstGeom>
              <a:blipFill>
                <a:blip r:embed="rId5"/>
                <a:stretch>
                  <a:fillRect l="-776" r="-1242" b="-285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10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5FDF-E27C-C6BF-8710-C4A0E35C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KASUS (PENYELESAIAN)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129B8-22DF-D880-A196-31B512C95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51" y="1965960"/>
            <a:ext cx="9872871" cy="4038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9. Uji </a:t>
            </a:r>
            <a:r>
              <a:rPr lang="en-US" dirty="0" err="1">
                <a:solidFill>
                  <a:schemeClr val="tx1"/>
                </a:solidFill>
              </a:rPr>
              <a:t>Signifikansi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dilakukan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kaidah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</a:rPr>
              <a:t>Jika                                                , </a:t>
            </a:r>
            <a:r>
              <a:rPr lang="en-US" dirty="0" err="1">
                <a:solidFill>
                  <a:schemeClr val="tx1"/>
                </a:solidFill>
              </a:rPr>
              <a:t>maka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hubungan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variabel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bebas</a:t>
            </a:r>
            <a:r>
              <a:rPr lang="en-US" dirty="0">
                <a:solidFill>
                  <a:schemeClr val="tx1"/>
                </a:solidFill>
              </a:rPr>
              <a:t> (Y)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variabel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terikat</a:t>
            </a:r>
            <a:r>
              <a:rPr lang="en-US" dirty="0">
                <a:solidFill>
                  <a:schemeClr val="tx1"/>
                </a:solidFill>
              </a:rPr>
              <a:t> (Y). Jika                              , </a:t>
            </a:r>
            <a:r>
              <a:rPr lang="en-US" dirty="0" err="1">
                <a:solidFill>
                  <a:schemeClr val="tx1"/>
                </a:solidFill>
              </a:rPr>
              <a:t>maka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hubungan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antara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variabel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bebas</a:t>
            </a:r>
            <a:r>
              <a:rPr lang="en-US" dirty="0">
                <a:solidFill>
                  <a:schemeClr val="tx1"/>
                </a:solidFill>
              </a:rPr>
              <a:t> (X) dan </a:t>
            </a:r>
            <a:r>
              <a:rPr lang="en-US" dirty="0" err="1">
                <a:solidFill>
                  <a:schemeClr val="tx1"/>
                </a:solidFill>
              </a:rPr>
              <a:t>variabel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terikat</a:t>
            </a:r>
            <a:r>
              <a:rPr lang="en-US" dirty="0">
                <a:solidFill>
                  <a:schemeClr val="tx1"/>
                </a:solidFill>
              </a:rPr>
              <a:t> (Y).</a:t>
            </a:r>
          </a:p>
          <a:p>
            <a:pPr marL="45720" indent="0">
              <a:buNone/>
            </a:pPr>
            <a:r>
              <a:rPr lang="en-ID" dirty="0">
                <a:solidFill>
                  <a:schemeClr val="tx1"/>
                </a:solidFill>
              </a:rPr>
              <a:t>Karena                             , </a:t>
            </a:r>
            <a:r>
              <a:rPr lang="en-ID" dirty="0" err="1">
                <a:solidFill>
                  <a:schemeClr val="tx1"/>
                </a:solidFill>
              </a:rPr>
              <a:t>maka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ada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hubungan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antara</a:t>
            </a:r>
            <a:r>
              <a:rPr lang="en-ID" dirty="0">
                <a:solidFill>
                  <a:schemeClr val="tx1"/>
                </a:solidFill>
              </a:rPr>
              <a:t> variable </a:t>
            </a:r>
            <a:r>
              <a:rPr lang="en-ID" dirty="0" err="1">
                <a:solidFill>
                  <a:schemeClr val="tx1"/>
                </a:solidFill>
              </a:rPr>
              <a:t>bebas</a:t>
            </a:r>
            <a:r>
              <a:rPr lang="en-ID" dirty="0">
                <a:solidFill>
                  <a:schemeClr val="tx1"/>
                </a:solidFill>
              </a:rPr>
              <a:t> (X) dan variable </a:t>
            </a:r>
            <a:r>
              <a:rPr lang="en-ID" dirty="0" err="1">
                <a:solidFill>
                  <a:schemeClr val="tx1"/>
                </a:solidFill>
              </a:rPr>
              <a:t>terikat</a:t>
            </a:r>
            <a:r>
              <a:rPr lang="en-ID" dirty="0">
                <a:solidFill>
                  <a:schemeClr val="tx1"/>
                </a:solidFill>
              </a:rPr>
              <a:t> (Y).</a:t>
            </a:r>
          </a:p>
          <a:p>
            <a:pPr marL="45720" indent="0">
              <a:buNone/>
            </a:pPr>
            <a:endParaRPr lang="en-ID" dirty="0">
              <a:solidFill>
                <a:schemeClr val="tx1"/>
              </a:solidFill>
            </a:endParaRPr>
          </a:p>
          <a:p>
            <a:pPr marL="45720" indent="0">
              <a:buNone/>
            </a:pPr>
            <a:r>
              <a:rPr lang="en-ID" dirty="0">
                <a:solidFill>
                  <a:schemeClr val="tx1"/>
                </a:solidFill>
              </a:rPr>
              <a:t>10. </a:t>
            </a:r>
            <a:r>
              <a:rPr lang="en-ID" dirty="0" err="1">
                <a:solidFill>
                  <a:schemeClr val="tx1"/>
                </a:solidFill>
              </a:rPr>
              <a:t>Penarikan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kesimpulan</a:t>
            </a:r>
            <a:r>
              <a:rPr lang="en-ID" dirty="0">
                <a:solidFill>
                  <a:schemeClr val="tx1"/>
                </a:solidFill>
              </a:rPr>
              <a:t>:</a:t>
            </a:r>
          </a:p>
          <a:p>
            <a:pPr marL="45720" indent="0">
              <a:buNone/>
            </a:pPr>
            <a:r>
              <a:rPr lang="en-ID" dirty="0" err="1">
                <a:solidFill>
                  <a:schemeClr val="tx1"/>
                </a:solidFill>
              </a:rPr>
              <a:t>Terdapat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pengaruh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signifikan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antara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pengalaman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kerja</a:t>
            </a:r>
            <a:r>
              <a:rPr lang="en-ID" dirty="0">
                <a:solidFill>
                  <a:schemeClr val="tx1"/>
                </a:solidFill>
              </a:rPr>
              <a:t> (X) </a:t>
            </a:r>
            <a:r>
              <a:rPr lang="en-ID" dirty="0" err="1">
                <a:solidFill>
                  <a:schemeClr val="tx1"/>
                </a:solidFill>
              </a:rPr>
              <a:t>terhadap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penjualan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barang</a:t>
            </a:r>
            <a:r>
              <a:rPr lang="en-ID" dirty="0">
                <a:solidFill>
                  <a:schemeClr val="tx1"/>
                </a:solidFill>
              </a:rPr>
              <a:t> (Y).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3">
                <a:extLst>
                  <a:ext uri="{FF2B5EF4-FFF2-40B4-BE49-F238E27FC236}">
                    <a16:creationId xmlns:a16="http://schemas.microsoft.com/office/drawing/2014/main" id="{1067AECF-E9B8-43F4-9248-09D05864AF6E}"/>
                  </a:ext>
                </a:extLst>
              </p:cNvPr>
              <p:cNvSpPr txBox="1"/>
              <p:nvPr/>
            </p:nvSpPr>
            <p:spPr>
              <a:xfrm>
                <a:off x="1846324" y="2473740"/>
                <a:ext cx="2530373" cy="29956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𝑡𝑎𝑏𝑒𝑙</m:t>
                          </m:r>
                          <m:r>
                            <a:rPr lang="en-US" sz="18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D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h𝑖𝑡𝑢𝑛𝑔</m:t>
                          </m:r>
                        </m:sub>
                      </m:sSub>
                      <m:r>
                        <a:rPr lang="en-ID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4" name="TextBox 23">
                <a:extLst>
                  <a:ext uri="{FF2B5EF4-FFF2-40B4-BE49-F238E27FC236}">
                    <a16:creationId xmlns:a16="http://schemas.microsoft.com/office/drawing/2014/main" id="{1067AECF-E9B8-43F4-9248-09D05864A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324" y="2473740"/>
                <a:ext cx="2530373" cy="299569"/>
              </a:xfrm>
              <a:prstGeom prst="rect">
                <a:avLst/>
              </a:prstGeom>
              <a:blipFill>
                <a:blip r:embed="rId2"/>
                <a:stretch>
                  <a:fillRect l="-241" r="-482" b="-285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4">
                <a:extLst>
                  <a:ext uri="{FF2B5EF4-FFF2-40B4-BE49-F238E27FC236}">
                    <a16:creationId xmlns:a16="http://schemas.microsoft.com/office/drawing/2014/main" id="{568E0B19-D132-4A49-AD23-6E41D1F6C0C7}"/>
                  </a:ext>
                </a:extLst>
              </p:cNvPr>
              <p:cNvSpPr txBox="1"/>
              <p:nvPr/>
            </p:nvSpPr>
            <p:spPr>
              <a:xfrm>
                <a:off x="4878705" y="2806404"/>
                <a:ext cx="1735456" cy="29956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h𝑖𝑡𝑢𝑛𝑔</m:t>
                          </m:r>
                        </m:sub>
                      </m:sSub>
                      <m:r>
                        <a:rPr lang="en-ID" sz="18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5" name="TextBox 24">
                <a:extLst>
                  <a:ext uri="{FF2B5EF4-FFF2-40B4-BE49-F238E27FC236}">
                    <a16:creationId xmlns:a16="http://schemas.microsoft.com/office/drawing/2014/main" id="{568E0B19-D132-4A49-AD23-6E41D1F6C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705" y="2806404"/>
                <a:ext cx="1735456" cy="299569"/>
              </a:xfrm>
              <a:prstGeom prst="rect">
                <a:avLst/>
              </a:prstGeom>
              <a:blipFill>
                <a:blip r:embed="rId3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5">
                <a:extLst>
                  <a:ext uri="{FF2B5EF4-FFF2-40B4-BE49-F238E27FC236}">
                    <a16:creationId xmlns:a16="http://schemas.microsoft.com/office/drawing/2014/main" id="{49FD973F-537C-47E5-B6CA-E1703AB806A6}"/>
                  </a:ext>
                </a:extLst>
              </p:cNvPr>
              <p:cNvSpPr txBox="1"/>
              <p:nvPr/>
            </p:nvSpPr>
            <p:spPr>
              <a:xfrm>
                <a:off x="2135503" y="3576546"/>
                <a:ext cx="1644015" cy="299569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square" lIns="0" tIns="0" rIns="0" bIns="0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18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h𝑖𝑡𝑢𝑛𝑔</m:t>
                          </m:r>
                        </m:sub>
                      </m:sSub>
                      <m:r>
                        <a:rPr lang="en-ID" sz="1800" b="0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D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𝑡𝑎𝑏𝑒𝑙</m:t>
                          </m:r>
                        </m:sub>
                      </m:sSub>
                    </m:oMath>
                  </m:oMathPara>
                </a14:m>
                <a:endParaRPr lang="en-ID" sz="1800" dirty="0"/>
              </a:p>
            </p:txBody>
          </p:sp>
        </mc:Choice>
        <mc:Fallback xmlns="">
          <p:sp>
            <p:nvSpPr>
              <p:cNvPr id="6" name="TextBox 25">
                <a:extLst>
                  <a:ext uri="{FF2B5EF4-FFF2-40B4-BE49-F238E27FC236}">
                    <a16:creationId xmlns:a16="http://schemas.microsoft.com/office/drawing/2014/main" id="{49FD973F-537C-47E5-B6CA-E1703AB80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03" y="3576546"/>
                <a:ext cx="1644015" cy="299569"/>
              </a:xfrm>
              <a:prstGeom prst="rect">
                <a:avLst/>
              </a:prstGeom>
              <a:blipFill>
                <a:blip r:embed="rId4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00603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3223</TotalTime>
  <Words>710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Cambria Math</vt:lpstr>
      <vt:lpstr>Corbel</vt:lpstr>
      <vt:lpstr>Basis</vt:lpstr>
      <vt:lpstr>REGRESI LINEAR SEDERHANA</vt:lpstr>
      <vt:lpstr>REGRESI LINEAR</vt:lpstr>
      <vt:lpstr>REGRESI LINEAR SEDERHANA</vt:lpstr>
      <vt:lpstr>REGRESI LINEAR SEDERHANA</vt:lpstr>
      <vt:lpstr>REGRESI LINEAR SEDERHANA</vt:lpstr>
      <vt:lpstr>REGRESI LINEAR SEDERHANA</vt:lpstr>
      <vt:lpstr>CONTOH KASUS </vt:lpstr>
      <vt:lpstr>CONTOH KASUS (PENYELESAIAN)</vt:lpstr>
      <vt:lpstr>CONTOH KASUS (PENYELESAIAN)</vt:lpstr>
      <vt:lpstr>CONTOH KASUS (PENYELESAIAN)</vt:lpstr>
      <vt:lpstr>CONTOH KASUS (PENYELESAIAN)</vt:lpstr>
      <vt:lpstr>CONTOH KASUS (PENYELESAIAN)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REGRESI LINEAR SEDERHANA</dc:title>
  <dc:creator>Ashri Shabrina</dc:creator>
  <cp:lastModifiedBy>Ashri Shabrina</cp:lastModifiedBy>
  <cp:revision>7</cp:revision>
  <dcterms:created xsi:type="dcterms:W3CDTF">2022-05-27T07:05:12Z</dcterms:created>
  <dcterms:modified xsi:type="dcterms:W3CDTF">2023-06-01T04:27:12Z</dcterms:modified>
</cp:coreProperties>
</file>