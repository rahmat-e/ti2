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3741" autoAdjust="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outlineViewPr>
    <p:cViewPr>
      <p:scale>
        <a:sx n="33" d="100"/>
        <a:sy n="33" d="100"/>
      </p:scale>
      <p:origin x="0" y="-90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27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7695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48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937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303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152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497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079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138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181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682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58E14F5A-8AA9-4651-B941-DFDF6E6229C7}" type="datetimeFigureOut">
              <a:rPr lang="en-ID" smtClean="0"/>
              <a:t>20/05/2024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7C39A65-4EFB-4EBA-AD86-9EFA90761E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512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6BCD-32A5-2835-1462-1ECEB0A55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ANOVA </a:t>
            </a:r>
            <a:r>
              <a:rPr lang="en-US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FAKTORIAL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2-JALUR</a:t>
            </a:r>
            <a:endParaRPr lang="en-ID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B8909-D397-8C0D-7322-D7D4AF293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ASHRI SHABRINA AFRAH, M.T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2093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DE4F-95BF-72BB-6CFE-47B9EE10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FAKTORIAL 2-JALUR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0670-570B-F557-267E-21CE7AFFD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ANOVA </a:t>
            </a:r>
            <a:r>
              <a:rPr lang="en-US" dirty="0" err="1"/>
              <a:t>Faktorial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ANOVA </a:t>
            </a:r>
            <a:r>
              <a:rPr lang="en-US" dirty="0" err="1"/>
              <a:t>ganda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parametrik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kelompok-kelompok</a:t>
            </a:r>
            <a:r>
              <a:rPr lang="en-US" dirty="0"/>
              <a:t> data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2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. Ada 2 </a:t>
            </a:r>
            <a:r>
              <a:rPr lang="en-US" dirty="0" err="1"/>
              <a:t>keuntungan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Teknik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 marL="502920" indent="-457200">
              <a:buAutoNum type="arabicPeriod"/>
            </a:pP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pengaruh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bermacam-macam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terikat</a:t>
            </a:r>
            <a:r>
              <a:rPr lang="en-US" dirty="0"/>
              <a:t>,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 (</a:t>
            </a:r>
            <a:r>
              <a:rPr lang="en-US" dirty="0" err="1"/>
              <a:t>mandiri</a:t>
            </a:r>
            <a:r>
              <a:rPr lang="en-US" dirty="0"/>
              <a:t>)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gabungan</a:t>
            </a:r>
            <a:r>
              <a:rPr lang="en-US" dirty="0"/>
              <a:t> (</a:t>
            </a:r>
            <a:r>
              <a:rPr lang="en-US" dirty="0" err="1"/>
              <a:t>interaksi</a:t>
            </a:r>
            <a:r>
              <a:rPr lang="en-US" dirty="0"/>
              <a:t>).</a:t>
            </a:r>
          </a:p>
          <a:p>
            <a:pPr marL="502920" indent="-457200">
              <a:buAutoNum type="arabicPeriod"/>
            </a:pPr>
            <a:r>
              <a:rPr lang="en-US" dirty="0"/>
              <a:t>ANOVA </a:t>
            </a:r>
            <a:r>
              <a:rPr lang="en-US" dirty="0" err="1"/>
              <a:t>Faktorial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taraf</a:t>
            </a:r>
            <a:r>
              <a:rPr lang="en-US" dirty="0"/>
              <a:t> </a:t>
            </a:r>
            <a:r>
              <a:rPr lang="en-US" dirty="0" err="1"/>
              <a:t>presisi</a:t>
            </a:r>
            <a:r>
              <a:rPr lang="en-US" dirty="0"/>
              <a:t> (</a:t>
            </a:r>
            <a:r>
              <a:rPr lang="en-US" dirty="0" err="1"/>
              <a:t>ketepatan</a:t>
            </a:r>
            <a:r>
              <a:rPr lang="en-US" dirty="0"/>
              <a:t>)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tajam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ANOVA 1-Ragam (One-way ANOVA) 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9841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2196-B28F-3874-9F7E-BC3FA7B9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FAKTORIAL 2-JALUR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2829D-852E-024E-5DCB-29E29F62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ANOVA </a:t>
            </a:r>
            <a:r>
              <a:rPr lang="en-US" dirty="0" err="1"/>
              <a:t>Faktorial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marL="502920" indent="-457200">
              <a:buAutoNum type="arabicPeriod"/>
            </a:pPr>
            <a:r>
              <a:rPr lang="en-US" dirty="0"/>
              <a:t>ANOVA </a:t>
            </a:r>
            <a:r>
              <a:rPr lang="en-US" dirty="0" err="1"/>
              <a:t>Faktorial</a:t>
            </a:r>
            <a:r>
              <a:rPr lang="en-US" dirty="0"/>
              <a:t> 2-Jalur: </a:t>
            </a:r>
            <a:r>
              <a:rPr lang="en-US" dirty="0" err="1"/>
              <a:t>menggunakan</a:t>
            </a:r>
            <a:r>
              <a:rPr lang="en-US" dirty="0"/>
              <a:t> 2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endParaRPr lang="en-US" dirty="0"/>
          </a:p>
          <a:p>
            <a:pPr marL="502920" indent="-457200">
              <a:buAutoNum type="arabicPeriod"/>
            </a:pPr>
            <a:r>
              <a:rPr lang="en-US" dirty="0"/>
              <a:t>ANOVA </a:t>
            </a:r>
            <a:r>
              <a:rPr lang="en-US" dirty="0" err="1"/>
              <a:t>Faktorial</a:t>
            </a:r>
            <a:r>
              <a:rPr lang="en-US" dirty="0"/>
              <a:t> 3-Jalur: </a:t>
            </a:r>
            <a:r>
              <a:rPr lang="en-US" dirty="0" err="1"/>
              <a:t>menggunakan</a:t>
            </a:r>
            <a:r>
              <a:rPr lang="en-US" dirty="0"/>
              <a:t> 3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8315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4F3D-6F7A-AF93-938A-70756EDF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ANOVA FAKTORIAL 2-JALUR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906DA-28DC-8355-67DA-1BA82ABD3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02920" indent="-457200">
                  <a:buAutoNum type="arabicPeriod"/>
                </a:pPr>
                <a:r>
                  <a:rPr lang="en-US" dirty="0"/>
                  <a:t>Membuat </a:t>
                </a:r>
                <a:r>
                  <a:rPr lang="en-US" dirty="0" err="1"/>
                  <a:t>tabel</a:t>
                </a:r>
                <a:r>
                  <a:rPr lang="en-US" dirty="0"/>
                  <a:t> </a:t>
                </a:r>
                <a:r>
                  <a:rPr lang="en-US" dirty="0" err="1"/>
                  <a:t>penolong</a:t>
                </a:r>
                <a:r>
                  <a:rPr lang="en-US" dirty="0"/>
                  <a:t>.</a:t>
                </a:r>
              </a:p>
              <a:p>
                <a:pPr marL="502920" indent="-457200">
                  <a:buAutoNum type="arabicPeriod"/>
                </a:pPr>
                <a:r>
                  <a:rPr lang="en-US" dirty="0" err="1"/>
                  <a:t>Menghitung</a:t>
                </a:r>
                <a:r>
                  <a:rPr lang="en-US" dirty="0"/>
                  <a:t>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r>
                  <a:rPr lang="en-US" dirty="0"/>
                  <a:t> Total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antarkelompok</a:t>
                </a:r>
                <a:r>
                  <a:rPr lang="en-US" dirty="0"/>
                  <a:t> 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antarkelompok</a:t>
                </a:r>
                <a:r>
                  <a:rPr lang="en-US" dirty="0"/>
                  <a:t>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D" dirty="0"/>
                  <a:t>, </a:t>
                </a:r>
                <a:r>
                  <a:rPr lang="en-ID" dirty="0" err="1"/>
                  <a:t>interaksi</a:t>
                </a:r>
                <a:r>
                  <a:rPr lang="en-ID" dirty="0"/>
                  <a:t> </a:t>
                </a:r>
                <a:r>
                  <a:rPr lang="en-ID" dirty="0" err="1"/>
                  <a:t>antarkelompok</a:t>
                </a:r>
                <a:r>
                  <a:rPr lang="en-ID" dirty="0"/>
                  <a:t> A dan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dan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dirty="0" err="1"/>
                  <a:t>kelompok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).</a:t>
                </a:r>
              </a:p>
              <a:p>
                <a:pPr marL="4572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906DA-28DC-8355-67DA-1BA82ABD3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8">
                <a:extLst>
                  <a:ext uri="{FF2B5EF4-FFF2-40B4-BE49-F238E27FC236}">
                    <a16:creationId xmlns:a16="http://schemas.microsoft.com/office/drawing/2014/main" id="{0F709672-D1F0-0E23-8D8A-64B25ECC7C1E}"/>
                  </a:ext>
                </a:extLst>
              </p:cNvPr>
              <p:cNvSpPr txBox="1"/>
              <p:nvPr/>
            </p:nvSpPr>
            <p:spPr>
              <a:xfrm>
                <a:off x="1414210" y="3757382"/>
                <a:ext cx="2542453" cy="61683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𝐽𝑘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D" sz="1600" dirty="0"/>
              </a:p>
            </p:txBody>
          </p:sp>
        </mc:Choice>
        <mc:Fallback xmlns="">
          <p:sp>
            <p:nvSpPr>
              <p:cNvPr id="4" name="TextBox 8">
                <a:extLst>
                  <a:ext uri="{FF2B5EF4-FFF2-40B4-BE49-F238E27FC236}">
                    <a16:creationId xmlns:a16="http://schemas.microsoft.com/office/drawing/2014/main" id="{0F709672-D1F0-0E23-8D8A-64B25ECC7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210" y="3757382"/>
                <a:ext cx="2542453" cy="6168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8">
                <a:extLst>
                  <a:ext uri="{FF2B5EF4-FFF2-40B4-BE49-F238E27FC236}">
                    <a16:creationId xmlns:a16="http://schemas.microsoft.com/office/drawing/2014/main" id="{0E1203DC-9F27-690F-7F4D-1FF705A51FA0}"/>
                  </a:ext>
                </a:extLst>
              </p:cNvPr>
              <p:cNvSpPr txBox="1"/>
              <p:nvPr/>
            </p:nvSpPr>
            <p:spPr>
              <a:xfrm>
                <a:off x="1557192" y="4451511"/>
                <a:ext cx="3709359" cy="473622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no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𝐽𝑘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6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6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D" sz="1600" dirty="0"/>
              </a:p>
            </p:txBody>
          </p:sp>
        </mc:Choice>
        <mc:Fallback xmlns="">
          <p:sp>
            <p:nvSpPr>
              <p:cNvPr id="5" name="TextBox 18">
                <a:extLst>
                  <a:ext uri="{FF2B5EF4-FFF2-40B4-BE49-F238E27FC236}">
                    <a16:creationId xmlns:a16="http://schemas.microsoft.com/office/drawing/2014/main" id="{0E1203DC-9F27-690F-7F4D-1FF705A5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192" y="4451511"/>
                <a:ext cx="3709359" cy="473622"/>
              </a:xfrm>
              <a:prstGeom prst="rect">
                <a:avLst/>
              </a:prstGeom>
              <a:blipFill>
                <a:blip r:embed="rId4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9">
                <a:extLst>
                  <a:ext uri="{FF2B5EF4-FFF2-40B4-BE49-F238E27FC236}">
                    <a16:creationId xmlns:a16="http://schemas.microsoft.com/office/drawing/2014/main" id="{777C7675-5ACC-4631-969D-0D3EE63760D8}"/>
                  </a:ext>
                </a:extLst>
              </p:cNvPr>
              <p:cNvSpPr txBox="1"/>
              <p:nvPr/>
            </p:nvSpPr>
            <p:spPr>
              <a:xfrm>
                <a:off x="1414210" y="5273755"/>
                <a:ext cx="4798275" cy="473622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no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𝐽𝑘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6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  <m:r>
                                            <a:rPr lang="en-US" sz="16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6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ID" sz="1600" dirty="0"/>
              </a:p>
            </p:txBody>
          </p:sp>
        </mc:Choice>
        <mc:Fallback xmlns="">
          <p:sp>
            <p:nvSpPr>
              <p:cNvPr id="6" name="TextBox 19">
                <a:extLst>
                  <a:ext uri="{FF2B5EF4-FFF2-40B4-BE49-F238E27FC236}">
                    <a16:creationId xmlns:a16="http://schemas.microsoft.com/office/drawing/2014/main" id="{777C7675-5ACC-4631-969D-0D3EE6376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210" y="5273755"/>
                <a:ext cx="4798275" cy="473622"/>
              </a:xfrm>
              <a:prstGeom prst="rect">
                <a:avLst/>
              </a:prstGeom>
              <a:blipFill>
                <a:blip r:embed="rId5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20">
                <a:extLst>
                  <a:ext uri="{FF2B5EF4-FFF2-40B4-BE49-F238E27FC236}">
                    <a16:creationId xmlns:a16="http://schemas.microsoft.com/office/drawing/2014/main" id="{1C426294-D53E-5172-88AD-2AC45B1B8FC8}"/>
                  </a:ext>
                </a:extLst>
              </p:cNvPr>
              <p:cNvSpPr txBox="1"/>
              <p:nvPr/>
            </p:nvSpPr>
            <p:spPr>
              <a:xfrm>
                <a:off x="6770326" y="3746482"/>
                <a:ext cx="4161396" cy="65453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𝐽𝑘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sz="16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𝐴𝐵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nary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6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1600" b="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𝐽𝑘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𝐽𝑘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D" sz="1600" dirty="0"/>
              </a:p>
            </p:txBody>
          </p:sp>
        </mc:Choice>
        <mc:Fallback>
          <p:sp>
            <p:nvSpPr>
              <p:cNvPr id="9" name="TextBox 20">
                <a:extLst>
                  <a:ext uri="{FF2B5EF4-FFF2-40B4-BE49-F238E27FC236}">
                    <a16:creationId xmlns:a16="http://schemas.microsoft.com/office/drawing/2014/main" id="{1C426294-D53E-5172-88AD-2AC45B1B8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326" y="3746482"/>
                <a:ext cx="4161396" cy="6545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2">
                <a:extLst>
                  <a:ext uri="{FF2B5EF4-FFF2-40B4-BE49-F238E27FC236}">
                    <a16:creationId xmlns:a16="http://schemas.microsoft.com/office/drawing/2014/main" id="{001E25C1-1636-3934-4C3E-1B537D121FAC}"/>
                  </a:ext>
                </a:extLst>
              </p:cNvPr>
              <p:cNvSpPr txBox="1"/>
              <p:nvPr/>
            </p:nvSpPr>
            <p:spPr>
              <a:xfrm>
                <a:off x="6770326" y="4599894"/>
                <a:ext cx="2776081" cy="246221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−(</m:t>
                    </m:r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D" sz="1600" dirty="0"/>
                  <a:t>) </a:t>
                </a:r>
              </a:p>
            </p:txBody>
          </p:sp>
        </mc:Choice>
        <mc:Fallback xmlns="">
          <p:sp>
            <p:nvSpPr>
              <p:cNvPr id="10" name="TextBox 22">
                <a:extLst>
                  <a:ext uri="{FF2B5EF4-FFF2-40B4-BE49-F238E27FC236}">
                    <a16:creationId xmlns:a16="http://schemas.microsoft.com/office/drawing/2014/main" id="{001E25C1-1636-3934-4C3E-1B537D121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326" y="4599894"/>
                <a:ext cx="2776081" cy="246221"/>
              </a:xfrm>
              <a:prstGeom prst="rect">
                <a:avLst/>
              </a:prstGeom>
              <a:blipFill>
                <a:blip r:embed="rId7"/>
                <a:stretch>
                  <a:fillRect l="-3516" t="-27500" r="-3516" b="-50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604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4C56-49BC-B9FD-8745-3D3D3EB2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ANOVA FAKTORIAL 2-JALUR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67AFB8-C337-34AA-3A63-3E321AE7C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3. </a:t>
                </a:r>
                <a:r>
                  <a:rPr lang="en-US" dirty="0" err="1"/>
                  <a:t>Menghitung</a:t>
                </a:r>
                <a:r>
                  <a:rPr lang="en-US" dirty="0"/>
                  <a:t> </a:t>
                </a: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:r>
                  <a:rPr lang="en-US" dirty="0" err="1"/>
                  <a:t>kebebasan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antar</a:t>
                </a:r>
                <a:r>
                  <a:rPr lang="en-ID" dirty="0"/>
                  <a:t>-A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antar</a:t>
                </a:r>
                <a:r>
                  <a:rPr lang="en-ID" dirty="0"/>
                  <a:t>-B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interaksi</a:t>
                </a:r>
                <a:r>
                  <a:rPr lang="en-ID" dirty="0"/>
                  <a:t> </a:t>
                </a:r>
                <a:r>
                  <a:rPr lang="en-ID" dirty="0" err="1"/>
                  <a:t>AxB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D" dirty="0"/>
                  <a:t>), dan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dirty="0" err="1"/>
                  <a:t>kelompok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67AFB8-C337-34AA-3A63-3E321AE7C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5">
                <a:extLst>
                  <a:ext uri="{FF2B5EF4-FFF2-40B4-BE49-F238E27FC236}">
                    <a16:creationId xmlns:a16="http://schemas.microsoft.com/office/drawing/2014/main" id="{8A407C51-B5C7-1864-405B-F397550B32F4}"/>
                  </a:ext>
                </a:extLst>
              </p:cNvPr>
              <p:cNvSpPr txBox="1"/>
              <p:nvPr/>
            </p:nvSpPr>
            <p:spPr>
              <a:xfrm>
                <a:off x="1915115" y="3256773"/>
                <a:ext cx="1405193" cy="307777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4" name="TextBox 25">
                <a:extLst>
                  <a:ext uri="{FF2B5EF4-FFF2-40B4-BE49-F238E27FC236}">
                    <a16:creationId xmlns:a16="http://schemas.microsoft.com/office/drawing/2014/main" id="{8A407C51-B5C7-1864-405B-F397550B3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115" y="3256773"/>
                <a:ext cx="1405193" cy="307777"/>
              </a:xfrm>
              <a:prstGeom prst="rect">
                <a:avLst/>
              </a:prstGeom>
              <a:blipFill>
                <a:blip r:embed="rId3"/>
                <a:stretch>
                  <a:fillRect l="-4329" r="-3896" b="-1372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6">
                <a:extLst>
                  <a:ext uri="{FF2B5EF4-FFF2-40B4-BE49-F238E27FC236}">
                    <a16:creationId xmlns:a16="http://schemas.microsoft.com/office/drawing/2014/main" id="{DDF1A0DE-FCFD-481F-B3DA-10767954527F}"/>
                  </a:ext>
                </a:extLst>
              </p:cNvPr>
              <p:cNvSpPr txBox="1"/>
              <p:nvPr/>
            </p:nvSpPr>
            <p:spPr>
              <a:xfrm>
                <a:off x="1915115" y="3953589"/>
                <a:ext cx="1519198" cy="307777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5" name="TextBox 26">
                <a:extLst>
                  <a:ext uri="{FF2B5EF4-FFF2-40B4-BE49-F238E27FC236}">
                    <a16:creationId xmlns:a16="http://schemas.microsoft.com/office/drawing/2014/main" id="{DDF1A0DE-FCFD-481F-B3DA-107679545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115" y="3953589"/>
                <a:ext cx="1519198" cy="307777"/>
              </a:xfrm>
              <a:prstGeom prst="rect">
                <a:avLst/>
              </a:prstGeom>
              <a:blipFill>
                <a:blip r:embed="rId4"/>
                <a:stretch>
                  <a:fillRect l="-4016" r="-4016" b="-16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7">
                <a:extLst>
                  <a:ext uri="{FF2B5EF4-FFF2-40B4-BE49-F238E27FC236}">
                    <a16:creationId xmlns:a16="http://schemas.microsoft.com/office/drawing/2014/main" id="{0F54F337-8102-4D97-A643-51366865636E}"/>
                  </a:ext>
                </a:extLst>
              </p:cNvPr>
              <p:cNvSpPr txBox="1"/>
              <p:nvPr/>
            </p:nvSpPr>
            <p:spPr>
              <a:xfrm>
                <a:off x="1915115" y="4650405"/>
                <a:ext cx="1557542" cy="307777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6" name="TextBox 27">
                <a:extLst>
                  <a:ext uri="{FF2B5EF4-FFF2-40B4-BE49-F238E27FC236}">
                    <a16:creationId xmlns:a16="http://schemas.microsoft.com/office/drawing/2014/main" id="{0F54F337-8102-4D97-A643-51366865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115" y="4650405"/>
                <a:ext cx="1557542" cy="307777"/>
              </a:xfrm>
              <a:prstGeom prst="rect">
                <a:avLst/>
              </a:prstGeom>
              <a:blipFill>
                <a:blip r:embed="rId5"/>
                <a:stretch>
                  <a:fillRect l="-3906" r="-3516" b="-16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8">
                <a:extLst>
                  <a:ext uri="{FF2B5EF4-FFF2-40B4-BE49-F238E27FC236}">
                    <a16:creationId xmlns:a16="http://schemas.microsoft.com/office/drawing/2014/main" id="{1FBB69E1-07CD-4F3C-953B-65DB18D412DE}"/>
                  </a:ext>
                </a:extLst>
              </p:cNvPr>
              <p:cNvSpPr txBox="1"/>
              <p:nvPr/>
            </p:nvSpPr>
            <p:spPr>
              <a:xfrm>
                <a:off x="5447874" y="3256772"/>
                <a:ext cx="2037545" cy="307777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7" name="TextBox 28">
                <a:extLst>
                  <a:ext uri="{FF2B5EF4-FFF2-40B4-BE49-F238E27FC236}">
                    <a16:creationId xmlns:a16="http://schemas.microsoft.com/office/drawing/2014/main" id="{1FBB69E1-07CD-4F3C-953B-65DB18D41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874" y="3256772"/>
                <a:ext cx="2037545" cy="307777"/>
              </a:xfrm>
              <a:prstGeom prst="rect">
                <a:avLst/>
              </a:prstGeom>
              <a:blipFill>
                <a:blip r:embed="rId6"/>
                <a:stretch>
                  <a:fillRect l="-2695" r="-898" b="-156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29">
                <a:extLst>
                  <a:ext uri="{FF2B5EF4-FFF2-40B4-BE49-F238E27FC236}">
                    <a16:creationId xmlns:a16="http://schemas.microsoft.com/office/drawing/2014/main" id="{7DBD96FE-4F16-1B8A-A840-B925649AB630}"/>
                  </a:ext>
                </a:extLst>
              </p:cNvPr>
              <p:cNvSpPr txBox="1"/>
              <p:nvPr/>
            </p:nvSpPr>
            <p:spPr>
              <a:xfrm>
                <a:off x="5447874" y="3954185"/>
                <a:ext cx="3664593" cy="307777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𝑑𝑏</m:t>
                              </m:r>
                            </m:e>
                            <m:sub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𝑑𝑏</m:t>
                              </m:r>
                            </m:e>
                            <m:sub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𝑑𝑏</m:t>
                              </m:r>
                            </m:e>
                            <m:sub>
                              <m:r>
                                <a:rPr lang="en-US" sz="20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8" name="TextBox 29">
                <a:extLst>
                  <a:ext uri="{FF2B5EF4-FFF2-40B4-BE49-F238E27FC236}">
                    <a16:creationId xmlns:a16="http://schemas.microsoft.com/office/drawing/2014/main" id="{7DBD96FE-4F16-1B8A-A840-B925649AB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874" y="3954185"/>
                <a:ext cx="3664593" cy="307777"/>
              </a:xfrm>
              <a:prstGeom prst="rect">
                <a:avLst/>
              </a:prstGeom>
              <a:blipFill>
                <a:blip r:embed="rId7"/>
                <a:stretch>
                  <a:fillRect l="-1331" b="-18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749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5BF4-4763-E0F4-7F8D-5792531E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ANOVA FAKTORIAL 2-JALUR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DE6E0-350C-1A68-0341-7FE81F03CA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4. </a:t>
                </a:r>
                <a:r>
                  <a:rPr lang="en-US" dirty="0" err="1"/>
                  <a:t>Menghitung</a:t>
                </a:r>
                <a:r>
                  <a:rPr lang="en-US" dirty="0"/>
                  <a:t> rata-rata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  <a:r>
                  <a:rPr lang="en-US" dirty="0" err="1"/>
                  <a:t>antar</a:t>
                </a:r>
                <a:r>
                  <a:rPr lang="en-US" dirty="0"/>
                  <a:t>-A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antar</a:t>
                </a:r>
                <a:r>
                  <a:rPr lang="en-ID" dirty="0"/>
                  <a:t>-B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interaksi</a:t>
                </a:r>
                <a:r>
                  <a:rPr lang="en-ID" dirty="0"/>
                  <a:t> </a:t>
                </a:r>
                <a:r>
                  <a:rPr lang="en-ID" dirty="0" err="1"/>
                  <a:t>AxB</a:t>
                </a:r>
                <a:r>
                  <a:rPr lang="en-ID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D" dirty="0"/>
                  <a:t>), dan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dirty="0" err="1"/>
                  <a:t>kelompok</a:t>
                </a:r>
                <a:r>
                  <a:rPr lang="en-ID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).</a:t>
                </a:r>
              </a:p>
              <a:p>
                <a:pPr marL="45720" indent="0">
                  <a:buNone/>
                </a:pPr>
                <a:endParaRPr lang="en-ID" dirty="0"/>
              </a:p>
              <a:p>
                <a:pPr marL="4572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DE6E0-350C-1A68-0341-7FE81F03CA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 r="-92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0">
                <a:extLst>
                  <a:ext uri="{FF2B5EF4-FFF2-40B4-BE49-F238E27FC236}">
                    <a16:creationId xmlns:a16="http://schemas.microsoft.com/office/drawing/2014/main" id="{B57D3F65-9ECD-5BA5-938E-A87772833DAA}"/>
                  </a:ext>
                </a:extLst>
              </p:cNvPr>
              <p:cNvSpPr txBox="1"/>
              <p:nvPr/>
            </p:nvSpPr>
            <p:spPr>
              <a:xfrm>
                <a:off x="2598763" y="3286594"/>
                <a:ext cx="1390124" cy="57573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4" name="TextBox 30">
                <a:extLst>
                  <a:ext uri="{FF2B5EF4-FFF2-40B4-BE49-F238E27FC236}">
                    <a16:creationId xmlns:a16="http://schemas.microsoft.com/office/drawing/2014/main" id="{B57D3F65-9ECD-5BA5-938E-A87772833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763" y="3286594"/>
                <a:ext cx="1390124" cy="575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0">
                <a:extLst>
                  <a:ext uri="{FF2B5EF4-FFF2-40B4-BE49-F238E27FC236}">
                    <a16:creationId xmlns:a16="http://schemas.microsoft.com/office/drawing/2014/main" id="{B57D3F65-9ECD-5BA5-938E-A87772833DAA}"/>
                  </a:ext>
                </a:extLst>
              </p:cNvPr>
              <p:cNvSpPr txBox="1"/>
              <p:nvPr/>
            </p:nvSpPr>
            <p:spPr>
              <a:xfrm>
                <a:off x="2598763" y="4108398"/>
                <a:ext cx="1415709" cy="57573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5" name="TextBox 30">
                <a:extLst>
                  <a:ext uri="{FF2B5EF4-FFF2-40B4-BE49-F238E27FC236}">
                    <a16:creationId xmlns:a16="http://schemas.microsoft.com/office/drawing/2014/main" id="{B57D3F65-9ECD-5BA5-938E-A87772833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763" y="4108398"/>
                <a:ext cx="1415709" cy="575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0">
                <a:extLst>
                  <a:ext uri="{FF2B5EF4-FFF2-40B4-BE49-F238E27FC236}">
                    <a16:creationId xmlns:a16="http://schemas.microsoft.com/office/drawing/2014/main" id="{5013F046-D1FD-BACC-7129-C4E864448A5B}"/>
                  </a:ext>
                </a:extLst>
              </p:cNvPr>
              <p:cNvSpPr txBox="1"/>
              <p:nvPr/>
            </p:nvSpPr>
            <p:spPr>
              <a:xfrm>
                <a:off x="7183127" y="3285690"/>
                <a:ext cx="1685718" cy="57573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6" name="TextBox 30">
                <a:extLst>
                  <a:ext uri="{FF2B5EF4-FFF2-40B4-BE49-F238E27FC236}">
                    <a16:creationId xmlns:a16="http://schemas.microsoft.com/office/drawing/2014/main" id="{5013F046-D1FD-BACC-7129-C4E864448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27" y="3285690"/>
                <a:ext cx="1685718" cy="575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0">
                <a:extLst>
                  <a:ext uri="{FF2B5EF4-FFF2-40B4-BE49-F238E27FC236}">
                    <a16:creationId xmlns:a16="http://schemas.microsoft.com/office/drawing/2014/main" id="{282880AE-B55E-4FF5-17F2-6177E54314A0}"/>
                  </a:ext>
                </a:extLst>
              </p:cNvPr>
              <p:cNvSpPr txBox="1"/>
              <p:nvPr/>
            </p:nvSpPr>
            <p:spPr>
              <a:xfrm>
                <a:off x="7183127" y="4085897"/>
                <a:ext cx="1394356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7" name="TextBox 30">
                <a:extLst>
                  <a:ext uri="{FF2B5EF4-FFF2-40B4-BE49-F238E27FC236}">
                    <a16:creationId xmlns:a16="http://schemas.microsoft.com/office/drawing/2014/main" id="{282880AE-B55E-4FF5-17F2-6177E5431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27" y="4085897"/>
                <a:ext cx="1394356" cy="5785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81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4B5D-95C6-1E32-729A-4BC87E81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ANOVA FAKTORIAL 2-JALUR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00519B-69F4-F5A4-6684-34108D0B4F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5. </a:t>
                </a:r>
                <a:r>
                  <a:rPr lang="en-US" dirty="0" err="1"/>
                  <a:t>Menghitung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F </a:t>
                </a:r>
                <a:r>
                  <a:rPr lang="en-US" dirty="0" err="1"/>
                  <a:t>empiris</a:t>
                </a:r>
                <a:r>
                  <a:rPr lang="en-US" dirty="0"/>
                  <a:t>, </a:t>
                </a:r>
                <a:r>
                  <a:rPr lang="en-US" dirty="0" err="1"/>
                  <a:t>yaitu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D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,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00519B-69F4-F5A4-6684-34108D0B4F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4">
                <a:extLst>
                  <a:ext uri="{FF2B5EF4-FFF2-40B4-BE49-F238E27FC236}">
                    <a16:creationId xmlns:a16="http://schemas.microsoft.com/office/drawing/2014/main" id="{5A3081C6-D446-4518-A832-DE36375DD625}"/>
                  </a:ext>
                </a:extLst>
              </p:cNvPr>
              <p:cNvSpPr txBox="1"/>
              <p:nvPr/>
            </p:nvSpPr>
            <p:spPr>
              <a:xfrm>
                <a:off x="3270757" y="3115830"/>
                <a:ext cx="1234633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2000" dirty="0"/>
                  <a:t>  </a:t>
                </a:r>
              </a:p>
            </p:txBody>
          </p:sp>
        </mc:Choice>
        <mc:Fallback xmlns="">
          <p:sp>
            <p:nvSpPr>
              <p:cNvPr id="4" name="TextBox 34">
                <a:extLst>
                  <a:ext uri="{FF2B5EF4-FFF2-40B4-BE49-F238E27FC236}">
                    <a16:creationId xmlns:a16="http://schemas.microsoft.com/office/drawing/2014/main" id="{5A3081C6-D446-4518-A832-DE36375DD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757" y="3115830"/>
                <a:ext cx="1234633" cy="578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4">
                <a:extLst>
                  <a:ext uri="{FF2B5EF4-FFF2-40B4-BE49-F238E27FC236}">
                    <a16:creationId xmlns:a16="http://schemas.microsoft.com/office/drawing/2014/main" id="{5A3081C6-D446-4518-A832-DE36375DD625}"/>
                  </a:ext>
                </a:extLst>
              </p:cNvPr>
              <p:cNvSpPr txBox="1"/>
              <p:nvPr/>
            </p:nvSpPr>
            <p:spPr>
              <a:xfrm>
                <a:off x="3286851" y="4174260"/>
                <a:ext cx="1218539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2400" dirty="0"/>
                  <a:t> </a:t>
                </a:r>
              </a:p>
            </p:txBody>
          </p:sp>
        </mc:Choice>
        <mc:Fallback xmlns="">
          <p:sp>
            <p:nvSpPr>
              <p:cNvPr id="5" name="TextBox 34">
                <a:extLst>
                  <a:ext uri="{FF2B5EF4-FFF2-40B4-BE49-F238E27FC236}">
                    <a16:creationId xmlns:a16="http://schemas.microsoft.com/office/drawing/2014/main" id="{5A3081C6-D446-4518-A832-DE36375DD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851" y="4174260"/>
                <a:ext cx="1218539" cy="5785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4">
                <a:extLst>
                  <a:ext uri="{FF2B5EF4-FFF2-40B4-BE49-F238E27FC236}">
                    <a16:creationId xmlns:a16="http://schemas.microsoft.com/office/drawing/2014/main" id="{5A3081C6-D446-4518-A832-DE36375DD625}"/>
                  </a:ext>
                </a:extLst>
              </p:cNvPr>
              <p:cNvSpPr txBox="1"/>
              <p:nvPr/>
            </p:nvSpPr>
            <p:spPr>
              <a:xfrm>
                <a:off x="7070785" y="3139722"/>
                <a:ext cx="1530227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2000" dirty="0"/>
                  <a:t>  </a:t>
                </a:r>
              </a:p>
            </p:txBody>
          </p:sp>
        </mc:Choice>
        <mc:Fallback xmlns="">
          <p:sp>
            <p:nvSpPr>
              <p:cNvPr id="6" name="TextBox 34">
                <a:extLst>
                  <a:ext uri="{FF2B5EF4-FFF2-40B4-BE49-F238E27FC236}">
                    <a16:creationId xmlns:a16="http://schemas.microsoft.com/office/drawing/2014/main" id="{5A3081C6-D446-4518-A832-DE36375DD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785" y="3139722"/>
                <a:ext cx="1530227" cy="5785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64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4B5D-95C6-1E32-729A-4BC87E81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ANOVA FAKTORIAL 2-JALUR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00519B-69F4-F5A4-6684-34108D0B4F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6. </a:t>
                </a:r>
                <a:r>
                  <a:rPr lang="en-US" dirty="0" err="1"/>
                  <a:t>Menentukan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</m:oMath>
                </a14:m>
                <a:r>
                  <a:rPr lang="en-ID" dirty="0"/>
                  <a:t> pada </a:t>
                </a:r>
                <a:r>
                  <a:rPr lang="en-ID" dirty="0" err="1"/>
                  <a:t>Tabel</a:t>
                </a:r>
                <a:r>
                  <a:rPr lang="en-ID" dirty="0"/>
                  <a:t> F-ratio </a:t>
                </a:r>
                <a:r>
                  <a:rPr lang="en-ID" dirty="0" err="1"/>
                  <a:t>dengan</a:t>
                </a:r>
                <a:r>
                  <a:rPr lang="en-ID" dirty="0"/>
                  <a:t> </a:t>
                </a:r>
                <a:r>
                  <a:rPr lang="en-ID" dirty="0" err="1"/>
                  <a:t>taraf</a:t>
                </a:r>
                <a:r>
                  <a:rPr lang="en-ID" dirty="0"/>
                  <a:t> </a:t>
                </a:r>
                <a:r>
                  <a:rPr lang="en-ID" dirty="0" err="1"/>
                  <a:t>signifikansi</a:t>
                </a:r>
                <a:r>
                  <a:rPr lang="en-ID" dirty="0"/>
                  <a:t> 0,05. Pada </a:t>
                </a:r>
                <a:r>
                  <a:rPr lang="en-ID" dirty="0" err="1"/>
                  <a:t>tahap</a:t>
                </a:r>
                <a:r>
                  <a:rPr lang="en-ID" dirty="0"/>
                  <a:t> </a:t>
                </a:r>
                <a:r>
                  <a:rPr lang="en-ID" dirty="0" err="1"/>
                  <a:t>ini</a:t>
                </a:r>
                <a:r>
                  <a:rPr lang="en-ID" dirty="0"/>
                  <a:t>, </a:t>
                </a:r>
                <a:r>
                  <a:rPr lang="en-ID" dirty="0" err="1"/>
                  <a:t>nilai</a:t>
                </a:r>
                <a:r>
                  <a:rPr lang="en-ID" dirty="0"/>
                  <a:t> numerator dan denominator yang </a:t>
                </a:r>
                <a:r>
                  <a:rPr lang="en-ID" dirty="0" err="1"/>
                  <a:t>digunakan</a:t>
                </a:r>
                <a:r>
                  <a:rPr lang="en-ID" dirty="0"/>
                  <a:t> </a:t>
                </a:r>
                <a:r>
                  <a:rPr lang="en-ID" dirty="0" err="1"/>
                  <a:t>adalah</a:t>
                </a:r>
                <a:r>
                  <a:rPr lang="en-ID" dirty="0"/>
                  <a:t>:</a:t>
                </a:r>
              </a:p>
              <a:p>
                <a:pPr marL="502920" indent="-45720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𝐴𝑡𝑎𝑏𝑒𝑙</m:t>
                        </m:r>
                      </m:sub>
                    </m:sSub>
                  </m:oMath>
                </a14:m>
                <a:r>
                  <a:rPr lang="en-ID" dirty="0"/>
                  <a:t>             num: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D" dirty="0"/>
                  <a:t>, </a:t>
                </a:r>
                <a:r>
                  <a:rPr lang="en-ID" dirty="0" err="1"/>
                  <a:t>denum</a:t>
                </a:r>
                <a:r>
                  <a:rPr lang="en-ID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 </a:t>
                </a:r>
              </a:p>
              <a:p>
                <a:pPr marL="502920" indent="-457200">
                  <a:buFont typeface="Corbel" pitchFamily="34" charset="0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𝐵𝑡𝑎𝑏𝑒𝑙</m:t>
                        </m:r>
                      </m:sub>
                    </m:sSub>
                  </m:oMath>
                </a14:m>
                <a:r>
                  <a:rPr lang="en-ID" dirty="0"/>
                  <a:t>             num: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, </a:t>
                </a:r>
                <a:r>
                  <a:rPr lang="en-ID" dirty="0" err="1"/>
                  <a:t>denum</a:t>
                </a:r>
                <a:r>
                  <a:rPr lang="en-ID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 </a:t>
                </a:r>
              </a:p>
              <a:p>
                <a:pPr marL="502920" indent="-457200">
                  <a:buFont typeface="Corbel" pitchFamily="34" charset="0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𝐴𝐵𝑡𝑎𝑏𝑒𝑙</m:t>
                        </m:r>
                      </m:sub>
                    </m:sSub>
                  </m:oMath>
                </a14:m>
                <a:r>
                  <a:rPr lang="en-ID" dirty="0"/>
                  <a:t>             num: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D" dirty="0"/>
                  <a:t>, </a:t>
                </a:r>
                <a:r>
                  <a:rPr lang="en-ID" dirty="0" err="1"/>
                  <a:t>denum</a:t>
                </a:r>
                <a:r>
                  <a:rPr lang="en-ID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 </a:t>
                </a:r>
              </a:p>
              <a:p>
                <a:pPr marL="502920" indent="-457200">
                  <a:buAutoNum type="alphaLcPeriod"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00519B-69F4-F5A4-6684-34108D0B4F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4ABAFA23-1043-F0F8-D417-0AF8B874C7EE}"/>
              </a:ext>
            </a:extLst>
          </p:cNvPr>
          <p:cNvSpPr/>
          <p:nvPr/>
        </p:nvSpPr>
        <p:spPr>
          <a:xfrm>
            <a:off x="2659117" y="2913994"/>
            <a:ext cx="515007" cy="2496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3B94E64-99AC-DB1A-7B08-EEDB4B9FAA1C}"/>
              </a:ext>
            </a:extLst>
          </p:cNvPr>
          <p:cNvSpPr/>
          <p:nvPr/>
        </p:nvSpPr>
        <p:spPr>
          <a:xfrm>
            <a:off x="2659117" y="3391422"/>
            <a:ext cx="515007" cy="2496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B17920E-8C1E-C3CF-7D40-BA1FC23F143E}"/>
              </a:ext>
            </a:extLst>
          </p:cNvPr>
          <p:cNvSpPr/>
          <p:nvPr/>
        </p:nvSpPr>
        <p:spPr>
          <a:xfrm>
            <a:off x="2758967" y="3874378"/>
            <a:ext cx="515007" cy="2496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6516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CCE7-758D-7302-3ABC-2DEB7681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ANOVA FAKTORIAL 2-JALUR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AD352-F8D5-2037-52BF-984EDB318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7. </a:t>
            </a:r>
            <a:r>
              <a:rPr lang="en-US" dirty="0" err="1"/>
              <a:t>Melakukan</a:t>
            </a:r>
            <a:r>
              <a:rPr lang="en-US" dirty="0"/>
              <a:t> uji </a:t>
            </a:r>
            <a:r>
              <a:rPr lang="en-US" dirty="0" err="1"/>
              <a:t>signifikansi</a:t>
            </a:r>
            <a:r>
              <a:rPr lang="en-US" dirty="0"/>
              <a:t> dan </a:t>
            </a:r>
            <a:r>
              <a:rPr lang="en-US" dirty="0" err="1"/>
              <a:t>penarikan</a:t>
            </a:r>
            <a:r>
              <a:rPr lang="en-US" dirty="0"/>
              <a:t> </a:t>
            </a:r>
            <a:r>
              <a:rPr lang="en-US" dirty="0" err="1"/>
              <a:t>kesimpulan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:</a:t>
            </a:r>
          </a:p>
          <a:p>
            <a:pPr marL="45720" indent="0">
              <a:buNone/>
            </a:pPr>
            <a:r>
              <a:rPr lang="en-US" dirty="0"/>
              <a:t>Jika                                           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yang </a:t>
            </a:r>
            <a:r>
              <a:rPr lang="en-US" dirty="0" err="1"/>
              <a:t>signifikan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dirty="0"/>
              <a:t>Jika                                           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yang </a:t>
            </a:r>
            <a:r>
              <a:rPr lang="en-US" dirty="0" err="1"/>
              <a:t>signifikan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.</a:t>
            </a:r>
          </a:p>
          <a:p>
            <a:pPr marL="45720" indent="0">
              <a:buNone/>
            </a:pPr>
            <a:r>
              <a:rPr lang="en-ID" dirty="0"/>
              <a:t>            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0">
                <a:extLst>
                  <a:ext uri="{FF2B5EF4-FFF2-40B4-BE49-F238E27FC236}">
                    <a16:creationId xmlns:a16="http://schemas.microsoft.com/office/drawing/2014/main" id="{8BF83050-EC7D-E135-2172-C4AB3F871EDD}"/>
                  </a:ext>
                </a:extLst>
              </p:cNvPr>
              <p:cNvSpPr txBox="1"/>
              <p:nvPr/>
            </p:nvSpPr>
            <p:spPr>
              <a:xfrm>
                <a:off x="1859555" y="2507375"/>
                <a:ext cx="2241383" cy="39786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𝑒𝑚𝑝𝑖𝑟𝑖𝑠</m:t>
                          </m:r>
                        </m:sub>
                      </m:sSub>
                      <m:r>
                        <a:rPr lang="en-ID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D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40">
                <a:extLst>
                  <a:ext uri="{FF2B5EF4-FFF2-40B4-BE49-F238E27FC236}">
                    <a16:creationId xmlns:a16="http://schemas.microsoft.com/office/drawing/2014/main" id="{8BF83050-EC7D-E135-2172-C4AB3F871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555" y="2507375"/>
                <a:ext cx="2241383" cy="397866"/>
              </a:xfrm>
              <a:prstGeom prst="rect">
                <a:avLst/>
              </a:prstGeom>
              <a:blipFill>
                <a:blip r:embed="rId2"/>
                <a:stretch>
                  <a:fillRect l="-2717" r="-1087" b="-2424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0">
                <a:extLst>
                  <a:ext uri="{FF2B5EF4-FFF2-40B4-BE49-F238E27FC236}">
                    <a16:creationId xmlns:a16="http://schemas.microsoft.com/office/drawing/2014/main" id="{F3D71118-A43F-E718-66E0-C9938C00157A}"/>
                  </a:ext>
                </a:extLst>
              </p:cNvPr>
              <p:cNvSpPr txBox="1"/>
              <p:nvPr/>
            </p:nvSpPr>
            <p:spPr>
              <a:xfrm>
                <a:off x="1859555" y="3293127"/>
                <a:ext cx="2241383" cy="39786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𝑒𝑚𝑝𝑖𝑟𝑖𝑠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D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0">
                <a:extLst>
                  <a:ext uri="{FF2B5EF4-FFF2-40B4-BE49-F238E27FC236}">
                    <a16:creationId xmlns:a16="http://schemas.microsoft.com/office/drawing/2014/main" id="{F3D71118-A43F-E718-66E0-C9938C001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555" y="3293127"/>
                <a:ext cx="2241383" cy="397866"/>
              </a:xfrm>
              <a:prstGeom prst="rect">
                <a:avLst/>
              </a:prstGeom>
              <a:blipFill>
                <a:blip r:embed="rId3"/>
                <a:stretch>
                  <a:fillRect l="-2717" r="-1087" b="-2615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37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9F9B-77C6-1E19-FF11-4869FECA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E8878-73AE-95EA-3FBD-428C7B5FA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eksperimen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psikologi</a:t>
            </a:r>
            <a:r>
              <a:rPr lang="en-US" dirty="0"/>
              <a:t> </a:t>
            </a:r>
            <a:r>
              <a:rPr lang="en-US" dirty="0" err="1"/>
              <a:t>sosial</a:t>
            </a:r>
            <a:r>
              <a:rPr lang="en-US" dirty="0"/>
              <a:t>, </a:t>
            </a: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penyampaian</a:t>
            </a:r>
            <a:r>
              <a:rPr lang="en-US" dirty="0"/>
              <a:t> dan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himbauan</a:t>
            </a:r>
            <a:r>
              <a:rPr lang="en-US" dirty="0"/>
              <a:t> yang </a:t>
            </a:r>
            <a:r>
              <a:rPr lang="en-US" dirty="0" err="1"/>
              <a:t>efektif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sikap</a:t>
            </a:r>
            <a:r>
              <a:rPr lang="en-US" dirty="0"/>
              <a:t> yang </a:t>
            </a:r>
            <a:r>
              <a:rPr lang="en-US" dirty="0" err="1"/>
              <a:t>dilandasi</a:t>
            </a:r>
            <a:r>
              <a:rPr lang="en-US" dirty="0"/>
              <a:t> oleh </a:t>
            </a:r>
            <a:r>
              <a:rPr lang="en-US" dirty="0" err="1"/>
              <a:t>prasangka</a:t>
            </a:r>
            <a:r>
              <a:rPr lang="en-US" dirty="0"/>
              <a:t> pada para </a:t>
            </a:r>
            <a:r>
              <a:rPr lang="en-US" dirty="0" err="1"/>
              <a:t>remaja</a:t>
            </a:r>
            <a:r>
              <a:rPr lang="en-US" dirty="0"/>
              <a:t>.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penyampaian</a:t>
            </a:r>
            <a:r>
              <a:rPr lang="en-US" dirty="0"/>
              <a:t> </a:t>
            </a:r>
            <a:r>
              <a:rPr lang="en-US" dirty="0" err="1"/>
              <a:t>himbauan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A yang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2 </a:t>
            </a:r>
            <a:r>
              <a:rPr lang="en-US" dirty="0" err="1"/>
              <a:t>kategori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A1 (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penyampaian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berapi-api</a:t>
            </a:r>
            <a:r>
              <a:rPr lang="en-US" dirty="0"/>
              <a:t>) dan A2 (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penyampaian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tenang</a:t>
            </a:r>
            <a:r>
              <a:rPr lang="en-US" dirty="0"/>
              <a:t>).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himbauan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B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3 </a:t>
            </a:r>
            <a:r>
              <a:rPr lang="en-US" dirty="0" err="1"/>
              <a:t>kategori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B1 (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himbauan</a:t>
            </a:r>
            <a:r>
              <a:rPr lang="en-US" dirty="0"/>
              <a:t> religious), B2 (</a:t>
            </a:r>
            <a:r>
              <a:rPr lang="en-US" dirty="0" err="1"/>
              <a:t>himbauan</a:t>
            </a:r>
            <a:r>
              <a:rPr lang="en-US" dirty="0"/>
              <a:t> sportif), dan B3 (</a:t>
            </a:r>
            <a:r>
              <a:rPr lang="en-US" dirty="0" err="1"/>
              <a:t>himbauan</a:t>
            </a:r>
            <a:r>
              <a:rPr lang="en-US" dirty="0"/>
              <a:t> </a:t>
            </a:r>
            <a:r>
              <a:rPr lang="en-US" dirty="0" err="1"/>
              <a:t>demokratis</a:t>
            </a:r>
            <a:r>
              <a:rPr lang="en-US" dirty="0"/>
              <a:t>).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sikap</a:t>
            </a:r>
            <a:r>
              <a:rPr lang="en-US" dirty="0"/>
              <a:t> (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terikat</a:t>
            </a:r>
            <a:r>
              <a:rPr lang="en-US" dirty="0"/>
              <a:t>) yang </a:t>
            </a:r>
            <a:r>
              <a:rPr lang="en-US" dirty="0" err="1"/>
              <a:t>ditunjukkan</a:t>
            </a:r>
            <a:r>
              <a:rPr lang="en-US" dirty="0"/>
              <a:t> oleh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2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diukur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pelaksanaan</a:t>
            </a:r>
            <a:r>
              <a:rPr lang="en-US" dirty="0"/>
              <a:t> </a:t>
            </a:r>
            <a:r>
              <a:rPr lang="en-US" dirty="0" err="1"/>
              <a:t>eksperimen</a:t>
            </a:r>
            <a:r>
              <a:rPr lang="en-US" dirty="0"/>
              <a:t> (</a:t>
            </a:r>
            <a:r>
              <a:rPr lang="en-US" dirty="0" err="1"/>
              <a:t>Sudaryono</a:t>
            </a:r>
            <a:r>
              <a:rPr lang="en-US" dirty="0"/>
              <a:t>, 2014).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0560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1DB8-186D-7D34-9A26-758AE1CE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C8C52-A04D-DF3E-3444-CAE278BB5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Tabel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skor-skor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sikap</a:t>
            </a:r>
            <a:r>
              <a:rPr lang="en-US" dirty="0"/>
              <a:t> </a:t>
            </a:r>
            <a:r>
              <a:rPr lang="en-US" dirty="0" err="1"/>
              <a:t>remaja</a:t>
            </a:r>
            <a:r>
              <a:rPr lang="en-US" dirty="0"/>
              <a:t> pada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  <a:endParaRPr lang="en-ID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23230C-AE9A-F263-53BF-6156D6B8D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74054"/>
              </p:ext>
            </p:extLst>
          </p:nvPr>
        </p:nvGraphicFramePr>
        <p:xfrm>
          <a:off x="2032000" y="315634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658451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261166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767232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0540134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Metode</a:t>
                      </a:r>
                      <a:r>
                        <a:rPr lang="en-US" dirty="0"/>
                        <a:t> (A)</a:t>
                      </a:r>
                      <a:endParaRPr lang="en-ID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Jenis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Imbauan</a:t>
                      </a:r>
                      <a:r>
                        <a:rPr lang="en-US" dirty="0"/>
                        <a:t> (B)</a:t>
                      </a:r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7672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Religius</a:t>
                      </a:r>
                      <a:r>
                        <a:rPr lang="en-US" b="1" dirty="0"/>
                        <a:t> (B1)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Sportif (B2)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Demokratis</a:t>
                      </a:r>
                      <a:r>
                        <a:rPr lang="en-US" b="1" dirty="0"/>
                        <a:t> (B3)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94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Berapi-api</a:t>
                      </a:r>
                      <a:r>
                        <a:rPr lang="en-US" b="1" dirty="0"/>
                        <a:t> (A1)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7,8,6,4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5,7,4,3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4,3,5,2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51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Tenang</a:t>
                      </a:r>
                      <a:r>
                        <a:rPr lang="en-US" b="1" dirty="0"/>
                        <a:t> (A2)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9,8,7,6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8,6,5,4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5,6,4,3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238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941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1DB8-186D-7D34-9A26-758AE1CE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C8C52-A04D-DF3E-3444-CAE278BB5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1. </a:t>
            </a: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penolong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97170-02E0-1559-C517-66549D705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58" t="22069" r="31983" b="30269"/>
          <a:stretch/>
        </p:blipFill>
        <p:spPr>
          <a:xfrm>
            <a:off x="3236387" y="2727666"/>
            <a:ext cx="5686096" cy="336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FBC8-C415-E8FD-3FB0-06EB4F06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2F7F1-B588-9D7A-DE90-2712073E76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2. </a:t>
                </a:r>
                <a:r>
                  <a:rPr lang="en-US" dirty="0" err="1"/>
                  <a:t>Hitung</a:t>
                </a:r>
                <a:r>
                  <a:rPr lang="en-US" dirty="0"/>
                  <a:t>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r>
                  <a:rPr lang="en-US" dirty="0"/>
                  <a:t> Total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antarkelompok</a:t>
                </a:r>
                <a:r>
                  <a:rPr lang="en-US" dirty="0"/>
                  <a:t> 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antarkelompok</a:t>
                </a:r>
                <a:r>
                  <a:rPr lang="en-US" dirty="0"/>
                  <a:t>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D" dirty="0"/>
                  <a:t>, </a:t>
                </a:r>
                <a:r>
                  <a:rPr lang="en-ID" dirty="0" err="1"/>
                  <a:t>interaksi</a:t>
                </a:r>
                <a:r>
                  <a:rPr lang="en-ID" dirty="0"/>
                  <a:t> </a:t>
                </a:r>
                <a:r>
                  <a:rPr lang="en-ID" dirty="0" err="1"/>
                  <a:t>antarkelompok</a:t>
                </a:r>
                <a:r>
                  <a:rPr lang="en-ID" dirty="0"/>
                  <a:t> A dan 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dan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dirty="0" err="1"/>
                  <a:t>kelompok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).</a:t>
                </a:r>
              </a:p>
              <a:p>
                <a:pPr marL="4572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2F7F1-B588-9D7A-DE90-2712073E76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8">
                <a:extLst>
                  <a:ext uri="{FF2B5EF4-FFF2-40B4-BE49-F238E27FC236}">
                    <a16:creationId xmlns:a16="http://schemas.microsoft.com/office/drawing/2014/main" id="{0F709672-D1F0-0E23-8D8A-64B25ECC7C1E}"/>
                  </a:ext>
                </a:extLst>
              </p:cNvPr>
              <p:cNvSpPr txBox="1"/>
              <p:nvPr/>
            </p:nvSpPr>
            <p:spPr>
              <a:xfrm>
                <a:off x="1304334" y="3353589"/>
                <a:ext cx="3637214" cy="539571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𝐽𝑘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775−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129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=81,625</m:t>
                      </m:r>
                    </m:oMath>
                  </m:oMathPara>
                </a14:m>
                <a:endParaRPr lang="en-ID" sz="1400" dirty="0"/>
              </a:p>
            </p:txBody>
          </p:sp>
        </mc:Choice>
        <mc:Fallback xmlns="">
          <p:sp>
            <p:nvSpPr>
              <p:cNvPr id="4" name="TextBox 8">
                <a:extLst>
                  <a:ext uri="{FF2B5EF4-FFF2-40B4-BE49-F238E27FC236}">
                    <a16:creationId xmlns:a16="http://schemas.microsoft.com/office/drawing/2014/main" id="{0F709672-D1F0-0E23-8D8A-64B25ECC7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34" y="3353589"/>
                <a:ext cx="3637214" cy="539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8">
                <a:extLst>
                  <a:ext uri="{FF2B5EF4-FFF2-40B4-BE49-F238E27FC236}">
                    <a16:creationId xmlns:a16="http://schemas.microsoft.com/office/drawing/2014/main" id="{0E1203DC-9F27-690F-7F4D-1FF705A51FA0}"/>
                  </a:ext>
                </a:extLst>
              </p:cNvPr>
              <p:cNvSpPr txBox="1"/>
              <p:nvPr/>
            </p:nvSpPr>
            <p:spPr>
              <a:xfrm>
                <a:off x="1304334" y="4203481"/>
                <a:ext cx="5254121" cy="85199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no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1400" b="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400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58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71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lang="en-ID" sz="1400" dirty="0"/>
                  <a:t>-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129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=7,042</m:t>
                    </m:r>
                  </m:oMath>
                </a14:m>
                <a:r>
                  <a:rPr lang="en-ID" sz="1400" dirty="0"/>
                  <a:t> </a:t>
                </a:r>
              </a:p>
            </p:txBody>
          </p:sp>
        </mc:Choice>
        <mc:Fallback xmlns="">
          <p:sp>
            <p:nvSpPr>
              <p:cNvPr id="5" name="TextBox 18">
                <a:extLst>
                  <a:ext uri="{FF2B5EF4-FFF2-40B4-BE49-F238E27FC236}">
                    <a16:creationId xmlns:a16="http://schemas.microsoft.com/office/drawing/2014/main" id="{0E1203DC-9F27-690F-7F4D-1FF705A5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34" y="4203481"/>
                <a:ext cx="5254121" cy="851995"/>
              </a:xfrm>
              <a:prstGeom prst="rect">
                <a:avLst/>
              </a:prstGeom>
              <a:blipFill>
                <a:blip r:embed="rId4"/>
                <a:stretch>
                  <a:fillRect l="-1508" t="-273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9">
                <a:extLst>
                  <a:ext uri="{FF2B5EF4-FFF2-40B4-BE49-F238E27FC236}">
                    <a16:creationId xmlns:a16="http://schemas.microsoft.com/office/drawing/2014/main" id="{777C7675-5ACC-4631-969D-0D3EE63760D8}"/>
                  </a:ext>
                </a:extLst>
              </p:cNvPr>
              <p:cNvSpPr txBox="1"/>
              <p:nvPr/>
            </p:nvSpPr>
            <p:spPr>
              <a:xfrm>
                <a:off x="1304334" y="5146916"/>
                <a:ext cx="5947804" cy="50765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no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4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1400" b="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400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sz="1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129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ID" sz="1400" dirty="0"/>
                  <a:t>=33,25</a:t>
                </a:r>
              </a:p>
            </p:txBody>
          </p:sp>
        </mc:Choice>
        <mc:Fallback xmlns="">
          <p:sp>
            <p:nvSpPr>
              <p:cNvPr id="6" name="TextBox 19">
                <a:extLst>
                  <a:ext uri="{FF2B5EF4-FFF2-40B4-BE49-F238E27FC236}">
                    <a16:creationId xmlns:a16="http://schemas.microsoft.com/office/drawing/2014/main" id="{777C7675-5ACC-4631-969D-0D3EE6376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34" y="5146916"/>
                <a:ext cx="5947804" cy="507650"/>
              </a:xfrm>
              <a:prstGeom prst="rect">
                <a:avLst/>
              </a:prstGeom>
              <a:blipFill>
                <a:blip r:embed="rId5"/>
                <a:stretch>
                  <a:fillRect l="-1332" t="-44048" b="-1547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35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FBC8-C415-E8FD-3FB0-06EB4F06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F7F1-B588-9D7A-DE90-2712073E7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20">
                <a:extLst>
                  <a:ext uri="{FF2B5EF4-FFF2-40B4-BE49-F238E27FC236}">
                    <a16:creationId xmlns:a16="http://schemas.microsoft.com/office/drawing/2014/main" id="{1C426294-D53E-5172-88AD-2AC45B1B8FC8}"/>
                  </a:ext>
                </a:extLst>
              </p:cNvPr>
              <p:cNvSpPr txBox="1"/>
              <p:nvPr/>
            </p:nvSpPr>
            <p:spPr>
              <a:xfrm>
                <a:off x="787900" y="2241266"/>
                <a:ext cx="5395186" cy="65453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𝐽𝑘</m:t>
                          </m:r>
                        </m:e>
                        <m:sub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sz="16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𝐴𝐵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nary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6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1600" b="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𝐽𝑘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𝐽𝑘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20">
                <a:extLst>
                  <a:ext uri="{FF2B5EF4-FFF2-40B4-BE49-F238E27FC236}">
                    <a16:creationId xmlns:a16="http://schemas.microsoft.com/office/drawing/2014/main" id="{1C426294-D53E-5172-88AD-2AC45B1B8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00" y="2241266"/>
                <a:ext cx="5395186" cy="654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5EC888-F8E7-63F5-58DB-243A30C02F2B}"/>
                  </a:ext>
                </a:extLst>
              </p:cNvPr>
              <p:cNvSpPr txBox="1"/>
              <p:nvPr/>
            </p:nvSpPr>
            <p:spPr>
              <a:xfrm>
                <a:off x="1811157" y="3043477"/>
                <a:ext cx="7897868" cy="771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19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14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30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18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129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7,042+33,25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=0,0833</m:t>
                      </m:r>
                    </m:oMath>
                  </m:oMathPara>
                </a14:m>
                <a:endParaRPr lang="en-ID" sz="1600" dirty="0"/>
              </a:p>
              <a:p>
                <a:endParaRPr lang="en-ID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5EC888-F8E7-63F5-58DB-243A30C02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157" y="3043477"/>
                <a:ext cx="7897868" cy="771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2">
                <a:extLst>
                  <a:ext uri="{FF2B5EF4-FFF2-40B4-BE49-F238E27FC236}">
                    <a16:creationId xmlns:a16="http://schemas.microsoft.com/office/drawing/2014/main" id="{001E25C1-1636-3934-4C3E-1B537D121FAC}"/>
                  </a:ext>
                </a:extLst>
              </p:cNvPr>
              <p:cNvSpPr txBox="1"/>
              <p:nvPr/>
            </p:nvSpPr>
            <p:spPr>
              <a:xfrm>
                <a:off x="1476538" y="4209157"/>
                <a:ext cx="5859874" cy="246221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𝐽𝑘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D" sz="1600" dirty="0"/>
                  <a:t> 81,62-(7,042+33,25+0,0833=41,25 </a:t>
                </a:r>
              </a:p>
            </p:txBody>
          </p:sp>
        </mc:Choice>
        <mc:Fallback xmlns="">
          <p:sp>
            <p:nvSpPr>
              <p:cNvPr id="10" name="TextBox 22">
                <a:extLst>
                  <a:ext uri="{FF2B5EF4-FFF2-40B4-BE49-F238E27FC236}">
                    <a16:creationId xmlns:a16="http://schemas.microsoft.com/office/drawing/2014/main" id="{001E25C1-1636-3934-4C3E-1B537D121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538" y="4209157"/>
                <a:ext cx="5859874" cy="246221"/>
              </a:xfrm>
              <a:prstGeom prst="rect">
                <a:avLst/>
              </a:prstGeom>
              <a:blipFill>
                <a:blip r:embed="rId4"/>
                <a:stretch>
                  <a:fillRect l="-1561" t="-24390" r="-1249" b="-4878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456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CCFA-9C5E-8C07-BAC1-1203B164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015A1-FB20-FC07-AFB9-298F4ABC00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3. </a:t>
                </a:r>
                <a:r>
                  <a:rPr lang="en-US" dirty="0" err="1"/>
                  <a:t>Menghitung</a:t>
                </a:r>
                <a:r>
                  <a:rPr lang="en-US" dirty="0"/>
                  <a:t> </a:t>
                </a: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:r>
                  <a:rPr lang="en-US" dirty="0" err="1"/>
                  <a:t>kebebasan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antar</a:t>
                </a:r>
                <a:r>
                  <a:rPr lang="en-ID" dirty="0"/>
                  <a:t>-A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antar</a:t>
                </a:r>
                <a:r>
                  <a:rPr lang="en-ID" dirty="0"/>
                  <a:t>-B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interaksi</a:t>
                </a:r>
                <a:r>
                  <a:rPr lang="en-ID" dirty="0"/>
                  <a:t> </a:t>
                </a:r>
                <a:r>
                  <a:rPr lang="en-ID" dirty="0" err="1"/>
                  <a:t>AxB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D" dirty="0"/>
                  <a:t>), dan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dirty="0" err="1"/>
                  <a:t>kelompok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). </a:t>
                </a:r>
              </a:p>
              <a:p>
                <a:pPr marL="45720" indent="0">
                  <a:buNone/>
                </a:pPr>
                <a:endParaRPr lang="en-ID" dirty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015A1-FB20-FC07-AFB9-298F4ABC00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5">
                <a:extLst>
                  <a:ext uri="{FF2B5EF4-FFF2-40B4-BE49-F238E27FC236}">
                    <a16:creationId xmlns:a16="http://schemas.microsoft.com/office/drawing/2014/main" id="{8A407C51-B5C7-1864-405B-F397550B32F4}"/>
                  </a:ext>
                </a:extLst>
              </p:cNvPr>
              <p:cNvSpPr txBox="1"/>
              <p:nvPr/>
            </p:nvSpPr>
            <p:spPr>
              <a:xfrm>
                <a:off x="1488320" y="3182779"/>
                <a:ext cx="2783967" cy="2769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24−1=23</m:t>
                      </m:r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6" name="TextBox 25">
                <a:extLst>
                  <a:ext uri="{FF2B5EF4-FFF2-40B4-BE49-F238E27FC236}">
                    <a16:creationId xmlns:a16="http://schemas.microsoft.com/office/drawing/2014/main" id="{8A407C51-B5C7-1864-405B-F397550B3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320" y="3182779"/>
                <a:ext cx="2783967" cy="276999"/>
              </a:xfrm>
              <a:prstGeom prst="rect">
                <a:avLst/>
              </a:prstGeom>
              <a:blipFill>
                <a:blip r:embed="rId3"/>
                <a:stretch>
                  <a:fillRect l="-1751" r="-1751" b="-130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6">
                <a:extLst>
                  <a:ext uri="{FF2B5EF4-FFF2-40B4-BE49-F238E27FC236}">
                    <a16:creationId xmlns:a16="http://schemas.microsoft.com/office/drawing/2014/main" id="{DDF1A0DE-FCFD-481F-B3DA-10767954527F}"/>
                  </a:ext>
                </a:extLst>
              </p:cNvPr>
              <p:cNvSpPr txBox="1"/>
              <p:nvPr/>
            </p:nvSpPr>
            <p:spPr>
              <a:xfrm>
                <a:off x="1488320" y="4076700"/>
                <a:ext cx="2633093" cy="2769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2−1=1</m:t>
                      </m:r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7" name="TextBox 26">
                <a:extLst>
                  <a:ext uri="{FF2B5EF4-FFF2-40B4-BE49-F238E27FC236}">
                    <a16:creationId xmlns:a16="http://schemas.microsoft.com/office/drawing/2014/main" id="{DDF1A0DE-FCFD-481F-B3DA-107679545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320" y="4076700"/>
                <a:ext cx="2633093" cy="276999"/>
              </a:xfrm>
              <a:prstGeom prst="rect">
                <a:avLst/>
              </a:prstGeom>
              <a:blipFill>
                <a:blip r:embed="rId4"/>
                <a:stretch>
                  <a:fillRect l="-1852" r="-1852" b="-155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27">
                <a:extLst>
                  <a:ext uri="{FF2B5EF4-FFF2-40B4-BE49-F238E27FC236}">
                    <a16:creationId xmlns:a16="http://schemas.microsoft.com/office/drawing/2014/main" id="{0F54F337-8102-4D97-A643-51366865636E}"/>
                  </a:ext>
                </a:extLst>
              </p:cNvPr>
              <p:cNvSpPr txBox="1"/>
              <p:nvPr/>
            </p:nvSpPr>
            <p:spPr>
              <a:xfrm>
                <a:off x="1488320" y="5086350"/>
                <a:ext cx="2664897" cy="2769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=3−1=2</m:t>
                      </m:r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8" name="TextBox 27">
                <a:extLst>
                  <a:ext uri="{FF2B5EF4-FFF2-40B4-BE49-F238E27FC236}">
                    <a16:creationId xmlns:a16="http://schemas.microsoft.com/office/drawing/2014/main" id="{0F54F337-8102-4D97-A643-51366865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320" y="5086350"/>
                <a:ext cx="2664897" cy="276999"/>
              </a:xfrm>
              <a:prstGeom prst="rect">
                <a:avLst/>
              </a:prstGeom>
              <a:blipFill>
                <a:blip r:embed="rId5"/>
                <a:stretch>
                  <a:fillRect l="-1831" r="-1831" b="-1521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8">
                <a:extLst>
                  <a:ext uri="{FF2B5EF4-FFF2-40B4-BE49-F238E27FC236}">
                    <a16:creationId xmlns:a16="http://schemas.microsoft.com/office/drawing/2014/main" id="{1FBB69E1-07CD-4F3C-953B-65DB18D412DE}"/>
                  </a:ext>
                </a:extLst>
              </p:cNvPr>
              <p:cNvSpPr txBox="1"/>
              <p:nvPr/>
            </p:nvSpPr>
            <p:spPr>
              <a:xfrm>
                <a:off x="5432542" y="3152001"/>
                <a:ext cx="3091424" cy="2769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×2=2</m:t>
                      </m:r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9" name="TextBox 28">
                <a:extLst>
                  <a:ext uri="{FF2B5EF4-FFF2-40B4-BE49-F238E27FC236}">
                    <a16:creationId xmlns:a16="http://schemas.microsoft.com/office/drawing/2014/main" id="{1FBB69E1-07CD-4F3C-953B-65DB18D41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42" y="3152001"/>
                <a:ext cx="3091424" cy="276999"/>
              </a:xfrm>
              <a:prstGeom prst="rect">
                <a:avLst/>
              </a:prstGeom>
              <a:blipFill>
                <a:blip r:embed="rId6"/>
                <a:stretch>
                  <a:fillRect l="-1578" r="-1578" b="-1521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9">
                <a:extLst>
                  <a:ext uri="{FF2B5EF4-FFF2-40B4-BE49-F238E27FC236}">
                    <a16:creationId xmlns:a16="http://schemas.microsoft.com/office/drawing/2014/main" id="{7DBD96FE-4F16-1B8A-A840-B925649AB630}"/>
                  </a:ext>
                </a:extLst>
              </p:cNvPr>
              <p:cNvSpPr txBox="1"/>
              <p:nvPr/>
            </p:nvSpPr>
            <p:spPr>
              <a:xfrm>
                <a:off x="5432542" y="4076700"/>
                <a:ext cx="5818068" cy="2769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𝑑𝑏</m:t>
                              </m:r>
                            </m:e>
                            <m:sub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𝑑𝑏</m:t>
                              </m:r>
                            </m:e>
                            <m:sub>
                              <m: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𝑑𝑏</m:t>
                              </m:r>
                            </m:e>
                            <m:sub>
                              <m: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e>
                      </m:d>
                      <m:r>
                        <a:rPr lang="en-US" sz="18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23−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1+2+2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10" name="TextBox 29">
                <a:extLst>
                  <a:ext uri="{FF2B5EF4-FFF2-40B4-BE49-F238E27FC236}">
                    <a16:creationId xmlns:a16="http://schemas.microsoft.com/office/drawing/2014/main" id="{7DBD96FE-4F16-1B8A-A840-B925649AB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42" y="4076700"/>
                <a:ext cx="5818068" cy="276999"/>
              </a:xfrm>
              <a:prstGeom prst="rect">
                <a:avLst/>
              </a:prstGeom>
              <a:blipFill>
                <a:blip r:embed="rId7"/>
                <a:stretch>
                  <a:fillRect l="-628" r="-524" b="-1777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574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CEC30-FFA2-91C1-4E55-4E87B470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82A6D-9BC8-52D8-8DA0-2025DF48F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4. </a:t>
                </a:r>
                <a:r>
                  <a:rPr lang="en-US" dirty="0" err="1"/>
                  <a:t>Menghitung</a:t>
                </a:r>
                <a:r>
                  <a:rPr lang="en-US" dirty="0"/>
                  <a:t> rata-rata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  <a:r>
                  <a:rPr lang="en-US" dirty="0" err="1"/>
                  <a:t>antar</a:t>
                </a:r>
                <a:r>
                  <a:rPr lang="en-US" dirty="0"/>
                  <a:t>-A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antar</a:t>
                </a:r>
                <a:r>
                  <a:rPr lang="en-ID" dirty="0"/>
                  <a:t>-B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), </a:t>
                </a:r>
                <a:r>
                  <a:rPr lang="en-ID" dirty="0" err="1"/>
                  <a:t>interaksi</a:t>
                </a:r>
                <a:r>
                  <a:rPr lang="en-ID" dirty="0"/>
                  <a:t> </a:t>
                </a:r>
                <a:r>
                  <a:rPr lang="en-ID" dirty="0" err="1"/>
                  <a:t>AxB</a:t>
                </a:r>
                <a:r>
                  <a:rPr lang="en-ID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ID" dirty="0"/>
                  <a:t>), dan </a:t>
                </a:r>
                <a:r>
                  <a:rPr lang="en-ID" dirty="0" err="1"/>
                  <a:t>dalam</a:t>
                </a:r>
                <a:r>
                  <a:rPr lang="en-ID" dirty="0"/>
                  <a:t> </a:t>
                </a:r>
                <a:r>
                  <a:rPr lang="en-ID" dirty="0" err="1"/>
                  <a:t>kelompok</a:t>
                </a:r>
                <a:r>
                  <a:rPr lang="en-ID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D" dirty="0"/>
                  <a:t>).</a:t>
                </a:r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82A6D-9BC8-52D8-8DA0-2025DF48F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 r="-92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0">
                <a:extLst>
                  <a:ext uri="{FF2B5EF4-FFF2-40B4-BE49-F238E27FC236}">
                    <a16:creationId xmlns:a16="http://schemas.microsoft.com/office/drawing/2014/main" id="{5E80F4BD-0419-2C2D-4425-0BA2F4B1C31E}"/>
                  </a:ext>
                </a:extLst>
              </p:cNvPr>
              <p:cNvSpPr txBox="1"/>
              <p:nvPr/>
            </p:nvSpPr>
            <p:spPr>
              <a:xfrm>
                <a:off x="1651705" y="3286594"/>
                <a:ext cx="3498522" cy="57573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7,042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=7,042</m:t>
                    </m:r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4" name="TextBox 30">
                <a:extLst>
                  <a:ext uri="{FF2B5EF4-FFF2-40B4-BE49-F238E27FC236}">
                    <a16:creationId xmlns:a16="http://schemas.microsoft.com/office/drawing/2014/main" id="{5E80F4BD-0419-2C2D-4425-0BA2F4B1C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705" y="3286594"/>
                <a:ext cx="3498522" cy="575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0">
                <a:extLst>
                  <a:ext uri="{FF2B5EF4-FFF2-40B4-BE49-F238E27FC236}">
                    <a16:creationId xmlns:a16="http://schemas.microsoft.com/office/drawing/2014/main" id="{F1BE3223-57D0-F528-08D0-4E07B9B7D72A}"/>
                  </a:ext>
                </a:extLst>
              </p:cNvPr>
              <p:cNvSpPr txBox="1"/>
              <p:nvPr/>
            </p:nvSpPr>
            <p:spPr>
              <a:xfrm>
                <a:off x="1651705" y="4108398"/>
                <a:ext cx="3694025" cy="57573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33,25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=16,625</m:t>
                    </m:r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5" name="TextBox 30">
                <a:extLst>
                  <a:ext uri="{FF2B5EF4-FFF2-40B4-BE49-F238E27FC236}">
                    <a16:creationId xmlns:a16="http://schemas.microsoft.com/office/drawing/2014/main" id="{F1BE3223-57D0-F528-08D0-4E07B9B7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705" y="4108398"/>
                <a:ext cx="3694025" cy="575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0">
                <a:extLst>
                  <a:ext uri="{FF2B5EF4-FFF2-40B4-BE49-F238E27FC236}">
                    <a16:creationId xmlns:a16="http://schemas.microsoft.com/office/drawing/2014/main" id="{7A5310D9-6F87-2D8A-2DD4-76AB5D02D4DC}"/>
                  </a:ext>
                </a:extLst>
              </p:cNvPr>
              <p:cNvSpPr txBox="1"/>
              <p:nvPr/>
            </p:nvSpPr>
            <p:spPr>
              <a:xfrm>
                <a:off x="6236069" y="3285690"/>
                <a:ext cx="4263796" cy="57573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0,0833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=0,04167</m:t>
                    </m:r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6" name="TextBox 30">
                <a:extLst>
                  <a:ext uri="{FF2B5EF4-FFF2-40B4-BE49-F238E27FC236}">
                    <a16:creationId xmlns:a16="http://schemas.microsoft.com/office/drawing/2014/main" id="{7A5310D9-6F87-2D8A-2DD4-76AB5D02D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069" y="3285690"/>
                <a:ext cx="4263796" cy="575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0">
                <a:extLst>
                  <a:ext uri="{FF2B5EF4-FFF2-40B4-BE49-F238E27FC236}">
                    <a16:creationId xmlns:a16="http://schemas.microsoft.com/office/drawing/2014/main" id="{A894ECBB-F2A3-1B39-027B-36490965B9B7}"/>
                  </a:ext>
                </a:extLst>
              </p:cNvPr>
              <p:cNvSpPr txBox="1"/>
              <p:nvPr/>
            </p:nvSpPr>
            <p:spPr>
              <a:xfrm>
                <a:off x="6236069" y="4085897"/>
                <a:ext cx="3502754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𝐽𝑘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41,25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=2,292</m:t>
                    </m:r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7" name="TextBox 30">
                <a:extLst>
                  <a:ext uri="{FF2B5EF4-FFF2-40B4-BE49-F238E27FC236}">
                    <a16:creationId xmlns:a16="http://schemas.microsoft.com/office/drawing/2014/main" id="{A894ECBB-F2A3-1B39-027B-36490965B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069" y="4085897"/>
                <a:ext cx="3502754" cy="5785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371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C9EF-00D0-21FB-0A15-E17D4533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53763-D1C1-781A-07E6-9E93A61A1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5. </a:t>
                </a:r>
                <a:r>
                  <a:rPr lang="en-US" dirty="0" err="1"/>
                  <a:t>Menghitung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F </a:t>
                </a:r>
                <a:r>
                  <a:rPr lang="en-US" dirty="0" err="1"/>
                  <a:t>empiris</a:t>
                </a:r>
                <a:r>
                  <a:rPr lang="en-US" dirty="0"/>
                  <a:t>, </a:t>
                </a:r>
                <a:r>
                  <a:rPr lang="en-US" dirty="0" err="1"/>
                  <a:t>yaitu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D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,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D" dirty="0"/>
                  <a:t>. </a:t>
                </a:r>
              </a:p>
              <a:p>
                <a:pPr marL="4572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53763-D1C1-781A-07E6-9E93A61A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4">
                <a:extLst>
                  <a:ext uri="{FF2B5EF4-FFF2-40B4-BE49-F238E27FC236}">
                    <a16:creationId xmlns:a16="http://schemas.microsoft.com/office/drawing/2014/main" id="{91C58B98-16B6-00B2-7FFB-B155A6E8D0B7}"/>
                  </a:ext>
                </a:extLst>
              </p:cNvPr>
              <p:cNvSpPr txBox="1"/>
              <p:nvPr/>
            </p:nvSpPr>
            <p:spPr>
              <a:xfrm>
                <a:off x="2211106" y="3139722"/>
                <a:ext cx="2207079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=3,07</m:t>
                    </m:r>
                  </m:oMath>
                </a14:m>
                <a:r>
                  <a:rPr lang="en-ID" sz="2000" dirty="0"/>
                  <a:t>  </a:t>
                </a:r>
              </a:p>
            </p:txBody>
          </p:sp>
        </mc:Choice>
        <mc:Fallback xmlns="">
          <p:sp>
            <p:nvSpPr>
              <p:cNvPr id="4" name="TextBox 34">
                <a:extLst>
                  <a:ext uri="{FF2B5EF4-FFF2-40B4-BE49-F238E27FC236}">
                    <a16:creationId xmlns:a16="http://schemas.microsoft.com/office/drawing/2014/main" id="{91C58B98-16B6-00B2-7FFB-B155A6E8D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106" y="3139722"/>
                <a:ext cx="2207079" cy="578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4">
                <a:extLst>
                  <a:ext uri="{FF2B5EF4-FFF2-40B4-BE49-F238E27FC236}">
                    <a16:creationId xmlns:a16="http://schemas.microsoft.com/office/drawing/2014/main" id="{1EB32832-37DB-7550-17B0-38393B3B91AE}"/>
                  </a:ext>
                </a:extLst>
              </p:cNvPr>
              <p:cNvSpPr txBox="1"/>
              <p:nvPr/>
            </p:nvSpPr>
            <p:spPr>
              <a:xfrm>
                <a:off x="2211106" y="4222044"/>
                <a:ext cx="2360903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=7,254</m:t>
                    </m:r>
                  </m:oMath>
                </a14:m>
                <a:r>
                  <a:rPr lang="en-ID" sz="2400" dirty="0"/>
                  <a:t> </a:t>
                </a:r>
              </a:p>
            </p:txBody>
          </p:sp>
        </mc:Choice>
        <mc:Fallback xmlns="">
          <p:sp>
            <p:nvSpPr>
              <p:cNvPr id="5" name="TextBox 34">
                <a:extLst>
                  <a:ext uri="{FF2B5EF4-FFF2-40B4-BE49-F238E27FC236}">
                    <a16:creationId xmlns:a16="http://schemas.microsoft.com/office/drawing/2014/main" id="{1EB32832-37DB-7550-17B0-38393B3B9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106" y="4222044"/>
                <a:ext cx="2360903" cy="5785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4">
                <a:extLst>
                  <a:ext uri="{FF2B5EF4-FFF2-40B4-BE49-F238E27FC236}">
                    <a16:creationId xmlns:a16="http://schemas.microsoft.com/office/drawing/2014/main" id="{B7691A85-D24E-94D5-6999-84A557F40C79}"/>
                  </a:ext>
                </a:extLst>
              </p:cNvPr>
              <p:cNvSpPr txBox="1"/>
              <p:nvPr/>
            </p:nvSpPr>
            <p:spPr>
              <a:xfrm>
                <a:off x="6591814" y="3139722"/>
                <a:ext cx="3012428" cy="578556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𝑅𝑘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=0,01818</m:t>
                    </m:r>
                  </m:oMath>
                </a14:m>
                <a:r>
                  <a:rPr lang="en-ID" sz="2000" dirty="0"/>
                  <a:t>  </a:t>
                </a:r>
              </a:p>
            </p:txBody>
          </p:sp>
        </mc:Choice>
        <mc:Fallback xmlns="">
          <p:sp>
            <p:nvSpPr>
              <p:cNvPr id="6" name="TextBox 34">
                <a:extLst>
                  <a:ext uri="{FF2B5EF4-FFF2-40B4-BE49-F238E27FC236}">
                    <a16:creationId xmlns:a16="http://schemas.microsoft.com/office/drawing/2014/main" id="{B7691A85-D24E-94D5-6999-84A557F4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814" y="3139722"/>
                <a:ext cx="3012428" cy="5785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511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DEA2-AE9D-5E7C-3327-87D69A27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39E00A-FB95-D7F0-9C94-24C4197BB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" indent="0">
                  <a:buNone/>
                </a:pPr>
                <a:r>
                  <a:rPr lang="en-US" dirty="0"/>
                  <a:t>6. </a:t>
                </a:r>
                <a:r>
                  <a:rPr lang="en-US" dirty="0" err="1"/>
                  <a:t>Menentukan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dengan</a:t>
                </a:r>
                <a:r>
                  <a:rPr lang="en-ID" dirty="0"/>
                  <a:t> </a:t>
                </a:r>
                <a:r>
                  <a:rPr lang="en-ID" dirty="0" err="1"/>
                  <a:t>Tabel</a:t>
                </a:r>
                <a:r>
                  <a:rPr lang="en-ID" dirty="0"/>
                  <a:t> F-ratio.</a:t>
                </a:r>
              </a:p>
              <a:p>
                <a:pPr marL="4572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39E00A-FB95-D7F0-9C94-24C4197BB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8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F53595-7AE3-62B4-FC03-D851A8F803D8}"/>
                  </a:ext>
                </a:extLst>
              </p:cNvPr>
              <p:cNvSpPr txBox="1"/>
              <p:nvPr/>
            </p:nvSpPr>
            <p:spPr>
              <a:xfrm>
                <a:off x="1828800" y="2793163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02920" indent="-457200"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𝐴𝑡𝑎𝑏𝑒𝑙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=4,41</m:t>
                    </m:r>
                  </m:oMath>
                </a14:m>
                <a:r>
                  <a:rPr lang="en-ID" dirty="0"/>
                  <a:t> </a:t>
                </a:r>
              </a:p>
              <a:p>
                <a:pPr marL="502920" indent="-457200">
                  <a:buFont typeface="Corbel" pitchFamily="34" charset="0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𝐵𝑡𝑎𝑏𝑒𝑙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=3,55</m:t>
                    </m:r>
                  </m:oMath>
                </a14:m>
                <a:endParaRPr lang="en-ID" dirty="0"/>
              </a:p>
              <a:p>
                <a:pPr marL="502920" indent="-457200">
                  <a:buFont typeface="Corbel" pitchFamily="34" charset="0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𝐴𝐵𝑡𝑎𝑏𝑒𝑙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=3,55</m:t>
                    </m:r>
                  </m:oMath>
                </a14:m>
                <a:endParaRPr lang="en-ID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F53595-7AE3-62B4-FC03-D851A8F80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793163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t="-3289" b="-723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899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530A-CE37-16B2-CBD6-096D3366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(JAWABAN)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3E8A-FDC1-0B70-AEE1-F37F047F2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/>
              <a:t>7. </a:t>
            </a:r>
            <a:r>
              <a:rPr lang="en-US" dirty="0" err="1"/>
              <a:t>Melakukan</a:t>
            </a:r>
            <a:r>
              <a:rPr lang="en-US" dirty="0"/>
              <a:t> uji </a:t>
            </a:r>
            <a:r>
              <a:rPr lang="en-US" dirty="0" err="1"/>
              <a:t>signifikansi</a:t>
            </a:r>
            <a:r>
              <a:rPr lang="en-US" dirty="0"/>
              <a:t> dan </a:t>
            </a:r>
            <a:r>
              <a:rPr lang="en-US" dirty="0" err="1"/>
              <a:t>penarikan</a:t>
            </a:r>
            <a:r>
              <a:rPr lang="en-US" dirty="0"/>
              <a:t> </a:t>
            </a:r>
            <a:r>
              <a:rPr lang="en-US" dirty="0" err="1"/>
              <a:t>kesimpulan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:</a:t>
            </a:r>
          </a:p>
          <a:p>
            <a:pPr marL="45720" indent="0">
              <a:buNone/>
            </a:pPr>
            <a:r>
              <a:rPr lang="en-US" dirty="0"/>
              <a:t>Jika                                    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yang </a:t>
            </a:r>
            <a:r>
              <a:rPr lang="en-US" dirty="0" err="1"/>
              <a:t>signifikan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dirty="0"/>
              <a:t>Jika                                    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yang </a:t>
            </a:r>
            <a:r>
              <a:rPr lang="en-US" dirty="0" err="1"/>
              <a:t>signifikan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.</a:t>
            </a:r>
          </a:p>
          <a:p>
            <a:pPr marL="45720" indent="0">
              <a:buNone/>
            </a:pPr>
            <a:r>
              <a:rPr lang="en-US" dirty="0"/>
              <a:t>Oleh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kesimpulan</a:t>
            </a:r>
            <a:r>
              <a:rPr lang="en-US" dirty="0"/>
              <a:t> yang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 marL="502920" indent="-457200">
              <a:buAutoNum type="alphaL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pada para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bila</a:t>
            </a:r>
            <a:r>
              <a:rPr lang="en-ID" dirty="0"/>
              <a:t> </a:t>
            </a:r>
            <a:r>
              <a:rPr lang="en-ID" dirty="0" err="1"/>
              <a:t>ditinjau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penyampaian</a:t>
            </a:r>
            <a:r>
              <a:rPr lang="en-ID" dirty="0"/>
              <a:t> </a:t>
            </a:r>
            <a:r>
              <a:rPr lang="en-ID" dirty="0" err="1"/>
              <a:t>himbauan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(A).</a:t>
            </a:r>
            <a:endParaRPr lang="en-US" dirty="0"/>
          </a:p>
          <a:p>
            <a:pPr marL="502920" indent="-457200">
              <a:buAutoNum type="alphaLcPeriod"/>
            </a:pP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pada para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bila</a:t>
            </a:r>
            <a:r>
              <a:rPr lang="en-ID" dirty="0"/>
              <a:t> </a:t>
            </a:r>
            <a:r>
              <a:rPr lang="en-ID" dirty="0" err="1"/>
              <a:t>ditinjau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jenis-jenis</a:t>
            </a:r>
            <a:r>
              <a:rPr lang="en-ID" dirty="0"/>
              <a:t> </a:t>
            </a:r>
            <a:r>
              <a:rPr lang="en-ID" dirty="0" err="1"/>
              <a:t>himbauan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(B).</a:t>
            </a:r>
            <a:endParaRPr lang="en-US" dirty="0"/>
          </a:p>
          <a:p>
            <a:pPr marL="502920" indent="-457200">
              <a:buAutoNum type="alphaL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pada para </a:t>
            </a:r>
            <a:r>
              <a:rPr lang="en-ID" dirty="0" err="1"/>
              <a:t>remaja</a:t>
            </a:r>
            <a:r>
              <a:rPr lang="en-ID" dirty="0"/>
              <a:t> </a:t>
            </a:r>
            <a:r>
              <a:rPr lang="en-ID" dirty="0" err="1"/>
              <a:t>bila</a:t>
            </a:r>
            <a:r>
              <a:rPr lang="en-ID" dirty="0"/>
              <a:t> </a:t>
            </a:r>
            <a:r>
              <a:rPr lang="en-ID" dirty="0" err="1"/>
              <a:t>ditinjau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penyampaian</a:t>
            </a:r>
            <a:r>
              <a:rPr lang="en-ID" dirty="0"/>
              <a:t> (A) dan </a:t>
            </a:r>
            <a:r>
              <a:rPr lang="en-ID" dirty="0" err="1"/>
              <a:t>jenis-jenis</a:t>
            </a:r>
            <a:r>
              <a:rPr lang="en-ID" dirty="0"/>
              <a:t> </a:t>
            </a:r>
            <a:r>
              <a:rPr lang="en-ID" dirty="0" err="1"/>
              <a:t>himbauan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(B).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0">
                <a:extLst>
                  <a:ext uri="{FF2B5EF4-FFF2-40B4-BE49-F238E27FC236}">
                    <a16:creationId xmlns:a16="http://schemas.microsoft.com/office/drawing/2014/main" id="{F4766AA8-932D-B9E0-B6CA-EC82D119D7FA}"/>
                  </a:ext>
                </a:extLst>
              </p:cNvPr>
              <p:cNvSpPr txBox="1"/>
              <p:nvPr/>
            </p:nvSpPr>
            <p:spPr>
              <a:xfrm>
                <a:off x="1859555" y="2372533"/>
                <a:ext cx="1683410" cy="29841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𝑒𝑚𝑝𝑖𝑟𝑖𝑠</m:t>
                          </m:r>
                        </m:sub>
                      </m:sSub>
                      <m:r>
                        <a:rPr lang="en-ID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D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40">
                <a:extLst>
                  <a:ext uri="{FF2B5EF4-FFF2-40B4-BE49-F238E27FC236}">
                    <a16:creationId xmlns:a16="http://schemas.microsoft.com/office/drawing/2014/main" id="{F4766AA8-932D-B9E0-B6CA-EC82D119D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555" y="2372533"/>
                <a:ext cx="1683410" cy="298415"/>
              </a:xfrm>
              <a:prstGeom prst="rect">
                <a:avLst/>
              </a:prstGeom>
              <a:blipFill>
                <a:blip r:embed="rId2"/>
                <a:stretch>
                  <a:fillRect l="-2899" r="-1087" b="-2653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0">
                <a:extLst>
                  <a:ext uri="{FF2B5EF4-FFF2-40B4-BE49-F238E27FC236}">
                    <a16:creationId xmlns:a16="http://schemas.microsoft.com/office/drawing/2014/main" id="{841EED31-DCD4-C94C-226C-D8DD5AEAF7F2}"/>
                  </a:ext>
                </a:extLst>
              </p:cNvPr>
              <p:cNvSpPr txBox="1"/>
              <p:nvPr/>
            </p:nvSpPr>
            <p:spPr>
              <a:xfrm>
                <a:off x="1859555" y="2986081"/>
                <a:ext cx="1683410" cy="29841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𝑒𝑚𝑝𝑖𝑟𝑖𝑠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D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0">
                <a:extLst>
                  <a:ext uri="{FF2B5EF4-FFF2-40B4-BE49-F238E27FC236}">
                    <a16:creationId xmlns:a16="http://schemas.microsoft.com/office/drawing/2014/main" id="{841EED31-DCD4-C94C-226C-D8DD5AEAF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555" y="2986081"/>
                <a:ext cx="1683410" cy="298415"/>
              </a:xfrm>
              <a:prstGeom prst="rect">
                <a:avLst/>
              </a:prstGeom>
              <a:blipFill>
                <a:blip r:embed="rId3"/>
                <a:stretch>
                  <a:fillRect l="-2899" r="-1087" b="-2653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64670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386</TotalTime>
  <Words>1019</Words>
  <Application>Microsoft Office PowerPoint</Application>
  <PresentationFormat>Widescreen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 Narrow</vt:lpstr>
      <vt:lpstr>Cambria Math</vt:lpstr>
      <vt:lpstr>Corbel</vt:lpstr>
      <vt:lpstr>Basis</vt:lpstr>
      <vt:lpstr>ANOVA FAKTORIAL  2-JALUR</vt:lpstr>
      <vt:lpstr>ANOVA FAKTORIAL 2-JALUR</vt:lpstr>
      <vt:lpstr>ANOVA FAKTORIAL 2-JALUR</vt:lpstr>
      <vt:lpstr>LANGKAH-LANGKAH ANOVA FAKTORIAL 2-JALUR</vt:lpstr>
      <vt:lpstr>LANGKAH-LANGKAH ANOVA FAKTORIAL 2-JALUR</vt:lpstr>
      <vt:lpstr>LANGKAH-LANGKAH ANOVA FAKTORIAL 2-JALUR</vt:lpstr>
      <vt:lpstr>LANGKAH-LANGKAH ANOVA FAKTORIAL 2-JALUR</vt:lpstr>
      <vt:lpstr>LANGKAH-LANGKAH ANOVA FAKTORIAL 2-JALUR</vt:lpstr>
      <vt:lpstr>LANGKAH-LANGKAH ANOVA FAKTORIAL 2-JALUR</vt:lpstr>
      <vt:lpstr>CONTOH KASUS</vt:lpstr>
      <vt:lpstr>CONTOH KASUS</vt:lpstr>
      <vt:lpstr>CONTOH KASUS (JAWABAN)</vt:lpstr>
      <vt:lpstr>CONTOH KASUS (JAWABAN)</vt:lpstr>
      <vt:lpstr>CONTOH KASUS (JAWABAN)</vt:lpstr>
      <vt:lpstr>CONTOH KASUS (JAWABAN)</vt:lpstr>
      <vt:lpstr>CONTOH KASUS (JAWABAN)</vt:lpstr>
      <vt:lpstr>CONTOH KASUS (JAWABAN)</vt:lpstr>
      <vt:lpstr>CONTOH KASUS (JAWABAN)</vt:lpstr>
      <vt:lpstr>CONTOH KASUS (JAWABAN)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ANOVA FAKTORIAL  2 JALUR</dc:title>
  <dc:creator>Ashri Shabrina</dc:creator>
  <cp:lastModifiedBy>Ashri Shabrina</cp:lastModifiedBy>
  <cp:revision>5</cp:revision>
  <dcterms:created xsi:type="dcterms:W3CDTF">2023-06-06T17:53:24Z</dcterms:created>
  <dcterms:modified xsi:type="dcterms:W3CDTF">2024-05-20T01:20:57Z</dcterms:modified>
</cp:coreProperties>
</file>