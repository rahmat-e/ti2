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  <p:sldMasterId id="214748373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200400" y="0"/>
            <a:ext cx="6992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3F3F3"/>
              </a:solidFill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96000" y="1776200"/>
            <a:ext cx="5200800" cy="21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0" y="3885400"/>
            <a:ext cx="5206000" cy="6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8621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609360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968800" y="3170561"/>
            <a:ext cx="4350000" cy="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5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968800" y="3953551"/>
            <a:ext cx="4350000" cy="1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6968800" y="2123756"/>
            <a:ext cx="43500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5333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5490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90000" y="762000"/>
            <a:ext cx="10412000" cy="5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90000" y="1604567"/>
            <a:ext cx="10790400" cy="4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"/>
              <a:buAutoNum type="arabicPeriod"/>
              <a:defRPr sz="1600">
                <a:solidFill>
                  <a:schemeClr val="lt1"/>
                </a:solidFill>
              </a:defRPr>
            </a:lvl1pPr>
            <a:lvl2pPr marL="1219170" lvl="1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600">
                <a:solidFill>
                  <a:schemeClr val="lt1"/>
                </a:solidFill>
              </a:defRPr>
            </a:lvl2pPr>
            <a:lvl3pPr marL="1828754" lvl="2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600">
                <a:solidFill>
                  <a:schemeClr val="lt1"/>
                </a:solidFill>
              </a:defRPr>
            </a:lvl3pPr>
            <a:lvl4pPr marL="2438339" lvl="3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600">
                <a:solidFill>
                  <a:schemeClr val="lt1"/>
                </a:solidFill>
              </a:defRPr>
            </a:lvl4pPr>
            <a:lvl5pPr marL="3047924" lvl="4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600">
                <a:solidFill>
                  <a:schemeClr val="lt1"/>
                </a:solidFill>
              </a:defRPr>
            </a:lvl5pPr>
            <a:lvl6pPr marL="3657509" lvl="5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600">
                <a:solidFill>
                  <a:schemeClr val="lt1"/>
                </a:solidFill>
              </a:defRPr>
            </a:lvl6pPr>
            <a:lvl7pPr marL="4267093" lvl="6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600">
                <a:solidFill>
                  <a:schemeClr val="lt1"/>
                </a:solidFill>
              </a:defRPr>
            </a:lvl7pPr>
            <a:lvl8pPr marL="4876678" lvl="7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600">
                <a:solidFill>
                  <a:schemeClr val="lt1"/>
                </a:solidFill>
              </a:defRPr>
            </a:lvl8pPr>
            <a:lvl9pPr marL="5486263" lvl="8" indent="-389457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6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577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878500" y="762000"/>
            <a:ext cx="104120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659984" y="2529567"/>
            <a:ext cx="4011600" cy="5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1651367" y="3460433"/>
            <a:ext cx="4011600" cy="16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6524823" y="2529567"/>
            <a:ext cx="4007200" cy="5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6515881" y="3460433"/>
            <a:ext cx="4011600" cy="16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285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6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620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968800" y="2420733"/>
            <a:ext cx="3476800" cy="7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5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6968800" y="3074600"/>
            <a:ext cx="3476800" cy="1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5197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878500" y="762000"/>
            <a:ext cx="104120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90000" y="2235000"/>
            <a:ext cx="10412000" cy="11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884800" y="3645000"/>
            <a:ext cx="10412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833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818651" y="1158240"/>
            <a:ext cx="65536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333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819751" y="2368204"/>
            <a:ext cx="6553600" cy="37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867">
                <a:solidFill>
                  <a:schemeClr val="lt1"/>
                </a:solidFill>
              </a:defRPr>
            </a:lvl1pPr>
            <a:lvl2pPr marL="1219170" lvl="1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333">
                <a:solidFill>
                  <a:schemeClr val="lt1"/>
                </a:solidFill>
              </a:defRPr>
            </a:lvl2pPr>
            <a:lvl3pPr marL="1828754" lvl="2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333">
                <a:solidFill>
                  <a:schemeClr val="lt1"/>
                </a:solidFill>
              </a:defRPr>
            </a:lvl3pPr>
            <a:lvl4pPr marL="2438339" lvl="3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333">
                <a:solidFill>
                  <a:schemeClr val="lt1"/>
                </a:solidFill>
              </a:defRPr>
            </a:lvl4pPr>
            <a:lvl5pPr marL="3047924" lvl="4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333">
                <a:solidFill>
                  <a:schemeClr val="lt1"/>
                </a:solidFill>
              </a:defRPr>
            </a:lvl5pPr>
            <a:lvl6pPr marL="3657509" lvl="5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333">
                <a:solidFill>
                  <a:schemeClr val="lt1"/>
                </a:solidFill>
              </a:defRPr>
            </a:lvl6pPr>
            <a:lvl7pPr marL="4267093" lvl="6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333">
                <a:solidFill>
                  <a:schemeClr val="lt1"/>
                </a:solidFill>
              </a:defRPr>
            </a:lvl7pPr>
            <a:lvl8pPr marL="4876678" lvl="7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333">
                <a:solidFill>
                  <a:schemeClr val="lt1"/>
                </a:solidFill>
              </a:defRPr>
            </a:lvl8pPr>
            <a:lvl9pPr marL="5486263" lvl="8" indent="-389457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000"/>
              <a:buChar char="■"/>
              <a:defRPr sz="1333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450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7189200" y="3025600"/>
            <a:ext cx="4112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3333" b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192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890000" y="1982833"/>
            <a:ext cx="10412000" cy="195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914400" y="4069500"/>
            <a:ext cx="10412000" cy="8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612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356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centeges">
  <p:cSld name="Percentege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/>
        </p:nvSpPr>
        <p:spPr>
          <a:xfrm>
            <a:off x="3033" y="-8533"/>
            <a:ext cx="430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13"/>
          <p:cNvSpPr/>
          <p:nvPr/>
        </p:nvSpPr>
        <p:spPr>
          <a:xfrm>
            <a:off x="7862000" y="-8533"/>
            <a:ext cx="430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13"/>
          <p:cNvSpPr/>
          <p:nvPr/>
        </p:nvSpPr>
        <p:spPr>
          <a:xfrm>
            <a:off x="884433" y="762000"/>
            <a:ext cx="104120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13"/>
          <p:cNvSpPr/>
          <p:nvPr/>
        </p:nvSpPr>
        <p:spPr>
          <a:xfrm>
            <a:off x="1993133" y="762000"/>
            <a:ext cx="86276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890000" y="1168400"/>
            <a:ext cx="10412000" cy="5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1990867" y="2817633"/>
            <a:ext cx="3952000" cy="195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333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991067" y="4695967"/>
            <a:ext cx="3952000" cy="7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3" hasCustomPrompt="1"/>
          </p:nvPr>
        </p:nvSpPr>
        <p:spPr>
          <a:xfrm>
            <a:off x="6248900" y="2817633"/>
            <a:ext cx="3952000" cy="195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333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4"/>
          </p:nvPr>
        </p:nvSpPr>
        <p:spPr>
          <a:xfrm>
            <a:off x="6249100" y="4695967"/>
            <a:ext cx="3952000" cy="7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0621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968800" y="3838001"/>
            <a:ext cx="3986800" cy="5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 idx="2"/>
          </p:nvPr>
        </p:nvSpPr>
        <p:spPr>
          <a:xfrm>
            <a:off x="6968800" y="2522367"/>
            <a:ext cx="3986800" cy="1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i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5767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890000" y="2426297"/>
            <a:ext cx="3086000" cy="6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890233" y="3458731"/>
            <a:ext cx="3086000" cy="18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3"/>
          </p:nvPr>
        </p:nvSpPr>
        <p:spPr>
          <a:xfrm>
            <a:off x="4552996" y="2426297"/>
            <a:ext cx="3082400" cy="6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4"/>
          </p:nvPr>
        </p:nvSpPr>
        <p:spPr>
          <a:xfrm>
            <a:off x="4552992" y="3458731"/>
            <a:ext cx="3086000" cy="18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5"/>
          </p:nvPr>
        </p:nvSpPr>
        <p:spPr>
          <a:xfrm>
            <a:off x="8215765" y="2426297"/>
            <a:ext cx="3082400" cy="6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6"/>
          </p:nvPr>
        </p:nvSpPr>
        <p:spPr>
          <a:xfrm>
            <a:off x="8215763" y="3458731"/>
            <a:ext cx="3086000" cy="18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00" y="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5"/>
          <p:cNvSpPr/>
          <p:nvPr/>
        </p:nvSpPr>
        <p:spPr>
          <a:xfrm rot="10800000">
            <a:off x="133" y="6104000"/>
            <a:ext cx="12192000" cy="754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30643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2">
  <p:cSld name="Title + body 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 flipH="1">
            <a:off x="889933" y="2124433"/>
            <a:ext cx="4313600" cy="16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 flipH="1">
            <a:off x="889933" y="3725567"/>
            <a:ext cx="4313600" cy="22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7158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">
  <p:cSld name="Title + six 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890000" y="2412252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2"/>
          </p:nvPr>
        </p:nvSpPr>
        <p:spPr>
          <a:xfrm>
            <a:off x="890000" y="2953052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3"/>
          </p:nvPr>
        </p:nvSpPr>
        <p:spPr>
          <a:xfrm>
            <a:off x="4438600" y="2412252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4"/>
          </p:nvPr>
        </p:nvSpPr>
        <p:spPr>
          <a:xfrm>
            <a:off x="4438600" y="2953052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5"/>
          </p:nvPr>
        </p:nvSpPr>
        <p:spPr>
          <a:xfrm>
            <a:off x="7987200" y="2412252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6"/>
          </p:nvPr>
        </p:nvSpPr>
        <p:spPr>
          <a:xfrm>
            <a:off x="7987200" y="2953052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7"/>
          </p:nvPr>
        </p:nvSpPr>
        <p:spPr>
          <a:xfrm>
            <a:off x="890000" y="4417400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8"/>
          </p:nvPr>
        </p:nvSpPr>
        <p:spPr>
          <a:xfrm>
            <a:off x="890000" y="4958200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9"/>
          </p:nvPr>
        </p:nvSpPr>
        <p:spPr>
          <a:xfrm>
            <a:off x="4438600" y="4417400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3"/>
          </p:nvPr>
        </p:nvSpPr>
        <p:spPr>
          <a:xfrm>
            <a:off x="4438600" y="4958200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14"/>
          </p:nvPr>
        </p:nvSpPr>
        <p:spPr>
          <a:xfrm>
            <a:off x="7987200" y="4417400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5"/>
          </p:nvPr>
        </p:nvSpPr>
        <p:spPr>
          <a:xfrm>
            <a:off x="7987200" y="4958200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4214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 rot="-5400000">
            <a:off x="5712400" y="-5712667"/>
            <a:ext cx="774000" cy="121988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26825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 rot="10800000" flipH="1">
            <a:off x="-37000" y="6111200"/>
            <a:ext cx="12228800" cy="7468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19"/>
          <p:cNvSpPr/>
          <p:nvPr/>
        </p:nvSpPr>
        <p:spPr>
          <a:xfrm rot="10800000" flipH="1">
            <a:off x="0" y="-33"/>
            <a:ext cx="12186400" cy="7692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2386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">
  <p:cSld name="Three big number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6096000" y="660400"/>
            <a:ext cx="5206000" cy="7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1"/>
          </p:nvPr>
        </p:nvSpPr>
        <p:spPr>
          <a:xfrm>
            <a:off x="6096000" y="1696751"/>
            <a:ext cx="5206000" cy="4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title" idx="2"/>
          </p:nvPr>
        </p:nvSpPr>
        <p:spPr>
          <a:xfrm>
            <a:off x="6096000" y="2522533"/>
            <a:ext cx="5206000" cy="7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3"/>
          </p:nvPr>
        </p:nvSpPr>
        <p:spPr>
          <a:xfrm>
            <a:off x="6096000" y="3559100"/>
            <a:ext cx="5206000" cy="4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title" idx="4"/>
          </p:nvPr>
        </p:nvSpPr>
        <p:spPr>
          <a:xfrm>
            <a:off x="6096000" y="4485600"/>
            <a:ext cx="5206000" cy="7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5"/>
          </p:nvPr>
        </p:nvSpPr>
        <p:spPr>
          <a:xfrm>
            <a:off x="6096000" y="5522000"/>
            <a:ext cx="5206000" cy="4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20"/>
          <p:cNvSpPr/>
          <p:nvPr/>
        </p:nvSpPr>
        <p:spPr>
          <a:xfrm>
            <a:off x="0" y="0"/>
            <a:ext cx="520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63789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2">
  <p:cSld name="Title + three columns 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ubTitle" idx="1"/>
          </p:nvPr>
        </p:nvSpPr>
        <p:spPr>
          <a:xfrm>
            <a:off x="890000" y="4480085"/>
            <a:ext cx="30860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ubTitle" idx="2"/>
          </p:nvPr>
        </p:nvSpPr>
        <p:spPr>
          <a:xfrm>
            <a:off x="890233" y="5015137"/>
            <a:ext cx="3086000" cy="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ubTitle" idx="3"/>
          </p:nvPr>
        </p:nvSpPr>
        <p:spPr>
          <a:xfrm>
            <a:off x="4552997" y="4480085"/>
            <a:ext cx="30824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4"/>
          </p:nvPr>
        </p:nvSpPr>
        <p:spPr>
          <a:xfrm>
            <a:off x="4552993" y="5015137"/>
            <a:ext cx="3086000" cy="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5"/>
          </p:nvPr>
        </p:nvSpPr>
        <p:spPr>
          <a:xfrm>
            <a:off x="8215768" y="4480085"/>
            <a:ext cx="30824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6"/>
          </p:nvPr>
        </p:nvSpPr>
        <p:spPr>
          <a:xfrm>
            <a:off x="8215765" y="5015137"/>
            <a:ext cx="3086000" cy="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0" y="-29500"/>
            <a:ext cx="12216000" cy="7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21"/>
          <p:cNvSpPr/>
          <p:nvPr/>
        </p:nvSpPr>
        <p:spPr>
          <a:xfrm>
            <a:off x="0" y="6096000"/>
            <a:ext cx="12216000" cy="7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201053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3">
  <p:cSld name="Title + body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/>
          <p:nvPr/>
        </p:nvSpPr>
        <p:spPr>
          <a:xfrm>
            <a:off x="6096067" y="0"/>
            <a:ext cx="609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7315200" y="1916231"/>
            <a:ext cx="3986800" cy="11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1"/>
          </p:nvPr>
        </p:nvSpPr>
        <p:spPr>
          <a:xfrm>
            <a:off x="7315000" y="3075627"/>
            <a:ext cx="3986800" cy="15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6811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4">
  <p:cSld name="Title + body 4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/>
          <p:nvPr/>
        </p:nvSpPr>
        <p:spPr>
          <a:xfrm>
            <a:off x="0" y="-67"/>
            <a:ext cx="609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890200" y="2313733"/>
            <a:ext cx="3986800" cy="76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subTitle" idx="1"/>
          </p:nvPr>
        </p:nvSpPr>
        <p:spPr>
          <a:xfrm>
            <a:off x="890000" y="3082667"/>
            <a:ext cx="3986800" cy="14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6925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2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890000" y="1810000"/>
            <a:ext cx="5206000" cy="1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ubTitle" idx="1"/>
          </p:nvPr>
        </p:nvSpPr>
        <p:spPr>
          <a:xfrm>
            <a:off x="890000" y="3435600"/>
            <a:ext cx="5206000" cy="1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" name="Google Shape;124;p24"/>
          <p:cNvSpPr txBox="1"/>
          <p:nvPr/>
        </p:nvSpPr>
        <p:spPr>
          <a:xfrm>
            <a:off x="6808800" y="4962407"/>
            <a:ext cx="4493200" cy="8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333" b="1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333" b="1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333" b="1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</a:t>
            </a:r>
            <a:r>
              <a:rPr lang="en" sz="1333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sz="1333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489383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5">
  <p:cSld name="Title + body 5">
    <p:bg>
      <p:bgPr>
        <a:solidFill>
          <a:schemeClr val="dk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890000" y="762000"/>
            <a:ext cx="6425200" cy="10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1"/>
          </p:nvPr>
        </p:nvSpPr>
        <p:spPr>
          <a:xfrm>
            <a:off x="890000" y="2083400"/>
            <a:ext cx="10412000" cy="4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3853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3">
  <p:cSld name="Title + three columns 3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980300" y="3219277"/>
            <a:ext cx="3086000" cy="9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ubTitle" idx="2"/>
          </p:nvPr>
        </p:nvSpPr>
        <p:spPr>
          <a:xfrm>
            <a:off x="980533" y="3768523"/>
            <a:ext cx="3086000" cy="1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3"/>
          </p:nvPr>
        </p:nvSpPr>
        <p:spPr>
          <a:xfrm>
            <a:off x="4552993" y="3219277"/>
            <a:ext cx="3082400" cy="9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4"/>
          </p:nvPr>
        </p:nvSpPr>
        <p:spPr>
          <a:xfrm>
            <a:off x="4552992" y="3768523"/>
            <a:ext cx="3086000" cy="1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ubTitle" idx="5"/>
          </p:nvPr>
        </p:nvSpPr>
        <p:spPr>
          <a:xfrm>
            <a:off x="8215760" y="3219277"/>
            <a:ext cx="3082400" cy="9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6"/>
          </p:nvPr>
        </p:nvSpPr>
        <p:spPr>
          <a:xfrm>
            <a:off x="8215763" y="3768523"/>
            <a:ext cx="3086000" cy="1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4888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 number 2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4311033" y="0"/>
            <a:ext cx="7880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7"/>
          <p:cNvSpPr/>
          <p:nvPr/>
        </p:nvSpPr>
        <p:spPr>
          <a:xfrm>
            <a:off x="0" y="762000"/>
            <a:ext cx="86964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27"/>
          <p:cNvSpPr txBox="1">
            <a:spLocks noGrp="1"/>
          </p:cNvSpPr>
          <p:nvPr>
            <p:ph type="title" hasCustomPrompt="1"/>
          </p:nvPr>
        </p:nvSpPr>
        <p:spPr>
          <a:xfrm>
            <a:off x="890000" y="2275651"/>
            <a:ext cx="6856000" cy="16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1"/>
          </p:nvPr>
        </p:nvSpPr>
        <p:spPr>
          <a:xfrm>
            <a:off x="890000" y="3953151"/>
            <a:ext cx="6856000" cy="6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 sz="1867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7114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>
            <a:spLocks noGrp="1"/>
          </p:cNvSpPr>
          <p:nvPr>
            <p:ph type="title"/>
          </p:nvPr>
        </p:nvSpPr>
        <p:spPr>
          <a:xfrm>
            <a:off x="888000" y="1951267"/>
            <a:ext cx="5211200" cy="21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1"/>
          </p:nvPr>
        </p:nvSpPr>
        <p:spPr>
          <a:xfrm>
            <a:off x="884800" y="4045800"/>
            <a:ext cx="5211200" cy="7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28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7155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">
  <p:cSld name="1_Three big number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subTitle" idx="1"/>
          </p:nvPr>
        </p:nvSpPr>
        <p:spPr>
          <a:xfrm>
            <a:off x="7829648" y="1486400"/>
            <a:ext cx="3651600" cy="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subTitle" idx="2"/>
          </p:nvPr>
        </p:nvSpPr>
        <p:spPr>
          <a:xfrm>
            <a:off x="7829648" y="4914400"/>
            <a:ext cx="3651600" cy="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subTitle" idx="3"/>
          </p:nvPr>
        </p:nvSpPr>
        <p:spPr>
          <a:xfrm>
            <a:off x="7829648" y="3200400"/>
            <a:ext cx="3651600" cy="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title" hasCustomPrompt="1"/>
          </p:nvPr>
        </p:nvSpPr>
        <p:spPr>
          <a:xfrm>
            <a:off x="4562433" y="740460"/>
            <a:ext cx="3470400" cy="19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29"/>
          <p:cNvSpPr txBox="1">
            <a:spLocks noGrp="1"/>
          </p:cNvSpPr>
          <p:nvPr>
            <p:ph type="title" idx="4" hasCustomPrompt="1"/>
          </p:nvPr>
        </p:nvSpPr>
        <p:spPr>
          <a:xfrm>
            <a:off x="4562433" y="2454460"/>
            <a:ext cx="3470400" cy="19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 idx="5" hasCustomPrompt="1"/>
          </p:nvPr>
        </p:nvSpPr>
        <p:spPr>
          <a:xfrm>
            <a:off x="4562433" y="4168460"/>
            <a:ext cx="3470400" cy="19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9"/>
          <p:cNvSpPr/>
          <p:nvPr/>
        </p:nvSpPr>
        <p:spPr>
          <a:xfrm>
            <a:off x="-12133" y="0"/>
            <a:ext cx="4323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337580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30"/>
          <p:cNvSpPr/>
          <p:nvPr/>
        </p:nvSpPr>
        <p:spPr>
          <a:xfrm>
            <a:off x="0" y="-47833"/>
            <a:ext cx="890000" cy="690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30"/>
          <p:cNvSpPr/>
          <p:nvPr/>
        </p:nvSpPr>
        <p:spPr>
          <a:xfrm>
            <a:off x="11302000" y="-24000"/>
            <a:ext cx="890000" cy="690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754339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2">
  <p:cSld name="Title + two columns 2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subTitle" idx="1"/>
          </p:nvPr>
        </p:nvSpPr>
        <p:spPr>
          <a:xfrm>
            <a:off x="1651367" y="2424633"/>
            <a:ext cx="4011200" cy="68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subTitle" idx="2"/>
          </p:nvPr>
        </p:nvSpPr>
        <p:spPr>
          <a:xfrm>
            <a:off x="1651367" y="3462533"/>
            <a:ext cx="40112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8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ubTitle" idx="3"/>
          </p:nvPr>
        </p:nvSpPr>
        <p:spPr>
          <a:xfrm>
            <a:off x="6520867" y="2424633"/>
            <a:ext cx="4011200" cy="68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subTitle" idx="4"/>
          </p:nvPr>
        </p:nvSpPr>
        <p:spPr>
          <a:xfrm>
            <a:off x="6513867" y="3464367"/>
            <a:ext cx="40112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8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31"/>
          <p:cNvSpPr/>
          <p:nvPr/>
        </p:nvSpPr>
        <p:spPr>
          <a:xfrm>
            <a:off x="100" y="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31"/>
          <p:cNvSpPr/>
          <p:nvPr/>
        </p:nvSpPr>
        <p:spPr>
          <a:xfrm rot="10800000">
            <a:off x="133" y="6104000"/>
            <a:ext cx="12192000" cy="754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29505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34391-FC1A-4D76-A438-A8C1DAB3A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3F6EE-8D23-4AAF-ADB2-BFB2255C2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2B2A-0DD7-46E8-A796-1F491E58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F0771-C6D1-46B9-9ED4-829B26F3D716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E6BA3-ADEC-4281-8A80-B826E900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6D5E9-39C9-4C33-9AE5-B594874A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D16A-2A53-477A-8DE6-B299501C9D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45652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388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96000" y="1776200"/>
            <a:ext cx="5200800" cy="21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0" y="3885400"/>
            <a:ext cx="5206000" cy="6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8389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34391-FC1A-4D76-A438-A8C1DAB3A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3F6EE-8D23-4AAF-ADB2-BFB2255C2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2B2A-0DD7-46E8-A796-1F491E58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F0771-C6D1-46B9-9ED4-829B26F3D716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E6BA3-ADEC-4281-8A80-B826E900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6D5E9-39C9-4C33-9AE5-B594874A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D16A-2A53-477A-8DE6-B299501C9D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95885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0359245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F0771-C6D1-46B9-9ED4-829B26F3D716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1D16A-2A53-477A-8DE6-B299501C9D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3085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4116433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6123639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1041110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8867044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1243576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5713405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2618987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72316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20635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5870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33813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7351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37585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2648840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AFCE72F-74E6-4932-A7AF-C4D8A85BDCD8}" type="datetimeFigureOut">
              <a:rPr lang="en-ID" smtClean="0"/>
              <a:t>16/03/2024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FBF48-4A36-4FF2-8A78-94E1CD1CE52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312580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0000" y="593367"/>
            <a:ext cx="1041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sz="28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0000" y="1536633"/>
            <a:ext cx="1041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71448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82365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706" r:id="rId2"/>
    <p:sldLayoutId id="2147483707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037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w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8.wmf"/><Relationship Id="rId10" Type="http://schemas.openxmlformats.org/officeDocument/2006/relationships/image" Target="../media/image21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7A6B-0F1E-425C-B095-58E458E1F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586037"/>
          </a:xfrm>
        </p:spPr>
        <p:txBody>
          <a:bodyPr/>
          <a:lstStyle/>
          <a:p>
            <a:r>
              <a:rPr lang="en-US" dirty="0"/>
              <a:t>DATA INDIVIDU DAN DATA BERKELOMPOK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E79EE-16FB-4B7B-ABDD-1B74B96FC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4080"/>
            <a:ext cx="9144000" cy="553720"/>
          </a:xfrm>
        </p:spPr>
        <p:txBody>
          <a:bodyPr/>
          <a:lstStyle/>
          <a:p>
            <a:r>
              <a:rPr lang="en-US" dirty="0"/>
              <a:t>ASHRI SHABRINA AFRAH, M.T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82308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4747-66AB-4223-9117-C876A817E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Individu</a:t>
            </a:r>
            <a:r>
              <a:rPr lang="en-US" dirty="0"/>
              <a:t> dan Data </a:t>
            </a:r>
            <a:r>
              <a:rPr lang="en-US" dirty="0" err="1"/>
              <a:t>Berkelompok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87645-D210-430F-8BD1-B4F23BF03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</a:t>
            </a:r>
            <a:r>
              <a:rPr lang="en-US" b="1" dirty="0" err="1"/>
              <a:t>Individu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Data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data </a:t>
            </a:r>
            <a:r>
              <a:rPr lang="en-US" dirty="0" err="1"/>
              <a:t>mentah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 </a:t>
            </a:r>
            <a:r>
              <a:rPr lang="en-US" b="1" dirty="0" err="1"/>
              <a:t>Berkelompok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Data yang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635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4244-811F-46AF-A5FC-D928AC66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Individu</a:t>
            </a:r>
            <a:r>
              <a:rPr lang="en-US" dirty="0"/>
              <a:t> dan Data </a:t>
            </a:r>
            <a:r>
              <a:rPr lang="en-US" dirty="0" err="1"/>
              <a:t>Berkelompok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DF087E-03EA-4B90-80C1-65B66BCA6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802" t="34863" r="10205" b="18906"/>
          <a:stretch/>
        </p:blipFill>
        <p:spPr>
          <a:xfrm>
            <a:off x="2198051" y="2661920"/>
            <a:ext cx="8300721" cy="3482084"/>
          </a:xfrm>
        </p:spPr>
      </p:pic>
    </p:spTree>
    <p:extLst>
      <p:ext uri="{BB962C8B-B14F-4D97-AF65-F5344CB8AC3E}">
        <p14:creationId xmlns:p14="http://schemas.microsoft.com/office/powerpoint/2010/main" val="232886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D650-83A9-46FD-9B45-D7838010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Individu</a:t>
            </a:r>
            <a:r>
              <a:rPr lang="en-US" dirty="0"/>
              <a:t> dan Data </a:t>
            </a:r>
            <a:r>
              <a:rPr lang="en-US" dirty="0" err="1"/>
              <a:t>Berkelompok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861B-0BD1-4C3F-89DA-1515D6D2F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ID" dirty="0" err="1"/>
              <a:t>Persamaan</a:t>
            </a:r>
            <a:r>
              <a:rPr lang="en-ID" dirty="0"/>
              <a:t> Sturges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	K = 1 + 3,3 × log n</a:t>
            </a:r>
          </a:p>
          <a:p>
            <a:pPr marL="0" indent="0">
              <a:buNone/>
            </a:pPr>
            <a:endParaRPr lang="en-ID" b="1" dirty="0"/>
          </a:p>
          <a:p>
            <a:r>
              <a:rPr lang="en-ID" dirty="0" err="1"/>
              <a:t>Jangkauan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(R)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rumus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b="1" dirty="0"/>
              <a:t>	R = data </a:t>
            </a:r>
            <a:r>
              <a:rPr lang="en-ID" b="1" dirty="0" err="1"/>
              <a:t>tertinggi</a:t>
            </a:r>
            <a:r>
              <a:rPr lang="en-ID" b="1" dirty="0"/>
              <a:t> – data </a:t>
            </a:r>
            <a:r>
              <a:rPr lang="en-ID" b="1" dirty="0" err="1"/>
              <a:t>terendah</a:t>
            </a:r>
            <a:endParaRPr lang="en-ID" b="1" dirty="0"/>
          </a:p>
          <a:p>
            <a:endParaRPr lang="en-ID" dirty="0"/>
          </a:p>
          <a:p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tiap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(P)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dirty="0"/>
              <a:t>	</a:t>
            </a:r>
            <a:r>
              <a:rPr lang="en-ID" b="1" dirty="0"/>
              <a:t>P = R/K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821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A5D0-5573-4A75-BD17-7628CBE5B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Individu</a:t>
            </a:r>
            <a:r>
              <a:rPr lang="en-US" dirty="0"/>
              <a:t> dan Data </a:t>
            </a:r>
            <a:r>
              <a:rPr lang="en-US" dirty="0" err="1"/>
              <a:t>Berkelompok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27DCA-7B19-4D98-9C6B-09F9F1F37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735580"/>
            <a:ext cx="6332966" cy="34163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ID" b="1" dirty="0"/>
              <a:t>	K =1 + 3,3 log n</a:t>
            </a:r>
          </a:p>
          <a:p>
            <a:pPr marL="0" indent="0">
              <a:buNone/>
            </a:pPr>
            <a:r>
              <a:rPr lang="en-ID" b="1" dirty="0"/>
              <a:t>	   = 1+ 3,3 log 50 = 6,606601 ≈ 7</a:t>
            </a:r>
          </a:p>
          <a:p>
            <a:pPr marL="0" indent="0">
              <a:buNone/>
            </a:pPr>
            <a:endParaRPr lang="en-ID" b="1" dirty="0"/>
          </a:p>
          <a:p>
            <a:r>
              <a:rPr lang="en-ID" dirty="0" err="1"/>
              <a:t>Jangkauan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(R)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rumus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US" b="1" dirty="0"/>
              <a:t>	R = 74-23 = 51</a:t>
            </a:r>
            <a:endParaRPr lang="en-ID" dirty="0"/>
          </a:p>
          <a:p>
            <a:pPr marL="0" indent="0">
              <a:buNone/>
            </a:pPr>
            <a:r>
              <a:rPr lang="en-ID" b="1" dirty="0"/>
              <a:t>	</a:t>
            </a:r>
            <a:endParaRPr lang="en-ID" dirty="0"/>
          </a:p>
          <a:p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tiap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(P)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dirty="0"/>
              <a:t>	</a:t>
            </a:r>
            <a:r>
              <a:rPr lang="en-ID" b="1" dirty="0"/>
              <a:t>P = R/K = 51/7 = 7,28 ≈ 8</a:t>
            </a:r>
          </a:p>
          <a:p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4D09C7-056B-4FCC-AF82-A83B19E26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836723"/>
              </p:ext>
            </p:extLst>
          </p:nvPr>
        </p:nvGraphicFramePr>
        <p:xfrm>
          <a:off x="8067040" y="3175000"/>
          <a:ext cx="2641600" cy="2824411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3209299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81989480"/>
                    </a:ext>
                  </a:extLst>
                </a:gridCol>
              </a:tblGrid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Range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Fi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3849866"/>
                  </a:ext>
                </a:extLst>
              </a:tr>
              <a:tr h="32222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23-30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12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6355662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31-38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12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7753618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>
                          <a:effectLst/>
                        </a:rPr>
                        <a:t>39-46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3968185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>
                          <a:effectLst/>
                        </a:rPr>
                        <a:t>47-54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10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8794826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>
                          <a:effectLst/>
                        </a:rPr>
                        <a:t>55-62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6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20207127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>
                          <a:effectLst/>
                        </a:rPr>
                        <a:t>63-70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647345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>
                          <a:effectLst/>
                        </a:rPr>
                        <a:t>71-78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u="none" strike="noStrike" dirty="0">
                          <a:effectLst/>
                        </a:rPr>
                        <a:t>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76968211"/>
                  </a:ext>
                </a:extLst>
              </a:tr>
              <a:tr h="3127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50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4649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DFE112-09ED-4634-B913-9F91DE9DB319}"/>
              </a:ext>
            </a:extLst>
          </p:cNvPr>
          <p:cNvSpPr txBox="1"/>
          <p:nvPr/>
        </p:nvSpPr>
        <p:spPr>
          <a:xfrm>
            <a:off x="7582416" y="2566303"/>
            <a:ext cx="3570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+mn-lt"/>
              </a:rPr>
              <a:t>Tabel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distribusi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frekuensi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dari</a:t>
            </a:r>
            <a:r>
              <a:rPr lang="en-US" sz="1600" dirty="0">
                <a:latin typeface="+mn-lt"/>
              </a:rPr>
              <a:t> data:</a:t>
            </a:r>
            <a:endParaRPr lang="en-ID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8801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EB6A-B03F-4AF4-A110-32AF0C5D6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280160"/>
            <a:ext cx="8761413" cy="400472"/>
          </a:xfrm>
        </p:spPr>
        <p:txBody>
          <a:bodyPr/>
          <a:lstStyle/>
          <a:p>
            <a:r>
              <a:rPr lang="en-US" dirty="0"/>
              <a:t>Relative Frequency (RF) dan </a:t>
            </a:r>
            <a:r>
              <a:rPr lang="en-US" dirty="0" err="1"/>
              <a:t>Cummulative</a:t>
            </a:r>
            <a:r>
              <a:rPr lang="en-US" dirty="0"/>
              <a:t> Frequency (CF) </a:t>
            </a:r>
            <a:br>
              <a:rPr lang="en-US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E62C9-71EE-42E4-97A1-B05DBE0CE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93340"/>
            <a:ext cx="9868646" cy="3416300"/>
          </a:xfrm>
        </p:spPr>
        <p:txBody>
          <a:bodyPr/>
          <a:lstStyle/>
          <a:p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(RF) dan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kumulatif</a:t>
            </a:r>
            <a:r>
              <a:rPr lang="en-US" dirty="0"/>
              <a:t> (CF)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: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CE5DA1-B963-4BF9-B4E6-72DCA4F22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05964"/>
              </p:ext>
            </p:extLst>
          </p:nvPr>
        </p:nvGraphicFramePr>
        <p:xfrm>
          <a:off x="4074161" y="3558858"/>
          <a:ext cx="4287520" cy="260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6893">
                  <a:extLst>
                    <a:ext uri="{9D8B030D-6E8A-4147-A177-3AD203B41FA5}">
                      <a16:colId xmlns:a16="http://schemas.microsoft.com/office/drawing/2014/main" val="4249664929"/>
                    </a:ext>
                  </a:extLst>
                </a:gridCol>
                <a:gridCol w="970426">
                  <a:extLst>
                    <a:ext uri="{9D8B030D-6E8A-4147-A177-3AD203B41FA5}">
                      <a16:colId xmlns:a16="http://schemas.microsoft.com/office/drawing/2014/main" val="4071636518"/>
                    </a:ext>
                  </a:extLst>
                </a:gridCol>
                <a:gridCol w="917742">
                  <a:extLst>
                    <a:ext uri="{9D8B030D-6E8A-4147-A177-3AD203B41FA5}">
                      <a16:colId xmlns:a16="http://schemas.microsoft.com/office/drawing/2014/main" val="3206902210"/>
                    </a:ext>
                  </a:extLst>
                </a:gridCol>
                <a:gridCol w="1402459">
                  <a:extLst>
                    <a:ext uri="{9D8B030D-6E8A-4147-A177-3AD203B41FA5}">
                      <a16:colId xmlns:a16="http://schemas.microsoft.com/office/drawing/2014/main" val="3703004793"/>
                    </a:ext>
                  </a:extLst>
                </a:gridCol>
              </a:tblGrid>
              <a:tr h="49098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  <a:latin typeface="+mn-lt"/>
                        </a:rPr>
                        <a:t>Range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  <a:latin typeface="+mn-lt"/>
                        </a:rPr>
                        <a:t>Fi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  <a:latin typeface="+mn-lt"/>
                        </a:rPr>
                        <a:t>RF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302725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23-30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0.24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12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009565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31-38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0.24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24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452988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39-46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0.16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32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50249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47-54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113420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55-62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683136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63-70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0.02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49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813294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71-78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0.02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50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86149"/>
                  </a:ext>
                </a:extLst>
              </a:tr>
              <a:tr h="2646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lang="en-ID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otal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50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 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36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75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F61C-3FB0-45AB-9054-09E60C45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37126" cy="706964"/>
          </a:xfrm>
        </p:spPr>
        <p:txBody>
          <a:bodyPr/>
          <a:lstStyle/>
          <a:p>
            <a:r>
              <a:rPr lang="en-US" dirty="0" err="1"/>
              <a:t>Cummulative</a:t>
            </a:r>
            <a:r>
              <a:rPr lang="en-US" dirty="0"/>
              <a:t> Relative Frequency (CRF)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8FA67-6D98-4773-AFBD-03D0F2B1D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441926" cy="3416300"/>
          </a:xfrm>
        </p:spPr>
        <p:txBody>
          <a:bodyPr/>
          <a:lstStyle/>
          <a:p>
            <a:r>
              <a:rPr lang="en-US" dirty="0"/>
              <a:t>Nilai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kumulatif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pada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88627D-DDFD-48E5-B871-F71093D1E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29548"/>
              </p:ext>
            </p:extLst>
          </p:nvPr>
        </p:nvGraphicFramePr>
        <p:xfrm>
          <a:off x="3718560" y="3401375"/>
          <a:ext cx="4805681" cy="26895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430">
                  <a:extLst>
                    <a:ext uri="{9D8B030D-6E8A-4147-A177-3AD203B41FA5}">
                      <a16:colId xmlns:a16="http://schemas.microsoft.com/office/drawing/2014/main" val="1813797684"/>
                    </a:ext>
                  </a:extLst>
                </a:gridCol>
                <a:gridCol w="880430">
                  <a:extLst>
                    <a:ext uri="{9D8B030D-6E8A-4147-A177-3AD203B41FA5}">
                      <a16:colId xmlns:a16="http://schemas.microsoft.com/office/drawing/2014/main" val="81204487"/>
                    </a:ext>
                  </a:extLst>
                </a:gridCol>
                <a:gridCol w="880430">
                  <a:extLst>
                    <a:ext uri="{9D8B030D-6E8A-4147-A177-3AD203B41FA5}">
                      <a16:colId xmlns:a16="http://schemas.microsoft.com/office/drawing/2014/main" val="2705171200"/>
                    </a:ext>
                  </a:extLst>
                </a:gridCol>
                <a:gridCol w="1283961">
                  <a:extLst>
                    <a:ext uri="{9D8B030D-6E8A-4147-A177-3AD203B41FA5}">
                      <a16:colId xmlns:a16="http://schemas.microsoft.com/office/drawing/2014/main" val="537192336"/>
                    </a:ext>
                  </a:extLst>
                </a:gridCol>
                <a:gridCol w="880430">
                  <a:extLst>
                    <a:ext uri="{9D8B030D-6E8A-4147-A177-3AD203B41FA5}">
                      <a16:colId xmlns:a16="http://schemas.microsoft.com/office/drawing/2014/main" val="4244007541"/>
                    </a:ext>
                  </a:extLst>
                </a:gridCol>
              </a:tblGrid>
              <a:tr h="50628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</a:rPr>
                        <a:t>Range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Fi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RF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CRF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788832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23-30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0.24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12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0.24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879169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31-38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0.24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24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0.48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910106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39-46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0.16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32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0.64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953217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47-54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0.84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945463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55-62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48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0.96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64006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63-70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0.02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49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0.98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818171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71-78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0.02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725109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</a:rPr>
                        <a:t>Total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</a:rPr>
                        <a:t>50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</a:rPr>
                        <a:t>1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</a:rPr>
                        <a:t> 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 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22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82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57BF-E4A0-4DB0-88C4-CA42A02C5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22868"/>
            <a:ext cx="8761413" cy="706964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Pemusatan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Individu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CB142-27F8-4C14-9808-31EA53DC8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434" y="2705100"/>
            <a:ext cx="9817846" cy="3416300"/>
          </a:xfrm>
        </p:spPr>
        <p:txBody>
          <a:bodyPr/>
          <a:lstStyle/>
          <a:p>
            <a:pPr marL="0" indent="0">
              <a:buNone/>
            </a:pPr>
            <a:endParaRPr lang="en-ID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6888B7-6355-4C30-A911-3A466A5644BB}"/>
              </a:ext>
            </a:extLst>
          </p:cNvPr>
          <p:cNvGrpSpPr/>
          <p:nvPr/>
        </p:nvGrpSpPr>
        <p:grpSpPr>
          <a:xfrm>
            <a:off x="848534" y="2683300"/>
            <a:ext cx="533099" cy="518852"/>
            <a:chOff x="1072054" y="2581700"/>
            <a:chExt cx="533099" cy="518852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9A98C92F-21C3-4C6E-AD0B-74EA494F48EF}"/>
                </a:ext>
              </a:extLst>
            </p:cNvPr>
            <p:cNvSpPr/>
            <p:nvPr/>
          </p:nvSpPr>
          <p:spPr>
            <a:xfrm>
              <a:off x="1072054" y="2581700"/>
              <a:ext cx="533099" cy="518852"/>
            </a:xfrm>
            <a:custGeom>
              <a:avLst/>
              <a:gdLst/>
              <a:ahLst/>
              <a:cxnLst/>
              <a:rect l="l" t="t" r="r" b="b"/>
              <a:pathLst>
                <a:path w="816610" h="816610">
                  <a:moveTo>
                    <a:pt x="418211" y="0"/>
                  </a:moveTo>
                  <a:lnTo>
                    <a:pt x="378206" y="1016"/>
                  </a:lnTo>
                  <a:lnTo>
                    <a:pt x="338455" y="5842"/>
                  </a:lnTo>
                  <a:lnTo>
                    <a:pt x="299338" y="14604"/>
                  </a:lnTo>
                  <a:lnTo>
                    <a:pt x="261365" y="27177"/>
                  </a:lnTo>
                  <a:lnTo>
                    <a:pt x="224688" y="43434"/>
                  </a:lnTo>
                  <a:lnTo>
                    <a:pt x="189826" y="63246"/>
                  </a:lnTo>
                  <a:lnTo>
                    <a:pt x="157073" y="86360"/>
                  </a:lnTo>
                  <a:lnTo>
                    <a:pt x="126733" y="112522"/>
                  </a:lnTo>
                  <a:lnTo>
                    <a:pt x="99110" y="141350"/>
                  </a:lnTo>
                  <a:lnTo>
                    <a:pt x="74460" y="172974"/>
                  </a:lnTo>
                  <a:lnTo>
                    <a:pt x="53035" y="206883"/>
                  </a:lnTo>
                  <a:lnTo>
                    <a:pt x="35026" y="242697"/>
                  </a:lnTo>
                  <a:lnTo>
                    <a:pt x="20599" y="280035"/>
                  </a:lnTo>
                  <a:lnTo>
                    <a:pt x="9918" y="318643"/>
                  </a:lnTo>
                  <a:lnTo>
                    <a:pt x="3073" y="358140"/>
                  </a:lnTo>
                  <a:lnTo>
                    <a:pt x="127" y="398145"/>
                  </a:lnTo>
                  <a:lnTo>
                    <a:pt x="0" y="408050"/>
                  </a:lnTo>
                  <a:lnTo>
                    <a:pt x="1968" y="448055"/>
                  </a:lnTo>
                  <a:lnTo>
                    <a:pt x="7848" y="487679"/>
                  </a:lnTo>
                  <a:lnTo>
                    <a:pt x="17576" y="526542"/>
                  </a:lnTo>
                  <a:lnTo>
                    <a:pt x="31076" y="564261"/>
                  </a:lnTo>
                  <a:lnTo>
                    <a:pt x="48196" y="600583"/>
                  </a:lnTo>
                  <a:lnTo>
                    <a:pt x="68795" y="634873"/>
                  </a:lnTo>
                  <a:lnTo>
                    <a:pt x="92671" y="667130"/>
                  </a:lnTo>
                  <a:lnTo>
                    <a:pt x="119570" y="696722"/>
                  </a:lnTo>
                  <a:lnTo>
                    <a:pt x="149237" y="723646"/>
                  </a:lnTo>
                  <a:lnTo>
                    <a:pt x="181419" y="747522"/>
                  </a:lnTo>
                  <a:lnTo>
                    <a:pt x="215785" y="768096"/>
                  </a:lnTo>
                  <a:lnTo>
                    <a:pt x="251968" y="785241"/>
                  </a:lnTo>
                  <a:lnTo>
                    <a:pt x="289687" y="798702"/>
                  </a:lnTo>
                  <a:lnTo>
                    <a:pt x="328549" y="808481"/>
                  </a:lnTo>
                  <a:lnTo>
                    <a:pt x="368300" y="814324"/>
                  </a:lnTo>
                  <a:lnTo>
                    <a:pt x="408178" y="816355"/>
                  </a:lnTo>
                  <a:lnTo>
                    <a:pt x="438150" y="815213"/>
                  </a:lnTo>
                  <a:lnTo>
                    <a:pt x="478028" y="810260"/>
                  </a:lnTo>
                  <a:lnTo>
                    <a:pt x="517144" y="801497"/>
                  </a:lnTo>
                  <a:lnTo>
                    <a:pt x="555116" y="788924"/>
                  </a:lnTo>
                  <a:lnTo>
                    <a:pt x="591819" y="772668"/>
                  </a:lnTo>
                  <a:lnTo>
                    <a:pt x="626618" y="752983"/>
                  </a:lnTo>
                  <a:lnTo>
                    <a:pt x="659383" y="729869"/>
                  </a:lnTo>
                  <a:lnTo>
                    <a:pt x="689610" y="703706"/>
                  </a:lnTo>
                  <a:lnTo>
                    <a:pt x="717295" y="674751"/>
                  </a:lnTo>
                  <a:lnTo>
                    <a:pt x="741933" y="643254"/>
                  </a:lnTo>
                  <a:lnTo>
                    <a:pt x="763397" y="609346"/>
                  </a:lnTo>
                  <a:lnTo>
                    <a:pt x="781431" y="573531"/>
                  </a:lnTo>
                  <a:lnTo>
                    <a:pt x="795782" y="536194"/>
                  </a:lnTo>
                  <a:lnTo>
                    <a:pt x="806576" y="497459"/>
                  </a:lnTo>
                  <a:lnTo>
                    <a:pt x="813435" y="458089"/>
                  </a:lnTo>
                  <a:lnTo>
                    <a:pt x="816356" y="418084"/>
                  </a:lnTo>
                  <a:lnTo>
                    <a:pt x="816482" y="408050"/>
                  </a:lnTo>
                  <a:lnTo>
                    <a:pt x="815339" y="378078"/>
                  </a:lnTo>
                  <a:lnTo>
                    <a:pt x="810387" y="338327"/>
                  </a:lnTo>
                  <a:lnTo>
                    <a:pt x="801624" y="299212"/>
                  </a:lnTo>
                  <a:lnTo>
                    <a:pt x="789051" y="261239"/>
                  </a:lnTo>
                  <a:lnTo>
                    <a:pt x="772794" y="224536"/>
                  </a:lnTo>
                  <a:lnTo>
                    <a:pt x="753110" y="189611"/>
                  </a:lnTo>
                  <a:lnTo>
                    <a:pt x="729995" y="156845"/>
                  </a:lnTo>
                  <a:lnTo>
                    <a:pt x="703833" y="126619"/>
                  </a:lnTo>
                  <a:lnTo>
                    <a:pt x="674877" y="99060"/>
                  </a:lnTo>
                  <a:lnTo>
                    <a:pt x="643382" y="74422"/>
                  </a:lnTo>
                  <a:lnTo>
                    <a:pt x="609473" y="52959"/>
                  </a:lnTo>
                  <a:lnTo>
                    <a:pt x="573659" y="34925"/>
                  </a:lnTo>
                  <a:lnTo>
                    <a:pt x="536321" y="20447"/>
                  </a:lnTo>
                  <a:lnTo>
                    <a:pt x="497586" y="9778"/>
                  </a:lnTo>
                  <a:lnTo>
                    <a:pt x="458216" y="2921"/>
                  </a:lnTo>
                  <a:lnTo>
                    <a:pt x="418211" y="0"/>
                  </a:lnTo>
                  <a:close/>
                </a:path>
              </a:pathLst>
            </a:custGeom>
            <a:solidFill>
              <a:srgbClr val="EE8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55FCB51B-ECA5-4FA1-95BF-1BC2C34EC281}"/>
                </a:ext>
              </a:extLst>
            </p:cNvPr>
            <p:cNvSpPr txBox="1"/>
            <p:nvPr/>
          </p:nvSpPr>
          <p:spPr>
            <a:xfrm>
              <a:off x="1250807" y="2606509"/>
              <a:ext cx="259756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400" b="1" spc="-5" dirty="0">
                  <a:solidFill>
                    <a:srgbClr val="FFFFFF"/>
                  </a:solidFill>
                  <a:latin typeface="Georgia"/>
                  <a:cs typeface="Georgia"/>
                </a:rPr>
                <a:t>1</a:t>
              </a:r>
              <a:endParaRPr sz="2400" dirty="0">
                <a:latin typeface="Georgia"/>
                <a:cs typeface="Georgia"/>
              </a:endParaRPr>
            </a:p>
          </p:txBody>
        </p:sp>
      </p:grpSp>
      <p:sp>
        <p:nvSpPr>
          <p:cNvPr id="6" name="object 5">
            <a:extLst>
              <a:ext uri="{FF2B5EF4-FFF2-40B4-BE49-F238E27FC236}">
                <a16:creationId xmlns:a16="http://schemas.microsoft.com/office/drawing/2014/main" id="{B520AB21-ECD5-47E7-917E-540C78EB0244}"/>
              </a:ext>
            </a:extLst>
          </p:cNvPr>
          <p:cNvSpPr txBox="1"/>
          <p:nvPr/>
        </p:nvSpPr>
        <p:spPr>
          <a:xfrm>
            <a:off x="1477486" y="2898866"/>
            <a:ext cx="3711143" cy="77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42424"/>
                </a:solidFill>
                <a:latin typeface="Georgia"/>
                <a:cs typeface="Georgia"/>
              </a:rPr>
              <a:t>Mean</a:t>
            </a:r>
            <a:r>
              <a:rPr sz="2000" b="1" spc="-140" dirty="0">
                <a:solidFill>
                  <a:srgbClr val="242424"/>
                </a:solidFill>
                <a:latin typeface="Georgia"/>
                <a:cs typeface="Georgia"/>
              </a:rPr>
              <a:t> </a:t>
            </a:r>
            <a:r>
              <a:rPr sz="2000" b="1" spc="-5" dirty="0">
                <a:solidFill>
                  <a:srgbClr val="242424"/>
                </a:solidFill>
                <a:latin typeface="Georgia"/>
                <a:cs typeface="Georgia"/>
              </a:rPr>
              <a:t>(Arithmetic)</a:t>
            </a:r>
            <a:endParaRPr sz="2000" dirty="0">
              <a:latin typeface="Georgia"/>
              <a:cs typeface="Georgia"/>
            </a:endParaRPr>
          </a:p>
          <a:p>
            <a:pPr marL="12700" marR="168910">
              <a:lnSpc>
                <a:spcPct val="116100"/>
              </a:lnSpc>
              <a:spcBef>
                <a:spcPts val="1530"/>
              </a:spcBef>
            </a:pPr>
            <a:r>
              <a:rPr sz="1600" spc="-5" dirty="0">
                <a:solidFill>
                  <a:srgbClr val="242424"/>
                </a:solidFill>
                <a:latin typeface="Trebuchet MS"/>
                <a:cs typeface="Trebuchet MS"/>
              </a:rPr>
              <a:t>Jumlah</a:t>
            </a:r>
            <a:r>
              <a:rPr sz="1600" spc="-65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242424"/>
                </a:solidFill>
                <a:latin typeface="Trebuchet MS"/>
                <a:cs typeface="Trebuchet MS"/>
              </a:rPr>
              <a:t>semua</a:t>
            </a:r>
            <a:r>
              <a:rPr sz="1600" spc="-70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solidFill>
                  <a:srgbClr val="242424"/>
                </a:solidFill>
                <a:latin typeface="Trebuchet MS"/>
                <a:cs typeface="Trebuchet MS"/>
              </a:rPr>
              <a:t>nilai</a:t>
            </a:r>
            <a:r>
              <a:rPr sz="1600" spc="-40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42424"/>
                </a:solidFill>
                <a:latin typeface="Trebuchet MS"/>
                <a:cs typeface="Trebuchet MS"/>
              </a:rPr>
              <a:t>dibagi </a:t>
            </a:r>
            <a:r>
              <a:rPr sz="1600" spc="-755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42424"/>
                </a:solidFill>
                <a:latin typeface="Trebuchet MS"/>
                <a:cs typeface="Trebuchet MS"/>
              </a:rPr>
              <a:t>banyaknya</a:t>
            </a:r>
            <a:endParaRPr sz="1600" dirty="0">
              <a:latin typeface="Trebuchet MS"/>
              <a:cs typeface="Trebuchet M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64BE07-1CD8-4B52-AD39-EC1C8E2166EB}"/>
              </a:ext>
            </a:extLst>
          </p:cNvPr>
          <p:cNvGrpSpPr/>
          <p:nvPr/>
        </p:nvGrpSpPr>
        <p:grpSpPr>
          <a:xfrm>
            <a:off x="4251222" y="4163464"/>
            <a:ext cx="496874" cy="489813"/>
            <a:chOff x="4474742" y="4203708"/>
            <a:chExt cx="496874" cy="458207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D3D4D0CB-6600-41ED-A721-B8572AF97EB0}"/>
                </a:ext>
              </a:extLst>
            </p:cNvPr>
            <p:cNvSpPr/>
            <p:nvPr/>
          </p:nvSpPr>
          <p:spPr>
            <a:xfrm>
              <a:off x="4474742" y="4203708"/>
              <a:ext cx="496874" cy="458207"/>
            </a:xfrm>
            <a:custGeom>
              <a:avLst/>
              <a:gdLst/>
              <a:ahLst/>
              <a:cxnLst/>
              <a:rect l="l" t="t" r="r" b="b"/>
              <a:pathLst>
                <a:path w="818514" h="816609">
                  <a:moveTo>
                    <a:pt x="419100" y="0"/>
                  </a:moveTo>
                  <a:lnTo>
                    <a:pt x="379095" y="1016"/>
                  </a:lnTo>
                  <a:lnTo>
                    <a:pt x="339217" y="5842"/>
                  </a:lnTo>
                  <a:lnTo>
                    <a:pt x="300100" y="14605"/>
                  </a:lnTo>
                  <a:lnTo>
                    <a:pt x="261874" y="27178"/>
                  </a:lnTo>
                  <a:lnTo>
                    <a:pt x="225171" y="43434"/>
                  </a:lnTo>
                  <a:lnTo>
                    <a:pt x="190246" y="63246"/>
                  </a:lnTo>
                  <a:lnTo>
                    <a:pt x="157480" y="86360"/>
                  </a:lnTo>
                  <a:lnTo>
                    <a:pt x="127000" y="112522"/>
                  </a:lnTo>
                  <a:lnTo>
                    <a:pt x="99313" y="141350"/>
                  </a:lnTo>
                  <a:lnTo>
                    <a:pt x="74675" y="172974"/>
                  </a:lnTo>
                  <a:lnTo>
                    <a:pt x="53212" y="206883"/>
                  </a:lnTo>
                  <a:lnTo>
                    <a:pt x="35051" y="242697"/>
                  </a:lnTo>
                  <a:lnTo>
                    <a:pt x="20700" y="280035"/>
                  </a:lnTo>
                  <a:lnTo>
                    <a:pt x="9906" y="318643"/>
                  </a:lnTo>
                  <a:lnTo>
                    <a:pt x="3048" y="358140"/>
                  </a:lnTo>
                  <a:lnTo>
                    <a:pt x="126" y="398145"/>
                  </a:lnTo>
                  <a:lnTo>
                    <a:pt x="0" y="408050"/>
                  </a:lnTo>
                  <a:lnTo>
                    <a:pt x="2032" y="448056"/>
                  </a:lnTo>
                  <a:lnTo>
                    <a:pt x="7874" y="487680"/>
                  </a:lnTo>
                  <a:lnTo>
                    <a:pt x="17652" y="526542"/>
                  </a:lnTo>
                  <a:lnTo>
                    <a:pt x="31114" y="564261"/>
                  </a:lnTo>
                  <a:lnTo>
                    <a:pt x="48260" y="600583"/>
                  </a:lnTo>
                  <a:lnTo>
                    <a:pt x="68961" y="634873"/>
                  </a:lnTo>
                  <a:lnTo>
                    <a:pt x="92837" y="667131"/>
                  </a:lnTo>
                  <a:lnTo>
                    <a:pt x="119887" y="696722"/>
                  </a:lnTo>
                  <a:lnTo>
                    <a:pt x="149606" y="723646"/>
                  </a:lnTo>
                  <a:lnTo>
                    <a:pt x="181863" y="747522"/>
                  </a:lnTo>
                  <a:lnTo>
                    <a:pt x="216281" y="768096"/>
                  </a:lnTo>
                  <a:lnTo>
                    <a:pt x="252602" y="785241"/>
                  </a:lnTo>
                  <a:lnTo>
                    <a:pt x="290449" y="798703"/>
                  </a:lnTo>
                  <a:lnTo>
                    <a:pt x="329311" y="808482"/>
                  </a:lnTo>
                  <a:lnTo>
                    <a:pt x="369062" y="814324"/>
                  </a:lnTo>
                  <a:lnTo>
                    <a:pt x="409194" y="816356"/>
                  </a:lnTo>
                  <a:lnTo>
                    <a:pt x="439166" y="815213"/>
                  </a:lnTo>
                  <a:lnTo>
                    <a:pt x="479044" y="810260"/>
                  </a:lnTo>
                  <a:lnTo>
                    <a:pt x="518160" y="801497"/>
                  </a:lnTo>
                  <a:lnTo>
                    <a:pt x="556260" y="788924"/>
                  </a:lnTo>
                  <a:lnTo>
                    <a:pt x="592963" y="772668"/>
                  </a:lnTo>
                  <a:lnTo>
                    <a:pt x="628014" y="752983"/>
                  </a:lnTo>
                  <a:lnTo>
                    <a:pt x="660781" y="729869"/>
                  </a:lnTo>
                  <a:lnTo>
                    <a:pt x="691134" y="703707"/>
                  </a:lnTo>
                  <a:lnTo>
                    <a:pt x="718820" y="674751"/>
                  </a:lnTo>
                  <a:lnTo>
                    <a:pt x="743585" y="643255"/>
                  </a:lnTo>
                  <a:lnTo>
                    <a:pt x="765048" y="609346"/>
                  </a:lnTo>
                  <a:lnTo>
                    <a:pt x="783082" y="573532"/>
                  </a:lnTo>
                  <a:lnTo>
                    <a:pt x="797560" y="536194"/>
                  </a:lnTo>
                  <a:lnTo>
                    <a:pt x="808227" y="497459"/>
                  </a:lnTo>
                  <a:lnTo>
                    <a:pt x="815086" y="458088"/>
                  </a:lnTo>
                  <a:lnTo>
                    <a:pt x="818134" y="418084"/>
                  </a:lnTo>
                  <a:lnTo>
                    <a:pt x="818261" y="408050"/>
                  </a:lnTo>
                  <a:lnTo>
                    <a:pt x="817118" y="378079"/>
                  </a:lnTo>
                  <a:lnTo>
                    <a:pt x="812164" y="338328"/>
                  </a:lnTo>
                  <a:lnTo>
                    <a:pt x="803401" y="299212"/>
                  </a:lnTo>
                  <a:lnTo>
                    <a:pt x="790829" y="261238"/>
                  </a:lnTo>
                  <a:lnTo>
                    <a:pt x="774573" y="224536"/>
                  </a:lnTo>
                  <a:lnTo>
                    <a:pt x="754761" y="189611"/>
                  </a:lnTo>
                  <a:lnTo>
                    <a:pt x="731647" y="156845"/>
                  </a:lnTo>
                  <a:lnTo>
                    <a:pt x="705358" y="126619"/>
                  </a:lnTo>
                  <a:lnTo>
                    <a:pt x="676275" y="99060"/>
                  </a:lnTo>
                  <a:lnTo>
                    <a:pt x="644651" y="74422"/>
                  </a:lnTo>
                  <a:lnTo>
                    <a:pt x="610743" y="52959"/>
                  </a:lnTo>
                  <a:lnTo>
                    <a:pt x="574929" y="34925"/>
                  </a:lnTo>
                  <a:lnTo>
                    <a:pt x="537463" y="20447"/>
                  </a:lnTo>
                  <a:lnTo>
                    <a:pt x="498729" y="9779"/>
                  </a:lnTo>
                  <a:lnTo>
                    <a:pt x="459105" y="2921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E8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4E3001D-25B1-433D-BAFB-C75AE431B12D}"/>
                </a:ext>
              </a:extLst>
            </p:cNvPr>
            <p:cNvSpPr txBox="1"/>
            <p:nvPr/>
          </p:nvSpPr>
          <p:spPr>
            <a:xfrm>
              <a:off x="4601214" y="4216936"/>
              <a:ext cx="325296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400" b="1" spc="-5" dirty="0">
                  <a:solidFill>
                    <a:srgbClr val="FFFFFF"/>
                  </a:solidFill>
                  <a:latin typeface="Georgia"/>
                  <a:cs typeface="Georgia"/>
                </a:rPr>
                <a:t>2</a:t>
              </a:r>
              <a:endParaRPr sz="2400" dirty="0">
                <a:latin typeface="Georgia"/>
                <a:cs typeface="Georgia"/>
              </a:endParaRPr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C30E497-A34D-4107-B3CF-339005EB6641}"/>
              </a:ext>
            </a:extLst>
          </p:cNvPr>
          <p:cNvSpPr txBox="1"/>
          <p:nvPr/>
        </p:nvSpPr>
        <p:spPr>
          <a:xfrm>
            <a:off x="5068873" y="4378895"/>
            <a:ext cx="2980579" cy="8617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42424"/>
                </a:solidFill>
                <a:latin typeface="Georgia"/>
                <a:cs typeface="Georgia"/>
              </a:rPr>
              <a:t>Median</a:t>
            </a:r>
            <a:endParaRPr sz="2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sz="1600" spc="-15" dirty="0">
                <a:solidFill>
                  <a:srgbClr val="242424"/>
                </a:solidFill>
                <a:latin typeface="Trebuchet MS"/>
                <a:cs typeface="Trebuchet MS"/>
              </a:rPr>
              <a:t>Nilai</a:t>
            </a:r>
            <a:r>
              <a:rPr sz="1600" spc="-25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42424"/>
                </a:solidFill>
                <a:latin typeface="Trebuchet MS"/>
                <a:cs typeface="Trebuchet MS"/>
              </a:rPr>
              <a:t>tengah</a:t>
            </a:r>
            <a:r>
              <a:rPr sz="1600" spc="-30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42424"/>
                </a:solidFill>
                <a:latin typeface="Trebuchet MS"/>
                <a:cs typeface="Trebuchet MS"/>
              </a:rPr>
              <a:t>dari data</a:t>
            </a:r>
            <a:endParaRPr sz="1600" dirty="0">
              <a:latin typeface="Trebuchet MS"/>
              <a:cs typeface="Trebuchet M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2BF029-7561-4F51-B107-6E01A37CD2D4}"/>
              </a:ext>
            </a:extLst>
          </p:cNvPr>
          <p:cNvGrpSpPr/>
          <p:nvPr/>
        </p:nvGrpSpPr>
        <p:grpSpPr>
          <a:xfrm>
            <a:off x="7553244" y="2683068"/>
            <a:ext cx="495765" cy="490471"/>
            <a:chOff x="7817404" y="2581468"/>
            <a:chExt cx="495765" cy="490471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3635ABA5-1648-49A6-A4E2-FEECE221AB99}"/>
                </a:ext>
              </a:extLst>
            </p:cNvPr>
            <p:cNvSpPr/>
            <p:nvPr/>
          </p:nvSpPr>
          <p:spPr>
            <a:xfrm>
              <a:off x="7817404" y="2588140"/>
              <a:ext cx="495765" cy="483799"/>
            </a:xfrm>
            <a:custGeom>
              <a:avLst/>
              <a:gdLst/>
              <a:ahLst/>
              <a:cxnLst/>
              <a:rect l="l" t="t" r="r" b="b"/>
              <a:pathLst>
                <a:path w="818515" h="816610">
                  <a:moveTo>
                    <a:pt x="419100" y="0"/>
                  </a:moveTo>
                  <a:lnTo>
                    <a:pt x="379095" y="1016"/>
                  </a:lnTo>
                  <a:lnTo>
                    <a:pt x="339217" y="5842"/>
                  </a:lnTo>
                  <a:lnTo>
                    <a:pt x="300100" y="14604"/>
                  </a:lnTo>
                  <a:lnTo>
                    <a:pt x="261874" y="27177"/>
                  </a:lnTo>
                  <a:lnTo>
                    <a:pt x="225171" y="43434"/>
                  </a:lnTo>
                  <a:lnTo>
                    <a:pt x="190246" y="63246"/>
                  </a:lnTo>
                  <a:lnTo>
                    <a:pt x="157479" y="86360"/>
                  </a:lnTo>
                  <a:lnTo>
                    <a:pt x="127000" y="112522"/>
                  </a:lnTo>
                  <a:lnTo>
                    <a:pt x="99314" y="141350"/>
                  </a:lnTo>
                  <a:lnTo>
                    <a:pt x="74675" y="172974"/>
                  </a:lnTo>
                  <a:lnTo>
                    <a:pt x="53212" y="206883"/>
                  </a:lnTo>
                  <a:lnTo>
                    <a:pt x="35051" y="242697"/>
                  </a:lnTo>
                  <a:lnTo>
                    <a:pt x="20700" y="280035"/>
                  </a:lnTo>
                  <a:lnTo>
                    <a:pt x="9905" y="318643"/>
                  </a:lnTo>
                  <a:lnTo>
                    <a:pt x="3048" y="358140"/>
                  </a:lnTo>
                  <a:lnTo>
                    <a:pt x="126" y="398145"/>
                  </a:lnTo>
                  <a:lnTo>
                    <a:pt x="0" y="408050"/>
                  </a:lnTo>
                  <a:lnTo>
                    <a:pt x="2031" y="448056"/>
                  </a:lnTo>
                  <a:lnTo>
                    <a:pt x="7874" y="487679"/>
                  </a:lnTo>
                  <a:lnTo>
                    <a:pt x="17652" y="526542"/>
                  </a:lnTo>
                  <a:lnTo>
                    <a:pt x="31115" y="564261"/>
                  </a:lnTo>
                  <a:lnTo>
                    <a:pt x="48259" y="600583"/>
                  </a:lnTo>
                  <a:lnTo>
                    <a:pt x="68960" y="634873"/>
                  </a:lnTo>
                  <a:lnTo>
                    <a:pt x="92836" y="667131"/>
                  </a:lnTo>
                  <a:lnTo>
                    <a:pt x="119887" y="696722"/>
                  </a:lnTo>
                  <a:lnTo>
                    <a:pt x="149605" y="723646"/>
                  </a:lnTo>
                  <a:lnTo>
                    <a:pt x="181864" y="747522"/>
                  </a:lnTo>
                  <a:lnTo>
                    <a:pt x="216280" y="768096"/>
                  </a:lnTo>
                  <a:lnTo>
                    <a:pt x="252602" y="785241"/>
                  </a:lnTo>
                  <a:lnTo>
                    <a:pt x="290449" y="798702"/>
                  </a:lnTo>
                  <a:lnTo>
                    <a:pt x="329310" y="808482"/>
                  </a:lnTo>
                  <a:lnTo>
                    <a:pt x="369061" y="814324"/>
                  </a:lnTo>
                  <a:lnTo>
                    <a:pt x="409067" y="816356"/>
                  </a:lnTo>
                  <a:lnTo>
                    <a:pt x="439166" y="815213"/>
                  </a:lnTo>
                  <a:lnTo>
                    <a:pt x="479044" y="810260"/>
                  </a:lnTo>
                  <a:lnTo>
                    <a:pt x="518159" y="801497"/>
                  </a:lnTo>
                  <a:lnTo>
                    <a:pt x="556259" y="788924"/>
                  </a:lnTo>
                  <a:lnTo>
                    <a:pt x="592962" y="772668"/>
                  </a:lnTo>
                  <a:lnTo>
                    <a:pt x="628015" y="752983"/>
                  </a:lnTo>
                  <a:lnTo>
                    <a:pt x="660780" y="729869"/>
                  </a:lnTo>
                  <a:lnTo>
                    <a:pt x="691133" y="703707"/>
                  </a:lnTo>
                  <a:lnTo>
                    <a:pt x="718820" y="674751"/>
                  </a:lnTo>
                  <a:lnTo>
                    <a:pt x="743584" y="643254"/>
                  </a:lnTo>
                  <a:lnTo>
                    <a:pt x="765048" y="609346"/>
                  </a:lnTo>
                  <a:lnTo>
                    <a:pt x="783081" y="573532"/>
                  </a:lnTo>
                  <a:lnTo>
                    <a:pt x="797560" y="536194"/>
                  </a:lnTo>
                  <a:lnTo>
                    <a:pt x="808227" y="497459"/>
                  </a:lnTo>
                  <a:lnTo>
                    <a:pt x="815085" y="458089"/>
                  </a:lnTo>
                  <a:lnTo>
                    <a:pt x="818133" y="418084"/>
                  </a:lnTo>
                  <a:lnTo>
                    <a:pt x="818260" y="408050"/>
                  </a:lnTo>
                  <a:lnTo>
                    <a:pt x="817118" y="378078"/>
                  </a:lnTo>
                  <a:lnTo>
                    <a:pt x="812164" y="338327"/>
                  </a:lnTo>
                  <a:lnTo>
                    <a:pt x="803402" y="299212"/>
                  </a:lnTo>
                  <a:lnTo>
                    <a:pt x="790829" y="261239"/>
                  </a:lnTo>
                  <a:lnTo>
                    <a:pt x="774572" y="224536"/>
                  </a:lnTo>
                  <a:lnTo>
                    <a:pt x="754760" y="189611"/>
                  </a:lnTo>
                  <a:lnTo>
                    <a:pt x="731647" y="156845"/>
                  </a:lnTo>
                  <a:lnTo>
                    <a:pt x="705357" y="126619"/>
                  </a:lnTo>
                  <a:lnTo>
                    <a:pt x="676275" y="99060"/>
                  </a:lnTo>
                  <a:lnTo>
                    <a:pt x="644651" y="74422"/>
                  </a:lnTo>
                  <a:lnTo>
                    <a:pt x="610743" y="52959"/>
                  </a:lnTo>
                  <a:lnTo>
                    <a:pt x="574801" y="34925"/>
                  </a:lnTo>
                  <a:lnTo>
                    <a:pt x="537464" y="20447"/>
                  </a:lnTo>
                  <a:lnTo>
                    <a:pt x="498728" y="9778"/>
                  </a:lnTo>
                  <a:lnTo>
                    <a:pt x="459104" y="2921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EE8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F5B673D4-7E9D-48EE-8331-3C77D68F0F8A}"/>
                </a:ext>
              </a:extLst>
            </p:cNvPr>
            <p:cNvSpPr txBox="1"/>
            <p:nvPr/>
          </p:nvSpPr>
          <p:spPr>
            <a:xfrm>
              <a:off x="7964197" y="2581468"/>
              <a:ext cx="324695" cy="3815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400" b="1" spc="-5" dirty="0">
                  <a:solidFill>
                    <a:srgbClr val="FFFFFF"/>
                  </a:solidFill>
                  <a:latin typeface="Georgia"/>
                  <a:cs typeface="Georgia"/>
                </a:rPr>
                <a:t>3</a:t>
              </a:r>
              <a:endParaRPr sz="2400" dirty="0">
                <a:latin typeface="Georgia"/>
                <a:cs typeface="Georgia"/>
              </a:endParaRPr>
            </a:p>
          </p:txBody>
        </p:sp>
      </p:grpSp>
      <p:sp>
        <p:nvSpPr>
          <p:cNvPr id="12" name="object 11">
            <a:extLst>
              <a:ext uri="{FF2B5EF4-FFF2-40B4-BE49-F238E27FC236}">
                <a16:creationId xmlns:a16="http://schemas.microsoft.com/office/drawing/2014/main" id="{282D9BAB-366D-4DEC-8B70-4CCB17BB660C}"/>
              </a:ext>
            </a:extLst>
          </p:cNvPr>
          <p:cNvSpPr txBox="1"/>
          <p:nvPr/>
        </p:nvSpPr>
        <p:spPr>
          <a:xfrm>
            <a:off x="8170948" y="2873825"/>
            <a:ext cx="3083744" cy="8617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42424"/>
                </a:solidFill>
                <a:latin typeface="Georgia"/>
                <a:cs typeface="Georgia"/>
              </a:rPr>
              <a:t>Modus</a:t>
            </a:r>
            <a:endParaRPr sz="20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330"/>
              </a:spcBef>
            </a:pPr>
            <a:r>
              <a:rPr lang="en-US" sz="1600" spc="-5" dirty="0" err="1">
                <a:solidFill>
                  <a:srgbClr val="242424"/>
                </a:solidFill>
                <a:latin typeface="Trebuchet MS"/>
                <a:cs typeface="Trebuchet MS"/>
              </a:rPr>
              <a:t>E</a:t>
            </a:r>
            <a:r>
              <a:rPr sz="1600" spc="-5" dirty="0" err="1">
                <a:solidFill>
                  <a:srgbClr val="242424"/>
                </a:solidFill>
                <a:latin typeface="Trebuchet MS"/>
                <a:cs typeface="Trebuchet MS"/>
              </a:rPr>
              <a:t>lemen</a:t>
            </a:r>
            <a:r>
              <a:rPr sz="1600" spc="-65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solidFill>
                  <a:srgbClr val="242424"/>
                </a:solidFill>
                <a:latin typeface="Trebuchet MS"/>
                <a:cs typeface="Trebuchet MS"/>
              </a:rPr>
              <a:t>yang</a:t>
            </a:r>
            <a:r>
              <a:rPr sz="1600" spc="-35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15" dirty="0">
                <a:solidFill>
                  <a:srgbClr val="242424"/>
                </a:solidFill>
                <a:latin typeface="Trebuchet MS"/>
                <a:cs typeface="Trebuchet MS"/>
              </a:rPr>
              <a:t>paling</a:t>
            </a:r>
            <a:r>
              <a:rPr sz="1600" spc="-30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242424"/>
                </a:solidFill>
                <a:latin typeface="Trebuchet MS"/>
                <a:cs typeface="Trebuchet MS"/>
              </a:rPr>
              <a:t>sering</a:t>
            </a:r>
            <a:r>
              <a:rPr sz="1600" spc="-80" dirty="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42424"/>
                </a:solidFill>
                <a:latin typeface="Trebuchet MS"/>
                <a:cs typeface="Trebuchet MS"/>
              </a:rPr>
              <a:t>muncul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13" name="object 12">
            <a:extLst>
              <a:ext uri="{FF2B5EF4-FFF2-40B4-BE49-F238E27FC236}">
                <a16:creationId xmlns:a16="http://schemas.microsoft.com/office/drawing/2014/main" id="{B88DEAA5-58C1-47AC-AFA7-814FD4215F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224" y="3877033"/>
            <a:ext cx="1182151" cy="599514"/>
          </a:xfrm>
          <a:prstGeom prst="rect">
            <a:avLst/>
          </a:prstGeom>
        </p:spPr>
      </p:pic>
      <p:pic>
        <p:nvPicPr>
          <p:cNvPr id="14" name="object 13">
            <a:extLst>
              <a:ext uri="{FF2B5EF4-FFF2-40B4-BE49-F238E27FC236}">
                <a16:creationId xmlns:a16="http://schemas.microsoft.com/office/drawing/2014/main" id="{6A5B9099-A779-4C7D-A900-633BDFF6D13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1957" y="5572823"/>
            <a:ext cx="3907495" cy="211128"/>
          </a:xfrm>
          <a:prstGeom prst="rect">
            <a:avLst/>
          </a:prstGeom>
        </p:spPr>
      </p:pic>
      <p:pic>
        <p:nvPicPr>
          <p:cNvPr id="15" name="object 14">
            <a:extLst>
              <a:ext uri="{FF2B5EF4-FFF2-40B4-BE49-F238E27FC236}">
                <a16:creationId xmlns:a16="http://schemas.microsoft.com/office/drawing/2014/main" id="{AA329700-3E15-44DC-A4FD-8EE63B1DF83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97356" y="3904324"/>
            <a:ext cx="2857336" cy="156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2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D20-BF9E-4929-AD2D-076A920C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12708"/>
            <a:ext cx="8761413" cy="706964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Pemusatan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r>
              <a:rPr lang="en-US" dirty="0"/>
              <a:t> (</a:t>
            </a:r>
            <a:r>
              <a:rPr lang="en-US" dirty="0" err="1"/>
              <a:t>Arithmatic</a:t>
            </a:r>
            <a:r>
              <a:rPr lang="en-US" dirty="0"/>
              <a:t> Mean)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07CBB7-8534-4799-9DB2-EE815AEF06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4954" y="2705100"/>
                <a:ext cx="10041366" cy="3416300"/>
              </a:xfrm>
            </p:spPr>
            <p:txBody>
              <a:bodyPr/>
              <a:lstStyle/>
              <a:p>
                <a:r>
                  <a:rPr lang="en-ID" dirty="0" err="1"/>
                  <a:t>Merupakan</a:t>
                </a:r>
                <a:r>
                  <a:rPr lang="en-ID" dirty="0"/>
                  <a:t> rata-rata </a:t>
                </a:r>
                <a:r>
                  <a:rPr lang="en-ID" dirty="0" err="1"/>
                  <a:t>terbobot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frekuensi</a:t>
                </a:r>
                <a:r>
                  <a:rPr lang="en-ID" dirty="0"/>
                  <a:t> </a:t>
                </a:r>
                <a:r>
                  <a:rPr lang="en-ID" dirty="0" err="1"/>
                  <a:t>tiap</a:t>
                </a:r>
                <a:r>
                  <a:rPr lang="en-ID" dirty="0"/>
                  <a:t> </a:t>
                </a:r>
                <a:r>
                  <a:rPr lang="en-ID" dirty="0" err="1"/>
                  <a:t>kelas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D" dirty="0"/>
                  <a:t>).</a:t>
                </a:r>
              </a:p>
              <a:p>
                <a:r>
                  <a:rPr lang="en-ID" dirty="0" err="1"/>
                  <a:t>Bobot</a:t>
                </a:r>
                <a:r>
                  <a:rPr lang="en-ID" dirty="0"/>
                  <a:t> </a:t>
                </a:r>
                <a:r>
                  <a:rPr lang="en-ID" dirty="0" err="1"/>
                  <a:t>adalah</a:t>
                </a:r>
                <a:r>
                  <a:rPr lang="en-ID" dirty="0"/>
                  <a:t> </a:t>
                </a:r>
                <a:r>
                  <a:rPr lang="en-ID" dirty="0" err="1"/>
                  <a:t>titik</a:t>
                </a:r>
                <a:r>
                  <a:rPr lang="en-ID" dirty="0"/>
                  <a:t> </a:t>
                </a:r>
                <a:r>
                  <a:rPr lang="en-ID" dirty="0" err="1"/>
                  <a:t>tengah</a:t>
                </a:r>
                <a:r>
                  <a:rPr lang="en-ID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D" dirty="0"/>
                  <a:t>) dari masing-masing </a:t>
                </a:r>
                <a:r>
                  <a:rPr lang="en-ID" dirty="0" err="1"/>
                  <a:t>rentang</a:t>
                </a:r>
                <a:r>
                  <a:rPr lang="en-ID" dirty="0"/>
                  <a:t> </a:t>
                </a:r>
                <a:r>
                  <a:rPr lang="en-ID" dirty="0" err="1"/>
                  <a:t>kelas</a:t>
                </a:r>
                <a:r>
                  <a:rPr lang="en-ID" dirty="0"/>
                  <a:t> (range).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07CBB7-8534-4799-9DB2-EE815AEF06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2705100"/>
                <a:ext cx="10041366" cy="3416300"/>
              </a:xfrm>
              <a:blipFill>
                <a:blip r:embed="rId3"/>
                <a:stretch>
                  <a:fillRect l="-121" t="-10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442EE33-C1C2-D51F-A4DC-5DD3CAC3CD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334" t="37778" r="39917" b="41630"/>
          <a:stretch/>
        </p:blipFill>
        <p:spPr>
          <a:xfrm>
            <a:off x="4592320" y="3992880"/>
            <a:ext cx="2529840" cy="14122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2156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D20-BF9E-4929-AD2D-076A920C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12708"/>
            <a:ext cx="8761413" cy="706964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Pemusatan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r>
              <a:rPr lang="en-US" dirty="0"/>
              <a:t> (</a:t>
            </a:r>
            <a:r>
              <a:rPr lang="en-US" dirty="0" err="1"/>
              <a:t>Arithmatic</a:t>
            </a:r>
            <a:r>
              <a:rPr lang="en-US" dirty="0"/>
              <a:t> Mean)</a:t>
            </a:r>
            <a:endParaRPr lang="en-ID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DF0A3A7-414E-410D-8F90-834128FC7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917530"/>
              </p:ext>
            </p:extLst>
          </p:nvPr>
        </p:nvGraphicFramePr>
        <p:xfrm>
          <a:off x="1693465" y="2934334"/>
          <a:ext cx="4798776" cy="31210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361">
                  <a:extLst>
                    <a:ext uri="{9D8B030D-6E8A-4147-A177-3AD203B41FA5}">
                      <a16:colId xmlns:a16="http://schemas.microsoft.com/office/drawing/2014/main" val="3464680132"/>
                    </a:ext>
                  </a:extLst>
                </a:gridCol>
                <a:gridCol w="1076361">
                  <a:extLst>
                    <a:ext uri="{9D8B030D-6E8A-4147-A177-3AD203B41FA5}">
                      <a16:colId xmlns:a16="http://schemas.microsoft.com/office/drawing/2014/main" val="1747995197"/>
                    </a:ext>
                  </a:extLst>
                </a:gridCol>
                <a:gridCol w="1076361">
                  <a:extLst>
                    <a:ext uri="{9D8B030D-6E8A-4147-A177-3AD203B41FA5}">
                      <a16:colId xmlns:a16="http://schemas.microsoft.com/office/drawing/2014/main" val="2158049458"/>
                    </a:ext>
                  </a:extLst>
                </a:gridCol>
                <a:gridCol w="1569693">
                  <a:extLst>
                    <a:ext uri="{9D8B030D-6E8A-4147-A177-3AD203B41FA5}">
                      <a16:colId xmlns:a16="http://schemas.microsoft.com/office/drawing/2014/main" val="2769608205"/>
                    </a:ext>
                  </a:extLst>
                </a:gridCol>
              </a:tblGrid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 dirty="0">
                          <a:effectLst/>
                        </a:rPr>
                        <a:t>Range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>
                          <a:effectLst/>
                        </a:rPr>
                        <a:t>fi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>
                          <a:effectLst/>
                        </a:rPr>
                        <a:t>Mi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 dirty="0">
                          <a:effectLst/>
                        </a:rPr>
                        <a:t>fi × Mi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51623083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23-30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12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26.5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318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93651092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31-38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12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34.5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414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50446444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39-46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8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42.5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340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47418275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47-54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10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50.5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505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1415033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55-62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6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58.5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351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08456332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63-70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1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66.5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66.5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8075733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71-78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1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>
                          <a:effectLst/>
                        </a:rPr>
                        <a:t>74.5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u="none" strike="noStrike" dirty="0">
                          <a:effectLst/>
                        </a:rPr>
                        <a:t>74.5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49427245"/>
                  </a:ext>
                </a:extLst>
              </a:tr>
              <a:tr h="3467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 dirty="0">
                          <a:effectLst/>
                        </a:rPr>
                        <a:t>Total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 dirty="0">
                          <a:effectLst/>
                        </a:rPr>
                        <a:t>50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 dirty="0">
                          <a:effectLst/>
                        </a:rPr>
                        <a:t> 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u="none" strike="noStrike" dirty="0">
                          <a:effectLst/>
                        </a:rPr>
                        <a:t>2069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104121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5F1FC1-99E5-40F5-9A58-FA18BC1E41BC}"/>
                  </a:ext>
                </a:extLst>
              </p:cNvPr>
              <p:cNvSpPr txBox="1"/>
              <p:nvPr/>
            </p:nvSpPr>
            <p:spPr>
              <a:xfrm>
                <a:off x="6979920" y="3239134"/>
                <a:ext cx="3169920" cy="584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5F1FC1-99E5-40F5-9A58-FA18BC1E4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920" y="3239134"/>
                <a:ext cx="3169920" cy="5840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F05CF2-A9CC-4A8F-889D-111828737BF4}"/>
                  </a:ext>
                </a:extLst>
              </p:cNvPr>
              <p:cNvSpPr txBox="1"/>
              <p:nvPr/>
            </p:nvSpPr>
            <p:spPr>
              <a:xfrm>
                <a:off x="7853680" y="3999893"/>
                <a:ext cx="2044534" cy="7359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2069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𝟒𝟏</m:t>
                      </m:r>
                      <m:r>
                        <a:rPr lang="en-US" sz="18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𝟑𝟖</m:t>
                      </m:r>
                    </m:oMath>
                  </m:oMathPara>
                </a14:m>
                <a:endParaRPr lang="en-US" sz="1800" b="1" dirty="0">
                  <a:ea typeface="Cambria Math" panose="02040503050406030204" pitchFamily="18" charset="0"/>
                </a:endParaRPr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F05CF2-A9CC-4A8F-889D-111828737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680" y="3999893"/>
                <a:ext cx="2044534" cy="735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101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D20-BF9E-4929-AD2D-076A920C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12708"/>
            <a:ext cx="8761413" cy="706964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Pemusatan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r>
              <a:rPr lang="en-US" dirty="0"/>
              <a:t> (Median)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07CBB7-8534-4799-9DB2-EE815AEF06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4102" y="2902585"/>
                <a:ext cx="4519658" cy="3416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D" b="1" dirty="0"/>
                  <a:t>Di mana:</a:t>
                </a:r>
              </a:p>
              <a:p>
                <a:pPr marL="0" indent="0">
                  <a:buNone/>
                </a:pPr>
                <a:r>
                  <a:rPr lang="en-ID" dirty="0"/>
                  <a:t>L      = </a:t>
                </a:r>
                <a:r>
                  <a:rPr lang="en-ID" dirty="0" err="1"/>
                  <a:t>batas</a:t>
                </a:r>
                <a:r>
                  <a:rPr lang="en-ID" dirty="0"/>
                  <a:t> </a:t>
                </a:r>
                <a:r>
                  <a:rPr lang="en-ID" dirty="0" err="1"/>
                  <a:t>bawah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kelas</a:t>
                </a:r>
                <a:r>
                  <a:rPr lang="en-ID" dirty="0"/>
                  <a:t> median</a:t>
                </a:r>
              </a:p>
              <a:p>
                <a:pPr marL="0" indent="0">
                  <a:buNone/>
                </a:pPr>
                <a:r>
                  <a:rPr lang="en-ID" dirty="0"/>
                  <a:t>n     = </a:t>
                </a:r>
                <a:r>
                  <a:rPr lang="en-ID" dirty="0" err="1"/>
                  <a:t>jumlah</a:t>
                </a:r>
                <a:r>
                  <a:rPr lang="en-ID" dirty="0"/>
                  <a:t> data / </a:t>
                </a:r>
                <a:r>
                  <a:rPr lang="en-ID" dirty="0" err="1"/>
                  <a:t>frekuensi</a:t>
                </a:r>
                <a:r>
                  <a:rPr lang="en-ID" dirty="0"/>
                  <a:t> total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D" dirty="0"/>
                  <a:t>   = </a:t>
                </a:r>
                <a:r>
                  <a:rPr lang="en-ID" dirty="0" err="1"/>
                  <a:t>frekuensi</a:t>
                </a:r>
                <a:r>
                  <a:rPr lang="en-ID" dirty="0"/>
                  <a:t> </a:t>
                </a:r>
                <a:r>
                  <a:rPr lang="en-ID" dirty="0" err="1"/>
                  <a:t>kumulatif</a:t>
                </a:r>
                <a:r>
                  <a:rPr lang="en-ID" dirty="0"/>
                  <a:t> pada </a:t>
                </a:r>
                <a:r>
                  <a:rPr lang="en-ID" dirty="0" err="1"/>
                  <a:t>kelas</a:t>
                </a:r>
                <a:r>
                  <a:rPr lang="en-ID" dirty="0"/>
                  <a:t> </a:t>
                </a:r>
                <a:r>
                  <a:rPr lang="en-ID" dirty="0" err="1"/>
                  <a:t>sebelum</a:t>
                </a:r>
                <a:r>
                  <a:rPr lang="en-ID" dirty="0"/>
                  <a:t> </a:t>
                </a:r>
                <a:r>
                  <a:rPr lang="en-ID" dirty="0" err="1"/>
                  <a:t>kelas</a:t>
                </a:r>
                <a:r>
                  <a:rPr lang="en-ID" dirty="0"/>
                  <a:t> median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𝑀𝑒</m:t>
                        </m:r>
                      </m:sub>
                    </m:sSub>
                  </m:oMath>
                </a14:m>
                <a:r>
                  <a:rPr lang="en-ID" dirty="0"/>
                  <a:t>  = </a:t>
                </a:r>
                <a:r>
                  <a:rPr lang="en-ID" dirty="0" err="1"/>
                  <a:t>frekuensi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kelas</a:t>
                </a:r>
                <a:r>
                  <a:rPr lang="en-ID" dirty="0"/>
                  <a:t> median</a:t>
                </a:r>
              </a:p>
              <a:p>
                <a:pPr marL="0" indent="0">
                  <a:buNone/>
                </a:pPr>
                <a:r>
                  <a:rPr lang="en-ID" dirty="0"/>
                  <a:t>P    = </a:t>
                </a:r>
                <a:r>
                  <a:rPr lang="en-ID" dirty="0" err="1"/>
                  <a:t>panjang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kelas</a:t>
                </a:r>
                <a:r>
                  <a:rPr lang="en-ID" dirty="0"/>
                  <a:t> median</a:t>
                </a:r>
              </a:p>
              <a:p>
                <a:pPr marL="0" indent="0">
                  <a:buNone/>
                </a:pPr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07CBB7-8534-4799-9DB2-EE815AEF06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4102" y="2902585"/>
                <a:ext cx="4519658" cy="3416300"/>
              </a:xfrm>
              <a:blipFill>
                <a:blip r:embed="rId2"/>
                <a:stretch>
                  <a:fillRect l="-1215" t="-89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8D1FB8D-7C2F-54CF-213C-47CA2DBCF6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167" t="21037" r="37333" b="60000"/>
          <a:stretch/>
        </p:blipFill>
        <p:spPr>
          <a:xfrm>
            <a:off x="1767840" y="3310255"/>
            <a:ext cx="3230880" cy="13004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0063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0A13-23EC-42A9-BBB6-21A4AAF1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842432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Pemusatan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r>
              <a:rPr lang="en-US" dirty="0"/>
              <a:t> (Median)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3A12F0-5F74-47EC-BBF8-1EC1B1DBDA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0" y="2857500"/>
                <a:ext cx="4033520" cy="3416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D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=39+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×8</m:t>
                      </m:r>
                    </m:oMath>
                  </m:oMathPara>
                </a14:m>
                <a:endParaRPr lang="en-ID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</m:t>
                    </m:r>
                  </m:oMath>
                </a14:m>
                <a:endParaRPr lang="en-ID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0" dirty="0"/>
                  <a:t>			</a:t>
                </a:r>
                <a:r>
                  <a:rPr lang="en-ID" dirty="0"/>
                  <a:t>= </a:t>
                </a:r>
                <a:r>
                  <a:rPr lang="en-ID" b="1" dirty="0">
                    <a:solidFill>
                      <a:schemeClr val="accent6"/>
                    </a:solidFill>
                  </a:rPr>
                  <a:t>40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3A12F0-5F74-47EC-BBF8-1EC1B1DBDA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0" y="2857500"/>
                <a:ext cx="4033520" cy="34163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74D3F7-9692-4CC1-85BF-1EE0FA870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241406"/>
              </p:ext>
            </p:extLst>
          </p:nvPr>
        </p:nvGraphicFramePr>
        <p:xfrm>
          <a:off x="1666240" y="3017680"/>
          <a:ext cx="3789680" cy="2928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1114">
                  <a:extLst>
                    <a:ext uri="{9D8B030D-6E8A-4147-A177-3AD203B41FA5}">
                      <a16:colId xmlns:a16="http://schemas.microsoft.com/office/drawing/2014/main" val="4249664929"/>
                    </a:ext>
                  </a:extLst>
                </a:gridCol>
                <a:gridCol w="1091349">
                  <a:extLst>
                    <a:ext uri="{9D8B030D-6E8A-4147-A177-3AD203B41FA5}">
                      <a16:colId xmlns:a16="http://schemas.microsoft.com/office/drawing/2014/main" val="4071636518"/>
                    </a:ext>
                  </a:extLst>
                </a:gridCol>
                <a:gridCol w="1577217">
                  <a:extLst>
                    <a:ext uri="{9D8B030D-6E8A-4147-A177-3AD203B41FA5}">
                      <a16:colId xmlns:a16="http://schemas.microsoft.com/office/drawing/2014/main" val="3703004793"/>
                    </a:ext>
                  </a:extLst>
                </a:gridCol>
              </a:tblGrid>
              <a:tr h="54313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  <a:latin typeface="+mn-lt"/>
                        </a:rPr>
                        <a:t>Range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  <a:latin typeface="+mn-lt"/>
                        </a:rPr>
                        <a:t>Fi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302725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23-30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12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009565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31-38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24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452988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39-46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32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50249"/>
                  </a:ext>
                </a:extLst>
              </a:tr>
              <a:tr h="33608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47-54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113420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55-62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683136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63-70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49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813294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71-78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50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86149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Total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50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 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36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85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D20-BF9E-4929-AD2D-076A920C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12708"/>
            <a:ext cx="8761413" cy="706964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Pemusatan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r>
              <a:rPr lang="en-US" dirty="0"/>
              <a:t> (Modus)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7CBB7-8534-4799-9DB2-EE815AEF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82" y="2957200"/>
            <a:ext cx="4519658" cy="3463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Modus data </a:t>
            </a:r>
            <a:r>
              <a:rPr lang="en-US" dirty="0" err="1"/>
              <a:t>berkelompok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tengah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terbesar</a:t>
            </a:r>
            <a:r>
              <a:rPr lang="en-US" dirty="0"/>
              <a:t> (</a:t>
            </a:r>
            <a:r>
              <a:rPr lang="en-US" dirty="0" err="1"/>
              <a:t>kelas</a:t>
            </a:r>
            <a:r>
              <a:rPr lang="en-US" dirty="0"/>
              <a:t> modus).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Pada </a:t>
            </a:r>
            <a:r>
              <a:rPr lang="en-US" dirty="0" err="1"/>
              <a:t>contoh</a:t>
            </a:r>
            <a:r>
              <a:rPr lang="en-US" dirty="0"/>
              <a:t> di </a:t>
            </a:r>
            <a:r>
              <a:rPr lang="en-US" dirty="0" err="1"/>
              <a:t>samping</a:t>
            </a:r>
            <a:r>
              <a:rPr lang="en-US" dirty="0"/>
              <a:t>,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terbesar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23-30 dan 31-38. Oleh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modus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/>
              <a:t>26,5</a:t>
            </a:r>
            <a:r>
              <a:rPr lang="en-US" dirty="0"/>
              <a:t> dan </a:t>
            </a:r>
            <a:r>
              <a:rPr lang="en-US" b="1" dirty="0"/>
              <a:t>34,5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D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D013EB-643F-4445-9E61-41A7647B8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221646"/>
              </p:ext>
            </p:extLst>
          </p:nvPr>
        </p:nvGraphicFramePr>
        <p:xfrm>
          <a:off x="1593579" y="2967040"/>
          <a:ext cx="3738878" cy="2864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6085">
                  <a:extLst>
                    <a:ext uri="{9D8B030D-6E8A-4147-A177-3AD203B41FA5}">
                      <a16:colId xmlns:a16="http://schemas.microsoft.com/office/drawing/2014/main" val="4249664929"/>
                    </a:ext>
                  </a:extLst>
                </a:gridCol>
                <a:gridCol w="1076719">
                  <a:extLst>
                    <a:ext uri="{9D8B030D-6E8A-4147-A177-3AD203B41FA5}">
                      <a16:colId xmlns:a16="http://schemas.microsoft.com/office/drawing/2014/main" val="4071636518"/>
                    </a:ext>
                  </a:extLst>
                </a:gridCol>
                <a:gridCol w="1556074">
                  <a:extLst>
                    <a:ext uri="{9D8B030D-6E8A-4147-A177-3AD203B41FA5}">
                      <a16:colId xmlns:a16="http://schemas.microsoft.com/office/drawing/2014/main" val="3703004793"/>
                    </a:ext>
                  </a:extLst>
                </a:gridCol>
              </a:tblGrid>
              <a:tr h="53931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  <a:latin typeface="+mn-lt"/>
                        </a:rPr>
                        <a:t>Range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  <a:latin typeface="+mn-lt"/>
                        </a:rPr>
                        <a:t>Fi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302725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23-30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12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009565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31-38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24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452988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39-46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32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50249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47-54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113420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55-62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683136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63-70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49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813294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71-78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50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86149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Total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50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 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36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761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D20-BF9E-4929-AD2D-076A920C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12708"/>
            <a:ext cx="8761413" cy="706964"/>
          </a:xfrm>
        </p:spPr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Pemusatan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r>
              <a:rPr lang="en-US" dirty="0"/>
              <a:t> (Modus)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7CBB7-8534-4799-9DB2-EE815AEF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982" y="2957200"/>
            <a:ext cx="4519658" cy="3463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Modus data </a:t>
            </a:r>
            <a:r>
              <a:rPr lang="en-US" dirty="0" err="1"/>
              <a:t>berkelompok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tengah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terbesar</a:t>
            </a:r>
            <a:r>
              <a:rPr lang="en-US" dirty="0"/>
              <a:t> (</a:t>
            </a:r>
            <a:r>
              <a:rPr lang="en-US" dirty="0" err="1"/>
              <a:t>kelas</a:t>
            </a:r>
            <a:r>
              <a:rPr lang="en-US" dirty="0"/>
              <a:t> modus).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Pada </a:t>
            </a:r>
            <a:r>
              <a:rPr lang="en-US" dirty="0" err="1"/>
              <a:t>contoh</a:t>
            </a:r>
            <a:r>
              <a:rPr lang="en-US" dirty="0"/>
              <a:t> di </a:t>
            </a:r>
            <a:r>
              <a:rPr lang="en-US" dirty="0" err="1"/>
              <a:t>samping</a:t>
            </a:r>
            <a:r>
              <a:rPr lang="en-US" dirty="0"/>
              <a:t>,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terbesar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23-30 dan 31-38. Oleh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modus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/>
              <a:t>26,5</a:t>
            </a:r>
            <a:r>
              <a:rPr lang="en-US" dirty="0"/>
              <a:t> dan </a:t>
            </a:r>
            <a:r>
              <a:rPr lang="en-US" b="1" dirty="0"/>
              <a:t>34,5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D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D013EB-643F-4445-9E61-41A7647B8BE0}"/>
              </a:ext>
            </a:extLst>
          </p:cNvPr>
          <p:cNvGraphicFramePr>
            <a:graphicFrameLocks noGrp="1"/>
          </p:cNvGraphicFramePr>
          <p:nvPr/>
        </p:nvGraphicFramePr>
        <p:xfrm>
          <a:off x="1593579" y="2967040"/>
          <a:ext cx="3738878" cy="2864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6085">
                  <a:extLst>
                    <a:ext uri="{9D8B030D-6E8A-4147-A177-3AD203B41FA5}">
                      <a16:colId xmlns:a16="http://schemas.microsoft.com/office/drawing/2014/main" val="4249664929"/>
                    </a:ext>
                  </a:extLst>
                </a:gridCol>
                <a:gridCol w="1076719">
                  <a:extLst>
                    <a:ext uri="{9D8B030D-6E8A-4147-A177-3AD203B41FA5}">
                      <a16:colId xmlns:a16="http://schemas.microsoft.com/office/drawing/2014/main" val="4071636518"/>
                    </a:ext>
                  </a:extLst>
                </a:gridCol>
                <a:gridCol w="1556074">
                  <a:extLst>
                    <a:ext uri="{9D8B030D-6E8A-4147-A177-3AD203B41FA5}">
                      <a16:colId xmlns:a16="http://schemas.microsoft.com/office/drawing/2014/main" val="3703004793"/>
                    </a:ext>
                  </a:extLst>
                </a:gridCol>
              </a:tblGrid>
              <a:tr h="53931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effectLst/>
                          <a:latin typeface="+mn-lt"/>
                        </a:rPr>
                        <a:t>Range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  <a:latin typeface="+mn-lt"/>
                        </a:rPr>
                        <a:t>Fi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302725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23-30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12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009565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31-38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24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452988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39-46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32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50249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47-54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113420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55-62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683136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63-70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49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813294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71-78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effectLst/>
                        </a:rPr>
                        <a:t>50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86149"/>
                  </a:ext>
                </a:extLst>
              </a:tr>
              <a:tr h="29070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Total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50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effectLst/>
                        </a:rPr>
                        <a:t> 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36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519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26744-335B-4E00-918A-CD693A94A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Kuartil</a:t>
            </a:r>
            <a:r>
              <a:rPr lang="en-US" dirty="0"/>
              <a:t> (Q)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E5930-0E60-49A6-9A66-20322F890239}"/>
              </a:ext>
            </a:extLst>
          </p:cNvPr>
          <p:cNvSpPr txBox="1"/>
          <p:nvPr/>
        </p:nvSpPr>
        <p:spPr>
          <a:xfrm>
            <a:off x="1341120" y="2749830"/>
            <a:ext cx="10251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+mn-lt"/>
              </a:rPr>
              <a:t>Kuartil</a:t>
            </a:r>
            <a:r>
              <a:rPr lang="en-US" sz="1600" dirty="0">
                <a:latin typeface="+mn-lt"/>
              </a:rPr>
              <a:t> 1, 2, dan 3 </a:t>
            </a:r>
            <a:r>
              <a:rPr lang="en-US" sz="1600" dirty="0" err="1">
                <a:latin typeface="+mn-lt"/>
              </a:rPr>
              <a:t>dari</a:t>
            </a:r>
            <a:r>
              <a:rPr lang="en-US" sz="1600" dirty="0">
                <a:latin typeface="+mn-lt"/>
              </a:rPr>
              <a:t> data </a:t>
            </a:r>
            <a:r>
              <a:rPr lang="en-US" sz="1600" dirty="0" err="1">
                <a:latin typeface="+mn-lt"/>
              </a:rPr>
              <a:t>berkelompok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dapat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dihitung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dengan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persamaan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berikut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ini</a:t>
            </a:r>
            <a:r>
              <a:rPr lang="en-US" sz="1600" dirty="0">
                <a:latin typeface="+mn-lt"/>
              </a:rPr>
              <a:t>:</a:t>
            </a:r>
            <a:endParaRPr lang="en-ID" sz="16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BECC1-E55A-4BB5-9D84-4B5B3BD5B2E5}"/>
              </a:ext>
            </a:extLst>
          </p:cNvPr>
          <p:cNvSpPr txBox="1"/>
          <p:nvPr/>
        </p:nvSpPr>
        <p:spPr>
          <a:xfrm>
            <a:off x="5944424" y="3576008"/>
            <a:ext cx="54184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+mn-lt"/>
              </a:rPr>
              <a:t>Dimana:</a:t>
            </a:r>
          </a:p>
          <a:p>
            <a:endParaRPr lang="en-US" sz="1800" dirty="0">
              <a:latin typeface="+mn-lt"/>
            </a:endParaRPr>
          </a:p>
          <a:p>
            <a:r>
              <a:rPr lang="en-US" sz="1800" dirty="0" err="1">
                <a:latin typeface="+mn-lt"/>
              </a:rPr>
              <a:t>Q</a:t>
            </a:r>
            <a:r>
              <a:rPr lang="en-US" dirty="0" err="1">
                <a:latin typeface="+mn-lt"/>
              </a:rPr>
              <a:t>k</a:t>
            </a:r>
            <a:r>
              <a:rPr lang="en-US" sz="1800" dirty="0">
                <a:latin typeface="+mn-lt"/>
              </a:rPr>
              <a:t>  = </a:t>
            </a:r>
            <a:r>
              <a:rPr lang="en-US" sz="1800" dirty="0" err="1">
                <a:latin typeface="+mn-lt"/>
              </a:rPr>
              <a:t>Kuartil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</a:t>
            </a:r>
            <a:r>
              <a:rPr lang="en-US" sz="1800" dirty="0">
                <a:latin typeface="+mn-lt"/>
              </a:rPr>
              <a:t>-k</a:t>
            </a:r>
          </a:p>
          <a:p>
            <a:r>
              <a:rPr lang="en-US" sz="1800" dirty="0">
                <a:latin typeface="+mn-lt"/>
              </a:rPr>
              <a:t>L     = Batas </a:t>
            </a:r>
            <a:r>
              <a:rPr lang="en-US" sz="1800" dirty="0" err="1">
                <a:latin typeface="+mn-lt"/>
              </a:rPr>
              <a:t>bawah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kelas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</a:t>
            </a:r>
            <a:r>
              <a:rPr lang="en-US" sz="1800" dirty="0">
                <a:latin typeface="+mn-lt"/>
              </a:rPr>
              <a:t>-I (</a:t>
            </a:r>
            <a:r>
              <a:rPr lang="en-US" sz="1800" dirty="0" err="1">
                <a:latin typeface="+mn-lt"/>
              </a:rPr>
              <a:t>kelas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kuartil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</a:t>
            </a:r>
            <a:r>
              <a:rPr lang="en-US" sz="1800" dirty="0">
                <a:latin typeface="+mn-lt"/>
              </a:rPr>
              <a:t>-k)</a:t>
            </a:r>
          </a:p>
          <a:p>
            <a:r>
              <a:rPr lang="en-US" sz="1800" dirty="0">
                <a:latin typeface="+mn-lt"/>
              </a:rPr>
              <a:t>n    = </a:t>
            </a:r>
            <a:r>
              <a:rPr lang="en-US" sz="1800" dirty="0" err="1">
                <a:latin typeface="+mn-lt"/>
              </a:rPr>
              <a:t>banyaknya</a:t>
            </a:r>
            <a:r>
              <a:rPr lang="en-US" sz="1800" dirty="0">
                <a:latin typeface="+mn-lt"/>
              </a:rPr>
              <a:t> data</a:t>
            </a:r>
          </a:p>
          <a:p>
            <a:r>
              <a:rPr lang="en-US" sz="1800" dirty="0" err="1">
                <a:latin typeface="+mn-lt"/>
              </a:rPr>
              <a:t>cf</a:t>
            </a:r>
            <a:r>
              <a:rPr lang="en-US" dirty="0" err="1">
                <a:latin typeface="+mn-lt"/>
              </a:rPr>
              <a:t>b</a:t>
            </a:r>
            <a:r>
              <a:rPr lang="en-US" sz="1800" dirty="0">
                <a:latin typeface="+mn-lt"/>
              </a:rPr>
              <a:t> = </a:t>
            </a:r>
            <a:r>
              <a:rPr lang="en-US" sz="1800" dirty="0" err="1">
                <a:latin typeface="+mn-lt"/>
              </a:rPr>
              <a:t>frekuensi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kumulatif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sebelum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kelas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ke-i</a:t>
            </a:r>
            <a:endParaRPr lang="en-US" sz="1800" dirty="0">
              <a:latin typeface="+mn-lt"/>
            </a:endParaRPr>
          </a:p>
          <a:p>
            <a:r>
              <a:rPr lang="en-US" sz="1800" dirty="0" err="1">
                <a:latin typeface="+mn-lt"/>
              </a:rPr>
              <a:t>f</a:t>
            </a:r>
            <a:r>
              <a:rPr lang="en-US" dirty="0" err="1">
                <a:latin typeface="+mn-lt"/>
              </a:rPr>
              <a:t>Q</a:t>
            </a:r>
            <a:r>
              <a:rPr lang="en-US" sz="1800" dirty="0">
                <a:latin typeface="+mn-lt"/>
              </a:rPr>
              <a:t>  = </a:t>
            </a:r>
            <a:r>
              <a:rPr lang="en-US" sz="1800" dirty="0" err="1">
                <a:latin typeface="+mn-lt"/>
              </a:rPr>
              <a:t>frekuensi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dari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kelas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kelas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ke-i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P     = interval / </a:t>
            </a:r>
            <a:r>
              <a:rPr lang="en-US" sz="1800" dirty="0" err="1">
                <a:latin typeface="+mn-lt"/>
              </a:rPr>
              <a:t>panjang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kelas</a:t>
            </a:r>
            <a:endParaRPr lang="en-ID" sz="1800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311DE2-08C9-4DCA-DE13-F15BEF43A9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67" t="48445" r="35916" b="30222"/>
          <a:stretch/>
        </p:blipFill>
        <p:spPr>
          <a:xfrm>
            <a:off x="1341120" y="3769617"/>
            <a:ext cx="3586480" cy="14630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2140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01B7-7108-488B-B878-718180BC1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12708"/>
            <a:ext cx="8761413" cy="706964"/>
          </a:xfrm>
        </p:spPr>
        <p:txBody>
          <a:bodyPr/>
          <a:lstStyle/>
          <a:p>
            <a:r>
              <a:rPr lang="en-US" dirty="0"/>
              <a:t>Variance dan Standard Deviation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Individu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E90D-831E-433D-9B3A-8FAC5889E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Variance dan Standard Deviation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individu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: </a:t>
            </a:r>
          </a:p>
          <a:p>
            <a:endParaRPr lang="en-ID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17C3958-2A73-4992-B81A-DCC0BB588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063246"/>
              </p:ext>
            </p:extLst>
          </p:nvPr>
        </p:nvGraphicFramePr>
        <p:xfrm>
          <a:off x="3462245" y="3301999"/>
          <a:ext cx="232886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965160" progId="Equation.DSMT4">
                  <p:embed/>
                </p:oleObj>
              </mc:Choice>
              <mc:Fallback>
                <p:oleObj name="Equation" r:id="rId2" imgW="2323800" imgH="9651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86B0892-364E-4F67-80B8-1BBF496261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245" y="3301999"/>
                        <a:ext cx="2328863" cy="9683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6D87345-E09F-4643-AEDF-1E8D54E88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178758"/>
              </p:ext>
            </p:extLst>
          </p:nvPr>
        </p:nvGraphicFramePr>
        <p:xfrm>
          <a:off x="6228174" y="3260723"/>
          <a:ext cx="24590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1054080" progId="Equation.DSMT4">
                  <p:embed/>
                </p:oleObj>
              </mc:Choice>
              <mc:Fallback>
                <p:oleObj name="Equation" r:id="rId4" imgW="2463480" imgH="10540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176A1C0-FBF2-49F2-A0F4-1387E7388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74" y="3260723"/>
                        <a:ext cx="2459037" cy="10509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93D7E56-35C4-4F0E-AA7B-7F1C997FA7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05183"/>
              </p:ext>
            </p:extLst>
          </p:nvPr>
        </p:nvGraphicFramePr>
        <p:xfrm>
          <a:off x="3462244" y="4762871"/>
          <a:ext cx="2293938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98600" imgH="977760" progId="Equation.DSMT4">
                  <p:embed/>
                </p:oleObj>
              </mc:Choice>
              <mc:Fallback>
                <p:oleObj name="Equation" r:id="rId6" imgW="2298600" imgH="9777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65A8639-BD51-4680-BEFA-6C9FE6D8FF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244" y="4762871"/>
                        <a:ext cx="2293938" cy="9826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9A7DA74-3971-452C-A342-8800DE331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622561"/>
              </p:ext>
            </p:extLst>
          </p:nvPr>
        </p:nvGraphicFramePr>
        <p:xfrm>
          <a:off x="6238651" y="4744350"/>
          <a:ext cx="24384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280" imgH="1066680" progId="Equation.DSMT4">
                  <p:embed/>
                </p:oleObj>
              </mc:Choice>
              <mc:Fallback>
                <p:oleObj name="Equation" r:id="rId8" imgW="2438280" imgH="10666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7E9C405-506C-43C7-BD80-443B36C4C8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651" y="4744350"/>
                        <a:ext cx="2438400" cy="10636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00F68E-1622-F59C-5AD4-36C38817D0D8}"/>
                  </a:ext>
                </a:extLst>
              </p:cNvPr>
              <p:cNvSpPr txBox="1"/>
              <p:nvPr/>
            </p:nvSpPr>
            <p:spPr>
              <a:xfrm>
                <a:off x="8950960" y="3582549"/>
                <a:ext cx="274344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n-lt"/>
                  </a:rPr>
                  <a:t>Keterangan: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: variance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latin typeface="+mn-lt"/>
                  </a:rPr>
                  <a:t> : standard deviation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: data </a:t>
                </a:r>
                <a:r>
                  <a:rPr lang="en-US" dirty="0" err="1">
                    <a:latin typeface="+mn-lt"/>
                  </a:rPr>
                  <a:t>ke-i</a:t>
                </a:r>
                <a:endParaRPr lang="en-US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+mn-lt"/>
                  </a:rPr>
                  <a:t> : rata-rata data </a:t>
                </a:r>
                <a:r>
                  <a:rPr lang="en-US" dirty="0" err="1">
                    <a:latin typeface="+mn-lt"/>
                  </a:rPr>
                  <a:t>individu</a:t>
                </a:r>
                <a:endParaRPr lang="en-US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: </a:t>
                </a:r>
                <a:r>
                  <a:rPr lang="en-US" dirty="0" err="1">
                    <a:latin typeface="+mn-lt"/>
                  </a:rPr>
                  <a:t>jumlah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populasi</a:t>
                </a:r>
                <a:endParaRPr lang="en-US" dirty="0">
                  <a:latin typeface="+mn-lt"/>
                </a:endParaRPr>
              </a:p>
              <a:p>
                <a:endParaRPr lang="en-ID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00F68E-1622-F59C-5AD4-36C38817D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960" y="3582549"/>
                <a:ext cx="2743442" cy="1600438"/>
              </a:xfrm>
              <a:prstGeom prst="rect">
                <a:avLst/>
              </a:prstGeom>
              <a:blipFill>
                <a:blip r:embed="rId10"/>
                <a:stretch>
                  <a:fillRect l="-667" t="-7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729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01B7-7108-488B-B878-718180BC1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12708"/>
            <a:ext cx="8761413" cy="706964"/>
          </a:xfrm>
        </p:spPr>
        <p:txBody>
          <a:bodyPr/>
          <a:lstStyle/>
          <a:p>
            <a:r>
              <a:rPr lang="en-US" dirty="0"/>
              <a:t>Variance dan Standard Deviation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E90D-831E-433D-9B3A-8FAC5889E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Variance dan Standard Deviation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berkelompok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: </a:t>
            </a:r>
          </a:p>
          <a:p>
            <a:endParaRPr lang="en-ID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BB9BF5D-EFED-4922-922B-51A427884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147728"/>
              </p:ext>
            </p:extLst>
          </p:nvPr>
        </p:nvGraphicFramePr>
        <p:xfrm>
          <a:off x="3076164" y="3236912"/>
          <a:ext cx="266223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965160" progId="Equation.DSMT4">
                  <p:embed/>
                </p:oleObj>
              </mc:Choice>
              <mc:Fallback>
                <p:oleObj name="Equation" r:id="rId2" imgW="2666880" imgH="9651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66CC44A-F7E8-4E1A-8DEA-D122883375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164" y="3236912"/>
                        <a:ext cx="2662237" cy="9683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5F9A16D-D6F5-46AC-9175-FB4976D331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19753"/>
              </p:ext>
            </p:extLst>
          </p:nvPr>
        </p:nvGraphicFramePr>
        <p:xfrm>
          <a:off x="5965031" y="3505226"/>
          <a:ext cx="1584206" cy="54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431640" progId="Equation.DSMT4">
                  <p:embed/>
                </p:oleObj>
              </mc:Choice>
              <mc:Fallback>
                <p:oleObj name="Equation" r:id="rId4" imgW="1244520" imgH="4316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496042E-8731-433B-AFBE-84B539657E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031" y="3505226"/>
                        <a:ext cx="1584206" cy="54356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C67CB84-38B9-4433-A00C-10D26B6B2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233653"/>
              </p:ext>
            </p:extLst>
          </p:nvPr>
        </p:nvGraphicFramePr>
        <p:xfrm>
          <a:off x="3086482" y="4838699"/>
          <a:ext cx="26416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41320" imgH="977760" progId="Equation.DSMT4">
                  <p:embed/>
                </p:oleObj>
              </mc:Choice>
              <mc:Fallback>
                <p:oleObj name="Equation" r:id="rId6" imgW="2641320" imgH="97776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6DF276A-277D-4181-98BE-5D5B5C9D59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482" y="4838699"/>
                        <a:ext cx="2641600" cy="9826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8C45372-568F-4568-A6A2-C84D0FD287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695564"/>
              </p:ext>
            </p:extLst>
          </p:nvPr>
        </p:nvGraphicFramePr>
        <p:xfrm>
          <a:off x="5965031" y="5131648"/>
          <a:ext cx="1351830" cy="54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431640" progId="Equation.DSMT4">
                  <p:embed/>
                </p:oleObj>
              </mc:Choice>
              <mc:Fallback>
                <p:oleObj name="Equation" r:id="rId8" imgW="1066680" imgH="4316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8578428-1214-48FC-A71C-6320D5E8C0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031" y="5131648"/>
                        <a:ext cx="1351830" cy="54356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2187F6-EEE7-5B9D-CE36-1C902942EE51}"/>
                  </a:ext>
                </a:extLst>
              </p:cNvPr>
              <p:cNvSpPr txBox="1"/>
              <p:nvPr/>
            </p:nvSpPr>
            <p:spPr>
              <a:xfrm>
                <a:off x="8317734" y="3372103"/>
                <a:ext cx="287856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+mn-lt"/>
                  </a:rPr>
                  <a:t>Keterangan: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: variance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latin typeface="+mn-lt"/>
                  </a:rPr>
                  <a:t> : standard deviation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: </a:t>
                </a:r>
                <a:r>
                  <a:rPr lang="en-US" dirty="0" err="1">
                    <a:latin typeface="+mn-lt"/>
                  </a:rPr>
                  <a:t>frekuensi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kelas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ke</a:t>
                </a:r>
                <a:r>
                  <a:rPr lang="en-US" dirty="0">
                    <a:latin typeface="+mn-lt"/>
                  </a:rPr>
                  <a:t>-I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: </a:t>
                </a:r>
                <a:r>
                  <a:rPr lang="en-US" dirty="0" err="1">
                    <a:latin typeface="+mn-lt"/>
                  </a:rPr>
                  <a:t>titik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tengah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rentang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kelas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ke-i</a:t>
                </a:r>
                <a:endParaRPr lang="en-US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+mn-lt"/>
                  </a:rPr>
                  <a:t> : rata-rata data </a:t>
                </a:r>
                <a:r>
                  <a:rPr lang="en-US" dirty="0" err="1">
                    <a:latin typeface="+mn-lt"/>
                  </a:rPr>
                  <a:t>berkelompok</a:t>
                </a:r>
                <a:endParaRPr lang="en-US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: </a:t>
                </a:r>
                <a:r>
                  <a:rPr lang="en-US" dirty="0" err="1">
                    <a:latin typeface="+mn-lt"/>
                  </a:rPr>
                  <a:t>jumlah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 err="1">
                    <a:latin typeface="+mn-lt"/>
                  </a:rPr>
                  <a:t>populasi</a:t>
                </a:r>
                <a:endParaRPr lang="en-US" dirty="0">
                  <a:latin typeface="+mn-lt"/>
                </a:endParaRPr>
              </a:p>
              <a:p>
                <a:endParaRPr lang="en-ID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2187F6-EEE7-5B9D-CE36-1C902942E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734" y="3372103"/>
                <a:ext cx="2878567" cy="2031325"/>
              </a:xfrm>
              <a:prstGeom prst="rect">
                <a:avLst/>
              </a:prstGeom>
              <a:blipFill>
                <a:blip r:embed="rId10"/>
                <a:stretch>
                  <a:fillRect l="-634" t="-601" r="-42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87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83DC-EFA5-36A4-6610-CFBAFE08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TUGAS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7C33-2333-D2B8-4EB2-E3C0F719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Departemen</a:t>
            </a:r>
            <a:r>
              <a:rPr lang="en-US" dirty="0"/>
              <a:t> Quality Control (QC)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air </a:t>
            </a:r>
            <a:r>
              <a:rPr lang="en-US" dirty="0" err="1"/>
              <a:t>minum</a:t>
            </a:r>
            <a:r>
              <a:rPr lang="en-US" dirty="0"/>
              <a:t> di </a:t>
            </a:r>
            <a:r>
              <a:rPr lang="en-US" dirty="0" err="1"/>
              <a:t>Pandaan</a:t>
            </a:r>
            <a:r>
              <a:rPr lang="en-US" dirty="0"/>
              <a:t>, </a:t>
            </a:r>
            <a:r>
              <a:rPr lang="en-US" dirty="0" err="1"/>
              <a:t>Jawa</a:t>
            </a:r>
            <a:r>
              <a:rPr lang="en-US" dirty="0"/>
              <a:t> Timur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pemeriksaan</a:t>
            </a:r>
            <a:r>
              <a:rPr lang="en-US" dirty="0"/>
              <a:t> volume air </a:t>
            </a:r>
            <a:r>
              <a:rPr lang="en-US" dirty="0" err="1"/>
              <a:t>kemasan</a:t>
            </a:r>
            <a:r>
              <a:rPr lang="en-US" dirty="0"/>
              <a:t> (1500 ml) oleh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. Dari </a:t>
            </a:r>
            <a:r>
              <a:rPr lang="en-US" dirty="0" err="1"/>
              <a:t>pengamatan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1 </a:t>
            </a:r>
            <a:r>
              <a:rPr lang="en-US" dirty="0" err="1"/>
              <a:t>minggu</a:t>
            </a:r>
            <a:r>
              <a:rPr lang="en-US" dirty="0"/>
              <a:t>, </a:t>
            </a:r>
            <a:r>
              <a:rPr lang="en-US" dirty="0" err="1"/>
              <a:t>diperoleh</a:t>
            </a:r>
            <a:r>
              <a:rPr lang="en-US" dirty="0"/>
              <a:t> data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88216-5107-9096-E218-D6DF2D8B7C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3" t="54222" r="31750" b="16741"/>
          <a:stretch/>
        </p:blipFill>
        <p:spPr>
          <a:xfrm>
            <a:off x="3149600" y="4028440"/>
            <a:ext cx="5171440" cy="199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99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FC68-C827-7514-43A1-B984C4D7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TUGAS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E541B-AA7D-1341-E543-CFF2518B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di </a:t>
            </a:r>
            <a:r>
              <a:rPr lang="en-US" dirty="0" err="1"/>
              <a:t>atas</a:t>
            </a:r>
            <a:r>
              <a:rPr lang="en-US" dirty="0"/>
              <a:t>!</a:t>
            </a:r>
          </a:p>
          <a:p>
            <a:pPr>
              <a:buAutoNum type="arabicPeriod"/>
            </a:pPr>
            <a:r>
              <a:rPr lang="en-US" dirty="0" err="1"/>
              <a:t>Hitunglah</a:t>
            </a:r>
            <a:r>
              <a:rPr lang="en-US" dirty="0"/>
              <a:t> rata-rata, median, modus data </a:t>
            </a:r>
            <a:r>
              <a:rPr lang="en-US" dirty="0" err="1"/>
              <a:t>berkelompok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!</a:t>
            </a:r>
          </a:p>
          <a:p>
            <a:pPr>
              <a:buAutoNum type="arabicPeriod"/>
            </a:pPr>
            <a:r>
              <a:rPr lang="en-US" dirty="0" err="1"/>
              <a:t>Hitunglah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deviasi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dan </a:t>
            </a:r>
            <a:r>
              <a:rPr lang="en-US" dirty="0" err="1"/>
              <a:t>variansi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2035668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een">
  <a:themeElements>
    <a:clrScheme name="Simple Light">
      <a:dk1>
        <a:srgbClr val="000000"/>
      </a:dk1>
      <a:lt1>
        <a:srgbClr val="FFFFFF"/>
      </a:lt1>
      <a:dk2>
        <a:srgbClr val="A6BFA5"/>
      </a:dk2>
      <a:lt2>
        <a:srgbClr val="C9D8C8"/>
      </a:lt2>
      <a:accent1>
        <a:srgbClr val="161922"/>
      </a:accent1>
      <a:accent2>
        <a:srgbClr val="FFFFFF"/>
      </a:accent2>
      <a:accent3>
        <a:srgbClr val="A6BFA5"/>
      </a:accent3>
      <a:accent4>
        <a:srgbClr val="C9D8C8"/>
      </a:accent4>
      <a:accent5>
        <a:srgbClr val="0000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een" id="{68A6435C-DBDB-436D-B827-2DCBA356D5C4}" vid="{13A6E7C2-5EB6-404A-B723-FDEA1D6BE126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</Template>
  <TotalTime>2532</TotalTime>
  <Words>959</Words>
  <Application>Microsoft Office PowerPoint</Application>
  <PresentationFormat>Widescreen</PresentationFormat>
  <Paragraphs>330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Arial</vt:lpstr>
      <vt:lpstr>Calibri</vt:lpstr>
      <vt:lpstr>Cambria Math</vt:lpstr>
      <vt:lpstr>Century Gothic</vt:lpstr>
      <vt:lpstr>Georgia</vt:lpstr>
      <vt:lpstr>Livvic</vt:lpstr>
      <vt:lpstr>Montserrat</vt:lpstr>
      <vt:lpstr>Playfair Display</vt:lpstr>
      <vt:lpstr>Playfair Display Regular</vt:lpstr>
      <vt:lpstr>Proxima Nova</vt:lpstr>
      <vt:lpstr>Proxima Nova Semibold</vt:lpstr>
      <vt:lpstr>Roboto Condensed Light</vt:lpstr>
      <vt:lpstr>Trebuchet MS</vt:lpstr>
      <vt:lpstr>Wingdings 3</vt:lpstr>
      <vt:lpstr>Green</vt:lpstr>
      <vt:lpstr>Slidesgo Final Pages</vt:lpstr>
      <vt:lpstr>Ion Boardroom</vt:lpstr>
      <vt:lpstr>Equation</vt:lpstr>
      <vt:lpstr>DATA INDIVIDU DAN DATA BERKELOMPOK</vt:lpstr>
      <vt:lpstr>Data Individu dan Data Berkelompok</vt:lpstr>
      <vt:lpstr>Data Individu dan Data Berkelompok</vt:lpstr>
      <vt:lpstr>Data Individu dan Data Berkelompok</vt:lpstr>
      <vt:lpstr>Data Individu dan Data Berkelompok</vt:lpstr>
      <vt:lpstr>Relative Frequency (RF) dan Cummulative Frequency (CF)  </vt:lpstr>
      <vt:lpstr>Cummulative Relative Frequency (CRF)</vt:lpstr>
      <vt:lpstr>Ukuran Pemusatan Data untuk Data Individu</vt:lpstr>
      <vt:lpstr>Ukuran Pemusatan Data untuk Data Berkelompok (Arithmatic Mean)</vt:lpstr>
      <vt:lpstr>Ukuran Pemusatan Data untuk Data Berkelompok (Arithmatic Mean)</vt:lpstr>
      <vt:lpstr>Ukuran Pemusatan Data untuk Data Berkelompok (Median)</vt:lpstr>
      <vt:lpstr>Ukuran Pemusatan Data untuk Data Berkelompok (Median)</vt:lpstr>
      <vt:lpstr>Ukuran Pemusatan Data untuk Data Berkelompok (Modus)</vt:lpstr>
      <vt:lpstr>Ukuran Pemusatan Data untuk Data Berkelompok (Modus)</vt:lpstr>
      <vt:lpstr>Kuartil (Q) untuk Data Berkelompok</vt:lpstr>
      <vt:lpstr>Variance dan Standard Deviation untuk Data Individu</vt:lpstr>
      <vt:lpstr>Variance dan Standard Deviation untuk Data Berkelompok</vt:lpstr>
      <vt:lpstr>TUGAS</vt:lpstr>
      <vt:lpstr>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INDIVIDU DAN DATA BERKELOMPOK</dc:title>
  <dc:creator>Ashri Shabrina</dc:creator>
  <cp:lastModifiedBy>Ashri Shabrina</cp:lastModifiedBy>
  <cp:revision>14</cp:revision>
  <cp:lastPrinted>2023-03-15T00:38:12Z</cp:lastPrinted>
  <dcterms:created xsi:type="dcterms:W3CDTF">2022-03-08T03:03:50Z</dcterms:created>
  <dcterms:modified xsi:type="dcterms:W3CDTF">2024-03-16T00:31:31Z</dcterms:modified>
</cp:coreProperties>
</file>