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7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89403-B95D-4A72-9097-5301EF3B69C4}" type="datetimeFigureOut">
              <a:rPr lang="en-ID" smtClean="0"/>
              <a:t>05/04/2023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43BCB-E5C4-42F1-AA8D-39E4EB8757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4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1F66-09D0-4385-8CCF-FDE5F56A04F8}" type="datetime1">
              <a:rPr lang="en-ID" smtClean="0"/>
              <a:t>05/04/2023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640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393E-C9C0-4336-BEC4-34DBA5CF40D5}" type="datetime1">
              <a:rPr lang="en-ID" smtClean="0"/>
              <a:t>05/04/2023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595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85643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16424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68312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455645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806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844217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9627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39427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0799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080826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91338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784945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937142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445261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811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ransition>
    <p:fade thruBlk="1"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93AA-E006-48DD-A547-A3BC06CB2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5" y="1122363"/>
            <a:ext cx="8314056" cy="2387600"/>
          </a:xfrm>
        </p:spPr>
        <p:txBody>
          <a:bodyPr/>
          <a:lstStyle/>
          <a:p>
            <a:pPr algn="ctr"/>
            <a:r>
              <a:rPr lang="en-US" dirty="0"/>
              <a:t>PROBABILITAS DAN DISTRIBUSI 2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A8B3B-556A-4F16-9C37-4310CE611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9974" y="5108415"/>
            <a:ext cx="7532052" cy="400110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ASHRI SHABRINA AFRAH., M.T</a:t>
            </a:r>
            <a:endParaRPr lang="en-ID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85B50-42B8-4C8D-A347-E9EBF0A9787D}"/>
              </a:ext>
            </a:extLst>
          </p:cNvPr>
          <p:cNvSpPr txBox="1"/>
          <p:nvPr/>
        </p:nvSpPr>
        <p:spPr>
          <a:xfrm>
            <a:off x="2702560" y="3579197"/>
            <a:ext cx="676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MATA KULIAH STATISTIKA (SEMESTER 2)</a:t>
            </a:r>
            <a:endParaRPr lang="en-ID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7970B-7811-4348-A6F3-07CF2F859D12}"/>
              </a:ext>
            </a:extLst>
          </p:cNvPr>
          <p:cNvSpPr txBox="1"/>
          <p:nvPr/>
        </p:nvSpPr>
        <p:spPr>
          <a:xfrm>
            <a:off x="680944" y="406798"/>
            <a:ext cx="4605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STUDI TEKNIK INFORMATIKA</a:t>
            </a:r>
          </a:p>
          <a:p>
            <a:r>
              <a:rPr lang="en-US" dirty="0"/>
              <a:t>UIN MAULANA MALIK IBRAHIM MALANG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975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A075-526F-44CD-851F-63624069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6E8B2-E5D1-4AF3-B5CF-DFF6835B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(random variable)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real yang </a:t>
            </a:r>
            <a:r>
              <a:rPr lang="en-US" dirty="0" err="1"/>
              <a:t>harganya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tiap-tiap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2 </a:t>
            </a:r>
            <a:r>
              <a:rPr lang="en-US" dirty="0" err="1"/>
              <a:t>jenis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variable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 dan variable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Bila</a:t>
            </a:r>
            <a:r>
              <a:rPr lang="en-US" dirty="0"/>
              <a:t> 1 </a:t>
            </a:r>
            <a:r>
              <a:rPr lang="en-US" dirty="0" err="1"/>
              <a:t>mata</a:t>
            </a:r>
            <a:r>
              <a:rPr lang="en-US" dirty="0"/>
              <a:t> uang </a:t>
            </a:r>
            <a:r>
              <a:rPr lang="en-US" dirty="0" err="1"/>
              <a:t>dilempar</a:t>
            </a:r>
            <a:r>
              <a:rPr lang="en-US" dirty="0"/>
              <a:t> 3 kali dan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X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x yang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X yang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0, 1, 2, </a:t>
            </a:r>
            <a:r>
              <a:rPr lang="en-US" dirty="0" err="1"/>
              <a:t>atau</a:t>
            </a:r>
            <a:r>
              <a:rPr lang="en-US" dirty="0"/>
              <a:t> 3.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0895-39AF-4761-8CE3-FC3F2C59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455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52B0-18C7-4D3F-89CA-085592BA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VARIABEL ACAK DISKRIT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FFE8-B946-455A-8C79-44AE16D9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variable </a:t>
            </a:r>
            <a:r>
              <a:rPr lang="en-US" dirty="0" err="1"/>
              <a:t>acak</a:t>
            </a:r>
            <a:r>
              <a:rPr lang="en-US" dirty="0"/>
              <a:t>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dan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pencacahan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D" dirty="0"/>
              <a:t>Ruang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. </a:t>
            </a:r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yang </a:t>
            </a:r>
            <a:r>
              <a:rPr lang="en-ID" dirty="0" err="1"/>
              <a:t>berhingga</a:t>
            </a:r>
            <a:r>
              <a:rPr lang="en-ID" dirty="0"/>
              <a:t> </a:t>
            </a:r>
            <a:r>
              <a:rPr lang="en-ID" dirty="0" err="1"/>
              <a:t>banyaknya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deretan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yang </a:t>
            </a:r>
            <a:r>
              <a:rPr lang="en-ID" dirty="0" err="1"/>
              <a:t>banyaknya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banyaknya</a:t>
            </a:r>
            <a:r>
              <a:rPr lang="en-ID" dirty="0"/>
              <a:t> </a:t>
            </a:r>
            <a:r>
              <a:rPr lang="en-ID" dirty="0" err="1"/>
              <a:t>bilangan</a:t>
            </a:r>
            <a:r>
              <a:rPr lang="en-ID" dirty="0"/>
              <a:t> </a:t>
            </a:r>
            <a:r>
              <a:rPr lang="en-ID" dirty="0" err="1"/>
              <a:t>bulat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diskrit</a:t>
            </a:r>
            <a:r>
              <a:rPr lang="en-ID" dirty="0"/>
              <a:t>, dan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acak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dinamakan</a:t>
            </a:r>
            <a:r>
              <a:rPr lang="en-ID" dirty="0"/>
              <a:t> variable </a:t>
            </a:r>
            <a:r>
              <a:rPr lang="en-ID" dirty="0" err="1"/>
              <a:t>acak</a:t>
            </a:r>
            <a:r>
              <a:rPr lang="en-ID" dirty="0"/>
              <a:t> </a:t>
            </a:r>
            <a:r>
              <a:rPr lang="en-ID" dirty="0" err="1"/>
              <a:t>diskrit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E0402-90A4-40B8-9688-3D45C7D5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64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E313-3FB8-4FBE-9A7F-4A28B04C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VARIABEL ACAK KONTINYU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4AA4-1262-446E-B7D4-CA22F2DB0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variable yang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dan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yang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terhingga</a:t>
            </a:r>
            <a:r>
              <a:rPr lang="en-US" dirty="0"/>
              <a:t> dan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sepotong</a:t>
            </a:r>
            <a:r>
              <a:rPr lang="en-US" dirty="0"/>
              <a:t> garis,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dinamakan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, dan variable </a:t>
            </a:r>
            <a:r>
              <a:rPr lang="en-US" dirty="0" err="1"/>
              <a:t>acak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variable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5E00E-E164-49CB-AB67-846DC2C8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449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7A1E-C4F0-4F39-88DF-00072BAB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PROBABILITAS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F4B5-2AD7-4996-B7E7-A973376BB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/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/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timbulnya</a:t>
            </a:r>
            <a:r>
              <a:rPr lang="en-US" dirty="0"/>
              <a:t> </a:t>
            </a:r>
            <a:r>
              <a:rPr lang="en-US" dirty="0" err="1"/>
              <a:t>gejala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populasinya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b="1" dirty="0" err="1"/>
              <a:t>distribusi</a:t>
            </a:r>
            <a:r>
              <a:rPr lang="en-US" b="1" dirty="0"/>
              <a:t> </a:t>
            </a:r>
            <a:r>
              <a:rPr lang="en-US" b="1" dirty="0" err="1"/>
              <a:t>probabilitas</a:t>
            </a:r>
            <a:r>
              <a:rPr lang="en-US" b="1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timbulnya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sampelnya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7BAB-55E4-4239-9490-DB7E700F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5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88165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6B1D-F6A4-4185-87E2-420E958C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PROBABILITAS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B4A42-D0A8-44EE-BC5E-63E124F94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 dan </a:t>
            </a:r>
            <a:r>
              <a:rPr lang="en-US" dirty="0" err="1"/>
              <a:t>kontinyu</a:t>
            </a:r>
            <a:r>
              <a:rPr lang="en-US" dirty="0"/>
              <a:t>. Ada </a:t>
            </a:r>
            <a:r>
              <a:rPr lang="en-US" dirty="0" err="1"/>
              <a:t>bermacam-macam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Statistika</a:t>
            </a:r>
            <a:r>
              <a:rPr lang="en-US" dirty="0"/>
              <a:t>. </a:t>
            </a:r>
            <a:r>
              <a:rPr lang="en-US" dirty="0" err="1"/>
              <a:t>Jenis-jenis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pembahasan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r>
              <a:rPr lang="en-US" dirty="0" err="1"/>
              <a:t>Distribusi</a:t>
            </a:r>
            <a:r>
              <a:rPr lang="en-US" dirty="0"/>
              <a:t> Binomial (</a:t>
            </a:r>
            <a:r>
              <a:rPr lang="en-US" dirty="0" err="1"/>
              <a:t>Bernaulli</a:t>
            </a:r>
            <a:r>
              <a:rPr lang="en-US" dirty="0"/>
              <a:t>)</a:t>
            </a:r>
          </a:p>
          <a:p>
            <a:pPr>
              <a:buAutoNum type="arabicPeriod"/>
            </a:pPr>
            <a:r>
              <a:rPr lang="en-US" dirty="0" err="1"/>
              <a:t>Distribusi</a:t>
            </a:r>
            <a:r>
              <a:rPr lang="en-US" dirty="0"/>
              <a:t> Poisson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DABBF-79D4-44EF-BE89-189119E9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8640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E12AC-F581-4AA0-AAFC-C3C596D8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BINOMIAL (BERNAULLI)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FFC9-4E94-4C79-AD64-86E351B2D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Distribusi</a:t>
            </a:r>
            <a:r>
              <a:rPr lang="en-US" b="1" dirty="0"/>
              <a:t> Binomial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bilamana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proses sampling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diasumsikan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Proses </a:t>
            </a:r>
            <a:r>
              <a:rPr lang="en-US" dirty="0" err="1"/>
              <a:t>Bernaulli</a:t>
            </a:r>
            <a:r>
              <a:rPr lang="en-US" dirty="0"/>
              <a:t> (</a:t>
            </a:r>
            <a:r>
              <a:rPr lang="en-US" dirty="0" err="1"/>
              <a:t>Bernaulli</a:t>
            </a:r>
            <a:r>
              <a:rPr lang="en-US" dirty="0"/>
              <a:t> Process). </a:t>
            </a:r>
          </a:p>
          <a:p>
            <a:r>
              <a:rPr lang="en-US" dirty="0" err="1"/>
              <a:t>Dalam</a:t>
            </a:r>
            <a:r>
              <a:rPr lang="en-US" dirty="0"/>
              <a:t> Proses </a:t>
            </a:r>
            <a:r>
              <a:rPr lang="en-US" dirty="0" err="1"/>
              <a:t>Benaulli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mengenal</a:t>
            </a:r>
            <a:r>
              <a:rPr lang="en-US" dirty="0"/>
              <a:t> 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b="1" dirty="0" err="1"/>
              <a:t>Percobaan</a:t>
            </a:r>
            <a:r>
              <a:rPr lang="en-US" b="1" dirty="0"/>
              <a:t> </a:t>
            </a:r>
            <a:r>
              <a:rPr lang="en-US" b="1" dirty="0" err="1"/>
              <a:t>Bernaulli</a:t>
            </a:r>
            <a:r>
              <a:rPr lang="en-US" b="1" dirty="0"/>
              <a:t> (</a:t>
            </a:r>
            <a:r>
              <a:rPr lang="en-US" b="1" dirty="0" err="1"/>
              <a:t>Bernaulli</a:t>
            </a:r>
            <a:r>
              <a:rPr lang="en-US" b="1" dirty="0"/>
              <a:t> Trial)</a:t>
            </a:r>
            <a:r>
              <a:rPr lang="en-US" dirty="0"/>
              <a:t>. </a:t>
            </a:r>
            <a:r>
              <a:rPr lang="en-US" dirty="0" err="1"/>
              <a:t>Pengulangan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(</a:t>
            </a:r>
            <a:r>
              <a:rPr lang="en-US" i="1" dirty="0"/>
              <a:t>trial</a:t>
            </a:r>
            <a:r>
              <a:rPr lang="en-US" dirty="0"/>
              <a:t>). </a:t>
            </a:r>
            <a:r>
              <a:rPr lang="en-US" dirty="0" err="1"/>
              <a:t>Seringkali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2 </a:t>
            </a:r>
            <a:r>
              <a:rPr lang="en-US" dirty="0" err="1"/>
              <a:t>kemungkinan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sukses</a:t>
            </a:r>
            <a:r>
              <a:rPr lang="en-US" dirty="0"/>
              <a:t>/</a:t>
            </a:r>
            <a:r>
              <a:rPr lang="en-US" dirty="0" err="1"/>
              <a:t>gagal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Contoh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lahirnya</a:t>
            </a:r>
            <a:r>
              <a:rPr lang="en-US" dirty="0"/>
              <a:t> </a:t>
            </a:r>
            <a:r>
              <a:rPr lang="en-US" dirty="0" err="1"/>
              <a:t>bayi</a:t>
            </a:r>
            <a:r>
              <a:rPr lang="en-US" dirty="0"/>
              <a:t> </a:t>
            </a:r>
            <a:r>
              <a:rPr lang="en-US" dirty="0" err="1"/>
              <a:t>laki-laki</a:t>
            </a:r>
            <a:r>
              <a:rPr lang="en-US" dirty="0"/>
              <a:t>/</a:t>
            </a:r>
            <a:r>
              <a:rPr lang="en-US" dirty="0" err="1"/>
              <a:t>perempuan</a:t>
            </a:r>
            <a:r>
              <a:rPr lang="en-US" dirty="0"/>
              <a:t>, </a:t>
            </a:r>
            <a:r>
              <a:rPr lang="en-US" dirty="0" err="1"/>
              <a:t>kemungkinan</a:t>
            </a:r>
            <a:r>
              <a:rPr lang="en-US" dirty="0"/>
              <a:t> 	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/</a:t>
            </a:r>
            <a:r>
              <a:rPr lang="en-US" dirty="0" err="1"/>
              <a:t>gambar</a:t>
            </a:r>
            <a:r>
              <a:rPr lang="en-US" dirty="0"/>
              <a:t> pada </a:t>
            </a:r>
            <a:r>
              <a:rPr lang="en-US" dirty="0" err="1"/>
              <a:t>pelemparan</a:t>
            </a:r>
            <a:r>
              <a:rPr lang="en-US" dirty="0"/>
              <a:t> uang </a:t>
            </a:r>
            <a:r>
              <a:rPr lang="en-US" dirty="0" err="1"/>
              <a:t>koin</a:t>
            </a:r>
            <a:r>
              <a:rPr lang="en-US" dirty="0"/>
              <a:t>.</a:t>
            </a:r>
          </a:p>
          <a:p>
            <a:r>
              <a:rPr lang="en-US" dirty="0" err="1"/>
              <a:t>Percobaan</a:t>
            </a:r>
            <a:r>
              <a:rPr lang="en-US" dirty="0"/>
              <a:t> yang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Proses </a:t>
            </a:r>
            <a:r>
              <a:rPr lang="en-US" b="1" dirty="0" err="1"/>
              <a:t>Bernaulli</a:t>
            </a:r>
            <a:r>
              <a:rPr lang="en-US" b="1" dirty="0"/>
              <a:t> (</a:t>
            </a:r>
            <a:r>
              <a:rPr lang="en-US" b="1" dirty="0" err="1"/>
              <a:t>Bernaulli</a:t>
            </a:r>
            <a:r>
              <a:rPr lang="en-US" b="1" dirty="0"/>
              <a:t> Process)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42FF2-D21B-4527-989A-176B9BF9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645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4A41-5ED7-4D3E-8AB0-E561D054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BINOMIAL (BERNAULLI)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138B-1713-4CFB-B909-69D2EE3E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87348" cy="3777622"/>
          </a:xfrm>
        </p:spPr>
        <p:txBody>
          <a:bodyPr/>
          <a:lstStyle/>
          <a:p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Bernaulli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2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sukses</a:t>
            </a:r>
            <a:r>
              <a:rPr lang="en-ID" dirty="0"/>
              <a:t>/</a:t>
            </a:r>
            <a:r>
              <a:rPr lang="en-ID" dirty="0" err="1"/>
              <a:t>gagal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/>
              <a:t>Pada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,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sukses</a:t>
            </a:r>
            <a:r>
              <a:rPr lang="en-ID" dirty="0"/>
              <a:t> P(S)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, </a:t>
            </a:r>
            <a:r>
              <a:rPr lang="en-ID" dirty="0" err="1"/>
              <a:t>disimbolkan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 = P(S).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 P(F) </a:t>
            </a:r>
            <a:r>
              <a:rPr lang="en-ID" dirty="0" err="1"/>
              <a:t>bernilai</a:t>
            </a:r>
            <a:r>
              <a:rPr lang="en-ID" dirty="0"/>
              <a:t> 1-P(S) dan </a:t>
            </a:r>
            <a:r>
              <a:rPr lang="en-ID" dirty="0" err="1"/>
              <a:t>disimbolkan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q, </a:t>
            </a:r>
            <a:r>
              <a:rPr lang="en-ID" dirty="0" err="1"/>
              <a:t>sehingga</a:t>
            </a:r>
            <a:r>
              <a:rPr lang="en-ID" dirty="0"/>
              <a:t> p + q = 1.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independent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.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sukses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F2750-AD53-4894-8AE7-519C50CC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64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4A41-5ED7-4D3E-8AB0-E561D054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BINOMIAL (BERNAULLI)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138B-1713-4CFB-B909-69D2EE3E5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Bernaulli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sukses</a:t>
            </a:r>
            <a:r>
              <a:rPr lang="en-US" dirty="0"/>
              <a:t> dan </a:t>
            </a:r>
            <a:r>
              <a:rPr lang="en-US" dirty="0" err="1"/>
              <a:t>gagal</a:t>
            </a:r>
            <a:r>
              <a:rPr lang="en-US" dirty="0"/>
              <a:t> pada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(2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)</a:t>
            </a:r>
          </a:p>
          <a:p>
            <a:r>
              <a:rPr lang="en-US" dirty="0" err="1"/>
              <a:t>Distribusi</a:t>
            </a:r>
            <a:r>
              <a:rPr lang="en-US" dirty="0"/>
              <a:t> Binomial </a:t>
            </a:r>
            <a:r>
              <a:rPr lang="en-US" dirty="0" err="1"/>
              <a:t>tergantung</a:t>
            </a:r>
            <a:r>
              <a:rPr lang="en-US" dirty="0"/>
              <a:t> pada </a:t>
            </a:r>
            <a:r>
              <a:rPr lang="en-US" dirty="0" err="1"/>
              <a:t>jumlah</a:t>
            </a:r>
            <a:r>
              <a:rPr lang="en-US" dirty="0"/>
              <a:t> n dan p. Dimana x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 err="1"/>
              <a:t>banyaknya</a:t>
            </a:r>
            <a:r>
              <a:rPr lang="en-US" b="1" dirty="0"/>
              <a:t> </a:t>
            </a:r>
            <a:r>
              <a:rPr lang="en-US" b="1" dirty="0" err="1"/>
              <a:t>percobaan</a:t>
            </a:r>
            <a:r>
              <a:rPr lang="en-US" b="1" dirty="0"/>
              <a:t> </a:t>
            </a:r>
            <a:r>
              <a:rPr lang="en-US" b="1" dirty="0" err="1"/>
              <a:t>sukses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total </a:t>
            </a:r>
            <a:r>
              <a:rPr lang="en-US" b="1" dirty="0" err="1"/>
              <a:t>percobaan</a:t>
            </a:r>
            <a:r>
              <a:rPr lang="en-US" b="1" dirty="0"/>
              <a:t> (n) pada </a:t>
            </a:r>
            <a:r>
              <a:rPr lang="en-US" b="1" dirty="0" err="1"/>
              <a:t>Percobaan</a:t>
            </a:r>
            <a:r>
              <a:rPr lang="en-US" b="1" dirty="0"/>
              <a:t> </a:t>
            </a:r>
            <a:r>
              <a:rPr lang="en-US" b="1" dirty="0" err="1"/>
              <a:t>Bernaulli</a:t>
            </a:r>
            <a:r>
              <a:rPr lang="en-US" b="1" dirty="0"/>
              <a:t>.</a:t>
            </a:r>
            <a:r>
              <a:rPr lang="en-ID" b="1" dirty="0"/>
              <a:t> </a:t>
            </a:r>
            <a:r>
              <a:rPr lang="en-ID" dirty="0" err="1"/>
              <a:t>Sedangkan</a:t>
            </a:r>
            <a:r>
              <a:rPr lang="en-ID" dirty="0"/>
              <a:t> p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sukses</a:t>
            </a:r>
            <a:r>
              <a:rPr lang="en-ID" dirty="0"/>
              <a:t> pada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F2750-AD53-4894-8AE7-519C50CC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9</a:t>
            </a:fld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0D4C3-D85E-4B26-89B1-550691B72B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83" t="65630" r="21916" b="24889"/>
          <a:stretch/>
        </p:blipFill>
        <p:spPr>
          <a:xfrm>
            <a:off x="3033712" y="4572000"/>
            <a:ext cx="749808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3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7980-A2E2-41DD-998A-8D335778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BINOMIAL (BERNAULLI)</a:t>
            </a:r>
            <a:br>
              <a:rPr lang="en-US" dirty="0"/>
            </a:br>
            <a:r>
              <a:rPr lang="en-US" dirty="0"/>
              <a:t>(CONTOH SOAL)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0DD1-99AB-4649-B122-5B3803D45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590800"/>
            <a:ext cx="4268788" cy="332042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Dadu</a:t>
            </a:r>
            <a:r>
              <a:rPr lang="en-US" dirty="0"/>
              <a:t> </a:t>
            </a:r>
            <a:r>
              <a:rPr lang="en-US" dirty="0" err="1"/>
              <a:t>dilemparkan</a:t>
            </a:r>
            <a:r>
              <a:rPr lang="en-US" dirty="0"/>
              <a:t> 5 kali,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6 </a:t>
            </a:r>
            <a:r>
              <a:rPr lang="en-US" dirty="0" err="1"/>
              <a:t>dua</a:t>
            </a:r>
            <a:r>
              <a:rPr lang="en-US" dirty="0"/>
              <a:t> kali,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b(2, 5, 1/6) </a:t>
            </a:r>
          </a:p>
          <a:p>
            <a:pPr marL="0" indent="0">
              <a:buNone/>
            </a:pPr>
            <a:r>
              <a:rPr lang="en-US" dirty="0" err="1"/>
              <a:t>dengan</a:t>
            </a:r>
            <a:r>
              <a:rPr lang="en-US" dirty="0"/>
              <a:t> x = 2, n = 5, p = 1/6.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probabilitasnya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EA782-C252-491C-A304-206EEB00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10</a:t>
            </a:fld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F80DF-6483-44EF-ABC5-596E657CCFC3}"/>
              </a:ext>
            </a:extLst>
          </p:cNvPr>
          <p:cNvSpPr txBox="1"/>
          <p:nvPr/>
        </p:nvSpPr>
        <p:spPr>
          <a:xfrm>
            <a:off x="7447280" y="213360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Jawaban</a:t>
            </a:r>
            <a:r>
              <a:rPr lang="en-US" dirty="0"/>
              <a:t>: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2B3268-3BF2-403B-A886-E0FA2D111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9" y="2533412"/>
            <a:ext cx="3870077" cy="378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0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3EE4-41B2-428B-8A16-C8A0F48E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711200"/>
            <a:ext cx="8911687" cy="1193800"/>
          </a:xfrm>
        </p:spPr>
        <p:txBody>
          <a:bodyPr/>
          <a:lstStyle/>
          <a:p>
            <a:r>
              <a:rPr lang="en-US" dirty="0"/>
              <a:t>DISTRIBUSI POISSON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AF1BD-479D-42F8-BFA0-EC1E60B47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131" y="2123440"/>
            <a:ext cx="8911687" cy="4267200"/>
          </a:xfrm>
        </p:spPr>
        <p:txBody>
          <a:bodyPr>
            <a:normAutofit/>
          </a:bodyPr>
          <a:lstStyle/>
          <a:p>
            <a:r>
              <a:rPr lang="en-US" dirty="0" err="1"/>
              <a:t>Distribusi</a:t>
            </a:r>
            <a:r>
              <a:rPr lang="en-US" dirty="0"/>
              <a:t> Poisson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</a:t>
            </a:r>
            <a:r>
              <a:rPr lang="en-US" dirty="0" err="1"/>
              <a:t>gejala</a:t>
            </a:r>
            <a:r>
              <a:rPr lang="en-US" dirty="0"/>
              <a:t> </a:t>
            </a:r>
            <a:r>
              <a:rPr lang="en-US" dirty="0" err="1"/>
              <a:t>sukses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dan </a:t>
            </a:r>
            <a:r>
              <a:rPr lang="en-US" dirty="0" err="1"/>
              <a:t>untuk</a:t>
            </a:r>
            <a:r>
              <a:rPr lang="en-US" dirty="0"/>
              <a:t> n </a:t>
            </a:r>
            <a:r>
              <a:rPr lang="en-US" dirty="0" err="1"/>
              <a:t>besar</a:t>
            </a:r>
            <a:r>
              <a:rPr lang="en-US" dirty="0"/>
              <a:t>, </a:t>
            </a:r>
            <a:r>
              <a:rPr lang="en-US" dirty="0" err="1"/>
              <a:t>sedangakan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μ sangat </a:t>
            </a:r>
            <a:r>
              <a:rPr lang="en-US" dirty="0" err="1"/>
              <a:t>kecil</a:t>
            </a:r>
            <a:r>
              <a:rPr lang="en-US" dirty="0"/>
              <a:t>. </a:t>
            </a:r>
          </a:p>
          <a:p>
            <a:r>
              <a:rPr lang="en-US" dirty="0"/>
              <a:t>Hanya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sukses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Poisson,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rata-rata </a:t>
            </a:r>
            <a:r>
              <a:rPr lang="en-US" dirty="0" err="1"/>
              <a:t>sukses</a:t>
            </a:r>
            <a:r>
              <a:rPr lang="en-US" dirty="0"/>
              <a:t> (μ).</a:t>
            </a:r>
          </a:p>
          <a:p>
            <a:r>
              <a:rPr lang="en-US" dirty="0" err="1"/>
              <a:t>Percobaan</a:t>
            </a:r>
            <a:r>
              <a:rPr lang="en-US" dirty="0"/>
              <a:t> Poisson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eksperimen</a:t>
            </a:r>
            <a:r>
              <a:rPr lang="en-US" dirty="0"/>
              <a:t> yang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numerik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X, pada </a:t>
            </a:r>
            <a:r>
              <a:rPr lang="en-US" dirty="0" err="1"/>
              <a:t>sejumlah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interval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di wilayah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0C12-E501-4A43-BD3A-7CD63A92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11</a:t>
            </a:fld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3AA28-37EA-4007-A89A-8356F894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483" y="5022850"/>
            <a:ext cx="2747010" cy="91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1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3EE4-41B2-428B-8A16-C8A0F48E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711200"/>
            <a:ext cx="8911687" cy="1193800"/>
          </a:xfrm>
        </p:spPr>
        <p:txBody>
          <a:bodyPr/>
          <a:lstStyle/>
          <a:p>
            <a:r>
              <a:rPr lang="en-US" dirty="0"/>
              <a:t>DISTRIBUSI POISSON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AF1BD-479D-42F8-BFA0-EC1E60B47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123440"/>
            <a:ext cx="8572916" cy="402336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b="1" dirty="0" err="1"/>
              <a:t>Percobaan</a:t>
            </a:r>
            <a:r>
              <a:rPr lang="en-US" b="1" dirty="0"/>
              <a:t> Poisson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>
              <a:buFont typeface="+mj-lt"/>
              <a:buAutoNum type="arabicPeriod"/>
            </a:pPr>
            <a:r>
              <a:rPr lang="en-US" dirty="0"/>
              <a:t>Hasil </a:t>
            </a:r>
            <a:r>
              <a:rPr lang="en-US" dirty="0" err="1"/>
              <a:t>percobaan</a:t>
            </a:r>
            <a:r>
              <a:rPr lang="en-US" dirty="0"/>
              <a:t> pada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dan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tergantung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di 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dan </a:t>
            </a:r>
            <a:r>
              <a:rPr lang="en-US" dirty="0" err="1"/>
              <a:t>tempat</a:t>
            </a:r>
            <a:r>
              <a:rPr lang="en-US" dirty="0"/>
              <a:t> lain yang </a:t>
            </a:r>
            <a:r>
              <a:rPr lang="en-US" dirty="0" err="1"/>
              <a:t>terpisah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sebanding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dan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yang </a:t>
            </a:r>
            <a:r>
              <a:rPr lang="en-US" dirty="0" err="1"/>
              <a:t>singkat</a:t>
            </a:r>
            <a:r>
              <a:rPr lang="en-US" dirty="0"/>
              <a:t> dan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yang </a:t>
            </a:r>
            <a:r>
              <a:rPr lang="en-US" dirty="0" err="1"/>
              <a:t>sempit</a:t>
            </a:r>
            <a:r>
              <a:rPr lang="en-US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pada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dan </a:t>
            </a:r>
            <a:r>
              <a:rPr lang="en-US" dirty="0" err="1"/>
              <a:t>luasan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diabaikan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Distribusi</a:t>
            </a:r>
            <a:r>
              <a:rPr lang="en-US" dirty="0"/>
              <a:t> Poisson juga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timbulnya</a:t>
            </a:r>
            <a:r>
              <a:rPr lang="en-US" dirty="0"/>
              <a:t> </a:t>
            </a:r>
            <a:r>
              <a:rPr lang="en-US" dirty="0" err="1"/>
              <a:t>gejala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 (</a:t>
            </a:r>
            <a:r>
              <a:rPr lang="en-US" dirty="0" err="1"/>
              <a:t>gejala</a:t>
            </a:r>
            <a:r>
              <a:rPr lang="en-US" dirty="0"/>
              <a:t> “</a:t>
            </a:r>
            <a:r>
              <a:rPr lang="en-US" dirty="0" err="1"/>
              <a:t>sukses</a:t>
            </a:r>
            <a:r>
              <a:rPr lang="en-US" dirty="0"/>
              <a:t>”)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n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yang n-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dan p-</a:t>
            </a:r>
            <a:r>
              <a:rPr lang="en-US" dirty="0" err="1"/>
              <a:t>nya</a:t>
            </a:r>
            <a:r>
              <a:rPr lang="en-US" dirty="0"/>
              <a:t> sangat </a:t>
            </a:r>
            <a:r>
              <a:rPr lang="en-US" dirty="0" err="1"/>
              <a:t>kecil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0C12-E501-4A43-BD3A-7CD63A92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1304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F9F0-65FB-436A-B2D4-5C6F96E6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DISTRIBUSI POISSON</a:t>
            </a:r>
            <a:br>
              <a:rPr lang="en-US" dirty="0"/>
            </a:br>
            <a:r>
              <a:rPr lang="en-US" dirty="0"/>
              <a:t>(CONTOH SOAL)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B4BFE-3F64-4351-A377-559A7FCFD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480" y="2462292"/>
            <a:ext cx="4521200" cy="377159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di </a:t>
            </a:r>
            <a:r>
              <a:rPr lang="en-US" dirty="0" err="1"/>
              <a:t>laboratorium</a:t>
            </a:r>
            <a:r>
              <a:rPr lang="en-US" dirty="0"/>
              <a:t>, </a:t>
            </a:r>
            <a:r>
              <a:rPr lang="en-US" dirty="0" err="1"/>
              <a:t>jumlah</a:t>
            </a:r>
            <a:r>
              <a:rPr lang="en-US" dirty="0"/>
              <a:t> rata-rata </a:t>
            </a:r>
            <a:r>
              <a:rPr lang="en-US" dirty="0" err="1"/>
              <a:t>partikel</a:t>
            </a:r>
            <a:r>
              <a:rPr lang="en-US" dirty="0"/>
              <a:t> </a:t>
            </a:r>
            <a:r>
              <a:rPr lang="en-US" dirty="0" err="1"/>
              <a:t>radioaktif</a:t>
            </a:r>
            <a:r>
              <a:rPr lang="en-US" dirty="0"/>
              <a:t> yang </a:t>
            </a:r>
            <a:r>
              <a:rPr lang="en-US" dirty="0" err="1"/>
              <a:t>melewati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penghitung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1 </a:t>
            </a:r>
            <a:r>
              <a:rPr lang="en-US" dirty="0" err="1"/>
              <a:t>milidetik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4.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6 </a:t>
            </a:r>
            <a:r>
              <a:rPr lang="en-US" dirty="0" err="1"/>
              <a:t>partikel</a:t>
            </a:r>
            <a:r>
              <a:rPr lang="en-US" dirty="0"/>
              <a:t> </a:t>
            </a:r>
            <a:r>
              <a:rPr lang="en-US" dirty="0" err="1"/>
              <a:t>radioaktif</a:t>
            </a:r>
            <a:r>
              <a:rPr lang="en-US" dirty="0"/>
              <a:t> yang </a:t>
            </a:r>
            <a:r>
              <a:rPr lang="en-US" dirty="0" err="1"/>
              <a:t>melewati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penghitung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D" dirty="0"/>
              <a:t>Dari </a:t>
            </a:r>
            <a:r>
              <a:rPr lang="en-ID" dirty="0" err="1"/>
              <a:t>soal</a:t>
            </a:r>
            <a:r>
              <a:rPr lang="en-ID" dirty="0"/>
              <a:t>, </a:t>
            </a:r>
            <a:r>
              <a:rPr lang="en-ID" dirty="0" err="1"/>
              <a:t>diketahui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μ = 4, x = 6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A68EE-A146-45F9-A2FF-C9BFB9F3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13</a:t>
            </a:fld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3EACAD-766D-47DD-AB3E-90B6BCC04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768" y="2580640"/>
            <a:ext cx="4268249" cy="2735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C2F79-DE23-4244-B4D2-E8DF87DB5F29}"/>
              </a:ext>
            </a:extLst>
          </p:cNvPr>
          <p:cNvSpPr txBox="1"/>
          <p:nvPr/>
        </p:nvSpPr>
        <p:spPr>
          <a:xfrm>
            <a:off x="7132320" y="209296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Jawaban</a:t>
            </a:r>
            <a:r>
              <a:rPr lang="en-US" dirty="0"/>
              <a:t>: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01187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5457-922C-41CD-95F9-2C70EB15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TUGAS (BERKELOMPOK)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CE251-D57C-4A34-8CCF-CA04B10FF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direktur</a:t>
            </a:r>
            <a:r>
              <a:rPr lang="en-US" dirty="0"/>
              <a:t> PT. Z yang </a:t>
            </a:r>
            <a:r>
              <a:rPr lang="en-US" dirty="0" err="1"/>
              <a:t>bergerak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biro </a:t>
            </a:r>
            <a:r>
              <a:rPr lang="en-US" dirty="0" err="1"/>
              <a:t>jasa</a:t>
            </a:r>
            <a:r>
              <a:rPr lang="en-US" dirty="0"/>
              <a:t> </a:t>
            </a:r>
            <a:r>
              <a:rPr lang="en-US" dirty="0" err="1"/>
              <a:t>perjalanan</a:t>
            </a:r>
            <a:r>
              <a:rPr lang="en-US" dirty="0"/>
              <a:t>, </a:t>
            </a:r>
            <a:r>
              <a:rPr lang="en-US" dirty="0" err="1"/>
              <a:t>turis</a:t>
            </a:r>
            <a:r>
              <a:rPr lang="en-US" dirty="0"/>
              <a:t> </a:t>
            </a:r>
            <a:r>
              <a:rPr lang="en-US" dirty="0" err="1"/>
              <a:t>mancanegara</a:t>
            </a:r>
            <a:r>
              <a:rPr lang="en-US" dirty="0"/>
              <a:t> yang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berkunjung</a:t>
            </a:r>
            <a:r>
              <a:rPr lang="en-US" dirty="0"/>
              <a:t> di Indonesia </a:t>
            </a:r>
            <a:r>
              <a:rPr lang="en-US" dirty="0" err="1"/>
              <a:t>sebesar</a:t>
            </a:r>
            <a:r>
              <a:rPr lang="en-US" dirty="0"/>
              <a:t> 20% </a:t>
            </a:r>
            <a:r>
              <a:rPr lang="en-US" dirty="0" err="1"/>
              <a:t>menyatakan</a:t>
            </a:r>
            <a:r>
              <a:rPr lang="en-US" dirty="0"/>
              <a:t> sangat </a:t>
            </a:r>
            <a:r>
              <a:rPr lang="en-US" dirty="0" err="1"/>
              <a:t>puas</a:t>
            </a:r>
            <a:r>
              <a:rPr lang="en-US" dirty="0"/>
              <a:t>, 40%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puas</a:t>
            </a:r>
            <a:r>
              <a:rPr lang="en-US" dirty="0"/>
              <a:t>, 25%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dan </a:t>
            </a:r>
            <a:r>
              <a:rPr lang="en-US" dirty="0" err="1"/>
              <a:t>sisanya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puas</a:t>
            </a:r>
            <a:r>
              <a:rPr lang="en-US" dirty="0"/>
              <a:t>.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bertemu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5 orang </a:t>
            </a:r>
            <a:r>
              <a:rPr lang="en-US" dirty="0" err="1"/>
              <a:t>turis</a:t>
            </a:r>
            <a:r>
              <a:rPr lang="en-US" dirty="0"/>
              <a:t> </a:t>
            </a:r>
            <a:r>
              <a:rPr lang="en-US" dirty="0" err="1"/>
              <a:t>mancanegara</a:t>
            </a:r>
            <a:r>
              <a:rPr lang="en-US" dirty="0"/>
              <a:t> yang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berkunjung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Indonesia,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ditanyakan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a. Paling </a:t>
            </a:r>
            <a:r>
              <a:rPr lang="en-US" dirty="0" err="1"/>
              <a:t>banyak</a:t>
            </a:r>
            <a:r>
              <a:rPr lang="en-US" dirty="0"/>
              <a:t> 2 orang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sangat </a:t>
            </a:r>
            <a:r>
              <a:rPr lang="en-US" dirty="0" err="1"/>
              <a:t>puas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b. Paling </a:t>
            </a:r>
            <a:r>
              <a:rPr lang="en-US" dirty="0" err="1"/>
              <a:t>sedikit</a:t>
            </a:r>
            <a:r>
              <a:rPr lang="en-US" dirty="0"/>
              <a:t> 3 orang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puas</a:t>
            </a:r>
            <a:r>
              <a:rPr lang="en-US" dirty="0"/>
              <a:t>.	</a:t>
            </a:r>
          </a:p>
          <a:p>
            <a:pPr marL="0" indent="0">
              <a:buNone/>
            </a:pPr>
            <a:r>
              <a:rPr lang="en-US" dirty="0"/>
              <a:t>	c.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responden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puas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EC1C4-FDC2-4850-8238-EAD2618E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55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5457-922C-41CD-95F9-2C70EB15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TUGAS (BERKELOMPOK)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CE251-D57C-4A34-8CCF-CA04B10FF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 startAt="2"/>
            </a:pPr>
            <a:r>
              <a:rPr lang="en-US" dirty="0"/>
              <a:t>Rata-rata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sekretaris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5 </a:t>
            </a:r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ketik</a:t>
            </a:r>
            <a:r>
              <a:rPr lang="en-US" dirty="0"/>
              <a:t> per </a:t>
            </a:r>
            <a:r>
              <a:rPr lang="en-US" dirty="0" err="1"/>
              <a:t>halaman</a:t>
            </a:r>
            <a:r>
              <a:rPr lang="en-US" dirty="0"/>
              <a:t>.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pada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a.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 (x=0).</a:t>
            </a:r>
          </a:p>
          <a:p>
            <a:pPr marL="0" indent="0">
              <a:buNone/>
            </a:pPr>
            <a:r>
              <a:rPr lang="en-US" dirty="0"/>
              <a:t>	b.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3 </a:t>
            </a:r>
            <a:r>
              <a:rPr lang="en-US" dirty="0" err="1"/>
              <a:t>kesalahan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EC1C4-FDC2-4850-8238-EAD2618E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187466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2043</TotalTime>
  <Words>1026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Wisp</vt:lpstr>
      <vt:lpstr>PROBABILITAS DAN DISTRIBUSI 2</vt:lpstr>
      <vt:lpstr>Variabel acak</vt:lpstr>
      <vt:lpstr>VARIABEL ACAK DISKRIT</vt:lpstr>
      <vt:lpstr>VARIABEL ACAK KONTINYU</vt:lpstr>
      <vt:lpstr>DISTRIBUSI PROBABILITAS</vt:lpstr>
      <vt:lpstr>DISTRIBUSI PROBABILITAS</vt:lpstr>
      <vt:lpstr>DISTRIBUSI BINOMIAL (BERNAULLI)</vt:lpstr>
      <vt:lpstr>DISTRIBUSI BINOMIAL (BERNAULLI)</vt:lpstr>
      <vt:lpstr>DISTRIBUSI BINOMIAL (BERNAULLI)</vt:lpstr>
      <vt:lpstr>DISTRIBUSI BINOMIAL (BERNAULLI) (CONTOH SOAL)</vt:lpstr>
      <vt:lpstr>DISTRIBUSI POISSON</vt:lpstr>
      <vt:lpstr>DISTRIBUSI POISSON</vt:lpstr>
      <vt:lpstr>DISTRIBUSI POISSON (CONTOH SOAL)</vt:lpstr>
      <vt:lpstr>TUGAS (BERKELOMPOK)</vt:lpstr>
      <vt:lpstr>TUGAS (BERKELOMPOK)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PROBABILITAS DAN DISTRIBUSI</dc:title>
  <dc:creator>Ashri Shabrina</dc:creator>
  <cp:lastModifiedBy>Ashri Shabrina</cp:lastModifiedBy>
  <cp:revision>12</cp:revision>
  <dcterms:created xsi:type="dcterms:W3CDTF">2022-03-15T02:17:11Z</dcterms:created>
  <dcterms:modified xsi:type="dcterms:W3CDTF">2023-04-05T01:42:30Z</dcterms:modified>
</cp:coreProperties>
</file>