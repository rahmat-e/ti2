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70" r:id="rId4"/>
    <p:sldId id="261" r:id="rId5"/>
    <p:sldId id="259" r:id="rId6"/>
    <p:sldId id="262" r:id="rId7"/>
    <p:sldId id="263" r:id="rId8"/>
    <p:sldId id="265" r:id="rId9"/>
    <p:sldId id="266" r:id="rId10"/>
    <p:sldId id="267" r:id="rId11"/>
    <p:sldId id="268" r:id="rId12"/>
    <p:sldId id="25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39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418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193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704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800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358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611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932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69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145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116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252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3568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2591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85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2840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773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40CAA9E-677C-41A3-9B8D-976FF649AAE4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18E12-26D3-4C29-94C0-8C64B565BD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893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22D3-07C8-4E17-AF2B-D8F9D7DB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520" y="1808480"/>
            <a:ext cx="9682480" cy="21336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MOMEN SENTRAL (</a:t>
            </a:r>
            <a:r>
              <a:rPr lang="en-US" sz="4800" i="1" dirty="0"/>
              <a:t>CENTRAL MOMENT</a:t>
            </a:r>
            <a:r>
              <a:rPr lang="en-US" sz="4800" dirty="0"/>
              <a:t>), KEMIRINGAN (</a:t>
            </a:r>
            <a:r>
              <a:rPr lang="en-US" sz="4800" i="1" dirty="0"/>
              <a:t>SKEWNESS</a:t>
            </a:r>
            <a:r>
              <a:rPr lang="en-US" sz="4800" dirty="0"/>
              <a:t>), DAN KELANCIPAN (</a:t>
            </a:r>
            <a:r>
              <a:rPr lang="en-US" sz="4800" i="1" dirty="0"/>
              <a:t>KURTOSIS</a:t>
            </a:r>
            <a:r>
              <a:rPr lang="en-US" sz="4800" dirty="0"/>
              <a:t>)</a:t>
            </a:r>
            <a:endParaRPr lang="en-ID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A3AB0-E7C4-4996-AEE1-0D849B79E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75200"/>
            <a:ext cx="9144000" cy="482600"/>
          </a:xfrm>
        </p:spPr>
        <p:txBody>
          <a:bodyPr/>
          <a:lstStyle/>
          <a:p>
            <a:r>
              <a:rPr lang="en-US" dirty="0"/>
              <a:t>ASHRI SHABRINA AFRAH, M.T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054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2F8-B6E7-44DE-BDF4-5E533CD2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SENTRAL (</a:t>
            </a:r>
            <a:r>
              <a:rPr lang="en-US" i="1" dirty="0"/>
              <a:t>CENTRAL MOMENT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5110-AA80-457B-9E7D-C09806C0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04257"/>
            <a:ext cx="10018713" cy="43869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Moment Sentral </a:t>
            </a:r>
            <a:r>
              <a:rPr lang="en-US" dirty="0" err="1"/>
              <a:t>adalah</a:t>
            </a:r>
            <a:r>
              <a:rPr lang="en-US" dirty="0"/>
              <a:t> rata-rata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</a:t>
            </a:r>
            <a:r>
              <a:rPr lang="en-US" dirty="0" err="1"/>
              <a:t>observasi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mean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observasi</a:t>
            </a:r>
            <a:r>
              <a:rPr lang="en-US" dirty="0"/>
              <a:t> yang </a:t>
            </a:r>
            <a:r>
              <a:rPr lang="en-US" dirty="0" err="1"/>
              <a:t>dipangkatkan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(γ).</a:t>
            </a:r>
          </a:p>
          <a:p>
            <a:pPr marL="0" indent="0">
              <a:buNone/>
            </a:pP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moment </a:t>
            </a:r>
            <a:r>
              <a:rPr lang="en-US" dirty="0" err="1"/>
              <a:t>sentral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1D7FEB-E60B-44CA-B091-40022DB71B49}"/>
                  </a:ext>
                </a:extLst>
              </p:cNvPr>
              <p:cNvSpPr txBox="1"/>
              <p:nvPr/>
            </p:nvSpPr>
            <p:spPr>
              <a:xfrm>
                <a:off x="5192823" y="4681249"/>
                <a:ext cx="2601686" cy="871201"/>
              </a:xfrm>
              <a:prstGeom prst="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1D7FEB-E60B-44CA-B091-40022DB71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823" y="4681249"/>
                <a:ext cx="2601686" cy="871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51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2F8-B6E7-44DE-BDF4-5E533CD2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SENTRAL (</a:t>
            </a:r>
            <a:r>
              <a:rPr lang="en-US" i="1" dirty="0"/>
              <a:t>CENTRAL MOMENT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5110-AA80-457B-9E7D-C09806C0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40430"/>
            <a:ext cx="10018713" cy="4201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Ada 4 </a:t>
            </a:r>
            <a:r>
              <a:rPr lang="en-US" dirty="0" err="1"/>
              <a:t>jenis</a:t>
            </a:r>
            <a:r>
              <a:rPr lang="en-US" dirty="0"/>
              <a:t> moment </a:t>
            </a:r>
            <a:r>
              <a:rPr lang="en-US" dirty="0" err="1"/>
              <a:t>sentral</a:t>
            </a:r>
            <a:r>
              <a:rPr lang="en-US" dirty="0"/>
              <a:t>:</a:t>
            </a:r>
          </a:p>
          <a:p>
            <a:pPr marL="457200" indent="-457200">
              <a:buAutoNum type="arabicPeriod"/>
            </a:pPr>
            <a:r>
              <a:rPr lang="en-US" dirty="0"/>
              <a:t>Moment </a:t>
            </a:r>
            <a:r>
              <a:rPr lang="en-US" dirty="0" err="1"/>
              <a:t>sentral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γ = 1,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</a:t>
            </a:r>
          </a:p>
          <a:p>
            <a:pPr marL="457200" indent="-457200">
              <a:buAutoNum type="arabicPeriod"/>
            </a:pPr>
            <a:r>
              <a:rPr lang="en-US" dirty="0"/>
              <a:t>Moment </a:t>
            </a:r>
            <a:r>
              <a:rPr lang="en-US" dirty="0" err="1"/>
              <a:t>sentral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γ = 2 </a:t>
            </a:r>
            <a:r>
              <a:rPr lang="en-US" dirty="0" err="1"/>
              <a:t>adalah</a:t>
            </a:r>
            <a:r>
              <a:rPr lang="en-US" dirty="0"/>
              <a:t> variance</a:t>
            </a:r>
          </a:p>
          <a:p>
            <a:pPr marL="457200" indent="-457200">
              <a:buAutoNum type="arabicPeriod"/>
            </a:pPr>
            <a:r>
              <a:rPr lang="en-US" dirty="0"/>
              <a:t>Moment </a:t>
            </a:r>
            <a:r>
              <a:rPr lang="en-US" dirty="0" err="1"/>
              <a:t>sentral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γ = 3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kemiringan</a:t>
            </a:r>
            <a:r>
              <a:rPr lang="en-US" dirty="0"/>
              <a:t> (skewness)</a:t>
            </a:r>
          </a:p>
          <a:p>
            <a:pPr marL="457200" indent="-457200">
              <a:buAutoNum type="arabicPeriod"/>
            </a:pPr>
            <a:r>
              <a:rPr lang="en-US" dirty="0"/>
              <a:t>Moment </a:t>
            </a:r>
            <a:r>
              <a:rPr lang="en-US" dirty="0" err="1"/>
              <a:t>sentral</a:t>
            </a:r>
            <a:r>
              <a:rPr lang="en-US" dirty="0"/>
              <a:t> </a:t>
            </a:r>
            <a:r>
              <a:rPr lang="en-US" dirty="0" err="1"/>
              <a:t>keempat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γ = 4 </a:t>
            </a:r>
            <a:r>
              <a:rPr lang="en-US" dirty="0" err="1"/>
              <a:t>adalah</a:t>
            </a:r>
            <a:r>
              <a:rPr lang="en-US" dirty="0"/>
              <a:t> kurtosis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470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91B0-11C4-4E00-A0FC-2743E47F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9159"/>
          </a:xfrm>
        </p:spPr>
        <p:txBody>
          <a:bodyPr/>
          <a:lstStyle/>
          <a:p>
            <a:r>
              <a:rPr lang="en-US" dirty="0"/>
              <a:t>DISTRIBUSI SIMETRIS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61A2-A5FD-4930-A6F3-5B9E35C4D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32001"/>
            <a:ext cx="10018713" cy="161544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Suatu</a:t>
            </a:r>
            <a:r>
              <a:rPr lang="en-US" dirty="0"/>
              <a:t> data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simetris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data </a:t>
            </a:r>
            <a:r>
              <a:rPr lang="en-US" dirty="0" err="1"/>
              <a:t>terdistribusi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pada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.</a:t>
            </a:r>
          </a:p>
          <a:p>
            <a:r>
              <a:rPr lang="en-US" dirty="0"/>
              <a:t>Pada </a:t>
            </a:r>
            <a:r>
              <a:rPr lang="en-US" dirty="0" err="1"/>
              <a:t>distribusi</a:t>
            </a:r>
            <a:r>
              <a:rPr lang="en-US" dirty="0"/>
              <a:t> normal, </a:t>
            </a:r>
            <a:r>
              <a:rPr lang="en-US" dirty="0" err="1"/>
              <a:t>ukuran</a:t>
            </a:r>
            <a:r>
              <a:rPr lang="en-US" dirty="0"/>
              <a:t> mean, median, modus </a:t>
            </a:r>
            <a:r>
              <a:rPr lang="en-US" dirty="0" err="1"/>
              <a:t>berada</a:t>
            </a:r>
            <a:r>
              <a:rPr lang="en-US" dirty="0"/>
              <a:t> pada </a:t>
            </a:r>
            <a:r>
              <a:rPr lang="en-US" dirty="0" err="1"/>
              <a:t>titik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40D7D-FFD7-4E5B-9C63-45ACA20B9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2" r="35185"/>
          <a:stretch>
            <a:fillRect/>
          </a:stretch>
        </p:blipFill>
        <p:spPr bwMode="auto">
          <a:xfrm>
            <a:off x="4683916" y="3784600"/>
            <a:ext cx="3619500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57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AB5F-1D6F-4F78-81FE-E1954BDB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431" y="579120"/>
            <a:ext cx="10018713" cy="1940559"/>
          </a:xfrm>
        </p:spPr>
        <p:txBody>
          <a:bodyPr/>
          <a:lstStyle/>
          <a:p>
            <a:r>
              <a:rPr lang="en-US" dirty="0"/>
              <a:t>UKURAN KEMIRINGAN (SKEWNESS)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5946-D1B7-43F7-B125-A3D65D45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01520"/>
            <a:ext cx="10018713" cy="378968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dikatakan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kemiringan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terdistribusi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.</a:t>
            </a:r>
          </a:p>
          <a:p>
            <a:r>
              <a:rPr lang="en-US" dirty="0" err="1"/>
              <a:t>Kemiringan</a:t>
            </a:r>
            <a:r>
              <a:rPr lang="en-US" dirty="0"/>
              <a:t> (skewness)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mean, median, dan modus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titik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r>
              <a:rPr lang="en-US" dirty="0"/>
              <a:t>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kemiringan</a:t>
            </a:r>
            <a:r>
              <a:rPr lang="en-US" dirty="0"/>
              <a:t> (skewness)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ekstrim</a:t>
            </a:r>
            <a:r>
              <a:rPr lang="en-US" dirty="0"/>
              <a:t> pada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5733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AB5F-1D6F-4F78-81FE-E1954BDB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431" y="579120"/>
            <a:ext cx="10018713" cy="1422401"/>
          </a:xfrm>
        </p:spPr>
        <p:txBody>
          <a:bodyPr/>
          <a:lstStyle/>
          <a:p>
            <a:r>
              <a:rPr lang="en-US" dirty="0"/>
              <a:t>UKURAN KEMIRINGAN (SKEWNESS)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5946-D1B7-43F7-B125-A3D65D45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76400"/>
            <a:ext cx="10018713" cy="235712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Ada 2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kemiringan</a:t>
            </a:r>
            <a:r>
              <a:rPr lang="en-US" dirty="0"/>
              <a:t> (skewness):</a:t>
            </a:r>
          </a:p>
          <a:p>
            <a:pPr marL="0" indent="0">
              <a:buNone/>
            </a:pPr>
            <a:r>
              <a:rPr lang="en-US" dirty="0"/>
              <a:t>1. Positive skewness :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memanjang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kanan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Negative skewness: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memanjang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kiri</a:t>
            </a:r>
            <a:endParaRPr lang="en-US" dirty="0"/>
          </a:p>
          <a:p>
            <a:endParaRPr lang="en-ID"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7C69D7D-CFAC-48CD-8E79-0A6B7C1AA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154" y="4033521"/>
            <a:ext cx="4831692" cy="193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AB5F-1D6F-4F78-81FE-E1954BDB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431" y="579120"/>
            <a:ext cx="10018713" cy="1422401"/>
          </a:xfrm>
        </p:spPr>
        <p:txBody>
          <a:bodyPr/>
          <a:lstStyle/>
          <a:p>
            <a:r>
              <a:rPr lang="en-US" dirty="0"/>
              <a:t>UKURAN KEMIRINGAN (SKEWNESS)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E5946-D1B7-43F7-B125-A3D65D45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76400"/>
            <a:ext cx="9488490" cy="1158239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ID" dirty="0"/>
              <a:t>Data </a:t>
            </a:r>
            <a:r>
              <a:rPr lang="en-ID" dirty="0" err="1"/>
              <a:t>dengan</a:t>
            </a:r>
            <a:r>
              <a:rPr lang="en-ID" dirty="0"/>
              <a:t> positive skewness dan negative skewness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mean, median, dan modus yang </a:t>
            </a:r>
            <a:r>
              <a:rPr lang="en-ID" dirty="0" err="1"/>
              <a:t>berbeda</a:t>
            </a:r>
            <a:r>
              <a:rPr lang="en-ID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EDD1C-3B65-43FD-88FE-9B38BB3BF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50" t="35873" r="27590" b="25035"/>
          <a:stretch/>
        </p:blipFill>
        <p:spPr>
          <a:xfrm>
            <a:off x="1758630" y="3429000"/>
            <a:ext cx="3766349" cy="2460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73371C-7FEF-48A7-897B-B8C90AF03A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75" t="28889" r="17500" b="33651"/>
          <a:stretch/>
        </p:blipFill>
        <p:spPr>
          <a:xfrm>
            <a:off x="6667021" y="3429000"/>
            <a:ext cx="3766349" cy="239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8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ABD4-A4C4-4ABB-896C-D1951605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UKURAN STATISTIK UNTUK KEMIRINGAN (SKEWNESS)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3DCC-0BEF-4634-ACE3-16A7D584D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624" y="3516085"/>
            <a:ext cx="10018713" cy="3124201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E59EA88-A9C9-493B-BAEE-4334DECE1276}"/>
              </a:ext>
            </a:extLst>
          </p:cNvPr>
          <p:cNvSpPr txBox="1">
            <a:spLocks/>
          </p:cNvSpPr>
          <p:nvPr/>
        </p:nvSpPr>
        <p:spPr>
          <a:xfrm>
            <a:off x="905102" y="2530249"/>
            <a:ext cx="5157787" cy="82391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  <a:defRPr/>
            </a:pP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Ukuran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absolut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untuk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kemiringan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(skewness):</a:t>
            </a:r>
            <a:r>
              <a:rPr lang="en-IN" sz="1600" dirty="0"/>
              <a:t> 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A465AA4-DB6A-4400-B495-D61AF463AFC1}"/>
              </a:ext>
            </a:extLst>
          </p:cNvPr>
          <p:cNvSpPr txBox="1">
            <a:spLocks/>
          </p:cNvSpPr>
          <p:nvPr/>
        </p:nvSpPr>
        <p:spPr>
          <a:xfrm>
            <a:off x="905102" y="3354161"/>
            <a:ext cx="5157787" cy="23064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Berikut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ini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adalah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ukuran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absolut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untuk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kemiringan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(skewness):</a:t>
            </a:r>
          </a:p>
          <a:p>
            <a:pPr>
              <a:lnSpc>
                <a:spcPct val="200000"/>
              </a:lnSpc>
              <a:spcAft>
                <a:spcPts val="0"/>
              </a:spcAft>
              <a:defRPr/>
            </a:pP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Sk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= Mean – Median</a:t>
            </a:r>
          </a:p>
          <a:p>
            <a:pPr>
              <a:lnSpc>
                <a:spcPct val="200000"/>
              </a:lnSpc>
              <a:spcAft>
                <a:spcPts val="0"/>
              </a:spcAft>
              <a:defRPr/>
            </a:pP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Sk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= Mean – Mode</a:t>
            </a:r>
          </a:p>
          <a:p>
            <a:pPr>
              <a:lnSpc>
                <a:spcPct val="200000"/>
              </a:lnSpc>
              <a:spcAft>
                <a:spcPts val="0"/>
              </a:spcAft>
              <a:defRPr/>
            </a:pPr>
            <a:r>
              <a:rPr lang="en-US" sz="1600" dirty="0" err="1">
                <a:solidFill>
                  <a:srgbClr val="000000"/>
                </a:solidFill>
                <a:latin typeface="TimesNewRomanPSMT"/>
              </a:rPr>
              <a:t>Sk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 = (Q3 </a:t>
            </a:r>
            <a:r>
              <a:rPr lang="en-US" sz="1600" dirty="0">
                <a:solidFill>
                  <a:srgbClr val="000000"/>
                </a:solidFill>
                <a:latin typeface="SimplifiedArabicFixed"/>
              </a:rPr>
              <a:t>- 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Q2) </a:t>
            </a:r>
            <a:r>
              <a:rPr lang="en-US" sz="1600" dirty="0">
                <a:solidFill>
                  <a:srgbClr val="000000"/>
                </a:solidFill>
                <a:latin typeface="SimplifiedArabicFixed"/>
              </a:rPr>
              <a:t>- 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(Q2 </a:t>
            </a:r>
            <a:r>
              <a:rPr lang="en-US" sz="1600" dirty="0">
                <a:solidFill>
                  <a:srgbClr val="000000"/>
                </a:solidFill>
                <a:latin typeface="SimplifiedArabicFixed"/>
              </a:rPr>
              <a:t>- </a:t>
            </a:r>
            <a:r>
              <a:rPr lang="en-US" sz="1600" dirty="0">
                <a:solidFill>
                  <a:srgbClr val="000000"/>
                </a:solidFill>
                <a:latin typeface="TimesNewRomanPSMT"/>
              </a:rPr>
              <a:t>Q1)</a:t>
            </a:r>
            <a:r>
              <a:rPr lang="en-US" sz="1600" dirty="0"/>
              <a:t> </a:t>
            </a:r>
            <a:endParaRPr lang="en-IN" sz="1600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2A76589-77AA-4CAE-A674-1E11F4FBC1D4}"/>
              </a:ext>
            </a:extLst>
          </p:cNvPr>
          <p:cNvSpPr txBox="1">
            <a:spLocks/>
          </p:cNvSpPr>
          <p:nvPr/>
        </p:nvSpPr>
        <p:spPr>
          <a:xfrm>
            <a:off x="6237514" y="2530249"/>
            <a:ext cx="5183188" cy="82391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0"/>
              </a:spcAft>
              <a:buNone/>
              <a:defRPr/>
            </a:pP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Ukuran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relatif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untuk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TimesNewRomanPS-BoldMT"/>
              </a:rPr>
              <a:t>kemiringan</a:t>
            </a:r>
            <a:r>
              <a:rPr lang="en-IN" sz="1600" dirty="0">
                <a:solidFill>
                  <a:srgbClr val="000000"/>
                </a:solidFill>
                <a:latin typeface="TimesNewRomanPS-BoldMT"/>
              </a:rPr>
              <a:t> (skewness):</a:t>
            </a:r>
            <a:endParaRPr lang="en-IN" sz="1600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28A1DDE-10FD-4A56-AE2B-8DFB602407B6}"/>
              </a:ext>
            </a:extLst>
          </p:cNvPr>
          <p:cNvSpPr txBox="1">
            <a:spLocks/>
          </p:cNvSpPr>
          <p:nvPr/>
        </p:nvSpPr>
        <p:spPr>
          <a:xfrm>
            <a:off x="6237514" y="3354161"/>
            <a:ext cx="5183188" cy="23064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5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ukuran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relatif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(skewness):</a:t>
            </a:r>
          </a:p>
          <a:p>
            <a:pPr marL="12700">
              <a:spcBef>
                <a:spcPts val="95"/>
              </a:spcBef>
              <a:spcAft>
                <a:spcPts val="0"/>
              </a:spcAft>
              <a:defRPr/>
            </a:pPr>
            <a:endParaRPr lang="en-US" sz="16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Karl Pearson 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Aft>
                <a:spcPts val="0"/>
              </a:spcAft>
              <a:tabLst>
                <a:tab pos="268605" algn="l"/>
              </a:tabLst>
              <a:defRPr/>
            </a:pP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Karl Pearson II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395"/>
              </a:spcBef>
              <a:spcAft>
                <a:spcPts val="0"/>
              </a:spcAft>
              <a:tabLst>
                <a:tab pos="268605" algn="l"/>
              </a:tabLst>
              <a:defRPr/>
            </a:pPr>
            <a:r>
              <a:rPr lang="en-US" sz="1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Kuartil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6484C5-1B20-4D56-87B0-C34F823E3A5B}"/>
              </a:ext>
            </a:extLst>
          </p:cNvPr>
          <p:cNvCxnSpPr>
            <a:cxnSpLocks/>
          </p:cNvCxnSpPr>
          <p:nvPr/>
        </p:nvCxnSpPr>
        <p:spPr>
          <a:xfrm>
            <a:off x="6161314" y="2530249"/>
            <a:ext cx="0" cy="4327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89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45E1-F17C-498A-87BD-D2D015AC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75657"/>
          </a:xfrm>
        </p:spPr>
        <p:txBody>
          <a:bodyPr/>
          <a:lstStyle/>
          <a:p>
            <a:pPr marL="1270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Karl Pearson 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41028" y="2267873"/>
                <a:ext cx="3561557" cy="37229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𝑀𝑜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Dimana: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/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koefisien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kemiringan</a:t>
                </a: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>
                    <a:cs typeface="Times New Roman" panose="02020603050405020304" pitchFamily="18" charset="0"/>
                  </a:rPr>
                  <a:t>mean (rata-rata)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cs typeface="Times New Roman" panose="02020603050405020304" pitchFamily="18" charset="0"/>
                  </a:rPr>
                  <a:t> data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𝑀𝑜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>
                    <a:cs typeface="Times New Roman" panose="02020603050405020304" pitchFamily="18" charset="0"/>
                  </a:rPr>
                  <a:t>modus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cs typeface="Times New Roman" panose="02020603050405020304" pitchFamily="18" charset="0"/>
                  </a:rPr>
                  <a:t> data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ID" sz="2000" dirty="0"/>
                  <a:t> = </a:t>
                </a:r>
                <a:r>
                  <a:rPr lang="en-ID" sz="2000" dirty="0" err="1"/>
                  <a:t>standar</a:t>
                </a:r>
                <a:r>
                  <a:rPr lang="en-ID" sz="2000" dirty="0"/>
                  <a:t> </a:t>
                </a:r>
                <a:r>
                  <a:rPr lang="en-ID" sz="2000" dirty="0" err="1"/>
                  <a:t>deviasi</a:t>
                </a:r>
                <a:endParaRPr lang="en-ID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1028" y="2267873"/>
                <a:ext cx="3561557" cy="3722914"/>
              </a:xfrm>
              <a:blipFill>
                <a:blip r:embed="rId2"/>
                <a:stretch>
                  <a:fillRect l="-170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1AC4143-B52E-483A-BA71-366F31FD4E77}"/>
              </a:ext>
            </a:extLst>
          </p:cNvPr>
          <p:cNvSpPr txBox="1"/>
          <p:nvPr/>
        </p:nvSpPr>
        <p:spPr>
          <a:xfrm>
            <a:off x="1807028" y="2667000"/>
            <a:ext cx="42889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Cara </a:t>
            </a:r>
            <a:r>
              <a:rPr lang="en-US" sz="2000" dirty="0" err="1"/>
              <a:t>menghitung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Model Karl Pearson I: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Buat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frekuensi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mean (rata-rata)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modus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standar</a:t>
            </a:r>
            <a:r>
              <a:rPr lang="en-US" sz="2000" dirty="0"/>
              <a:t> </a:t>
            </a:r>
            <a:r>
              <a:rPr lang="en-US" sz="2000" dirty="0" err="1"/>
              <a:t>deviasi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73156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45E1-F17C-498A-87BD-D2D015AC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75657"/>
          </a:xfrm>
        </p:spPr>
        <p:txBody>
          <a:bodyPr/>
          <a:lstStyle/>
          <a:p>
            <a:pPr marL="1270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Karl Pearson II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0942" y="2307772"/>
                <a:ext cx="3561557" cy="37229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𝑀𝑒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Dimana: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/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koefisien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kemiringan</a:t>
                </a: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>
                    <a:cs typeface="Times New Roman" panose="02020603050405020304" pitchFamily="18" charset="0"/>
                  </a:rPr>
                  <a:t>mean (rata-rata)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cs typeface="Times New Roman" panose="02020603050405020304" pitchFamily="18" charset="0"/>
                  </a:rPr>
                  <a:t> data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>
                    <a:cs typeface="Times New Roman" panose="02020603050405020304" pitchFamily="18" charset="0"/>
                  </a:rPr>
                  <a:t>median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cs typeface="Times New Roman" panose="02020603050405020304" pitchFamily="18" charset="0"/>
                  </a:rPr>
                  <a:t> data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ID" sz="2000" dirty="0"/>
                  <a:t> = </a:t>
                </a:r>
                <a:r>
                  <a:rPr lang="en-ID" sz="2000" dirty="0" err="1"/>
                  <a:t>standar</a:t>
                </a:r>
                <a:r>
                  <a:rPr lang="en-ID" sz="2000" dirty="0"/>
                  <a:t> </a:t>
                </a:r>
                <a:r>
                  <a:rPr lang="en-ID" sz="2000" dirty="0" err="1"/>
                  <a:t>deviasi</a:t>
                </a:r>
                <a:endParaRPr lang="en-ID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0942" y="2307772"/>
                <a:ext cx="3561557" cy="3722914"/>
              </a:xfrm>
              <a:blipFill>
                <a:blip r:embed="rId2"/>
                <a:stretch>
                  <a:fillRect l="-188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1AC4143-B52E-483A-BA71-366F31FD4E77}"/>
              </a:ext>
            </a:extLst>
          </p:cNvPr>
          <p:cNvSpPr txBox="1"/>
          <p:nvPr/>
        </p:nvSpPr>
        <p:spPr>
          <a:xfrm>
            <a:off x="6529503" y="2640919"/>
            <a:ext cx="42780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Cara </a:t>
            </a:r>
            <a:r>
              <a:rPr lang="en-US" sz="2000" dirty="0" err="1"/>
              <a:t>menghitung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Model Karl Pearson I: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Buat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frekuensi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mean (rata-rata)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median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standar</a:t>
            </a:r>
            <a:r>
              <a:rPr lang="en-US" sz="2000" dirty="0"/>
              <a:t> </a:t>
            </a:r>
            <a:r>
              <a:rPr lang="en-US" sz="2000" dirty="0" err="1"/>
              <a:t>deviasi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data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9647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45E1-F17C-498A-87BD-D2D015AC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75657"/>
          </a:xfrm>
        </p:spPr>
        <p:txBody>
          <a:bodyPr/>
          <a:lstStyle/>
          <a:p>
            <a:pPr marL="1270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defRPr/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Koefisien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Kemiringan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Kuartil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0942" y="2492830"/>
                <a:ext cx="3561557" cy="37229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Dimana: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/>
                    </m:sSub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koefisien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kemiringan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kuartil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bawah</a:t>
                </a: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kuartil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tengah</a:t>
                </a: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kuartil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cs typeface="Times New Roman" panose="02020603050405020304" pitchFamily="18" charset="0"/>
                  </a:rPr>
                  <a:t>atas</a:t>
                </a: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D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91C5D-4D5D-4610-8706-4D7A46418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0942" y="2492830"/>
                <a:ext cx="3561557" cy="3722914"/>
              </a:xfrm>
              <a:blipFill>
                <a:blip r:embed="rId2"/>
                <a:stretch>
                  <a:fillRect l="-1884" t="-147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1AC4143-B52E-483A-BA71-366F31FD4E77}"/>
              </a:ext>
            </a:extLst>
          </p:cNvPr>
          <p:cNvSpPr txBox="1"/>
          <p:nvPr/>
        </p:nvSpPr>
        <p:spPr>
          <a:xfrm>
            <a:off x="6607629" y="2307772"/>
            <a:ext cx="42780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Cara </a:t>
            </a:r>
            <a:r>
              <a:rPr lang="en-US" sz="2000" dirty="0" err="1"/>
              <a:t>menghitung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Kuartil</a:t>
            </a:r>
            <a:r>
              <a:rPr lang="en-US" sz="2000" dirty="0"/>
              <a:t>: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Buat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frekuensi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kuartil</a:t>
            </a:r>
            <a:r>
              <a:rPr lang="en-US" sz="2000" dirty="0"/>
              <a:t> </a:t>
            </a:r>
            <a:r>
              <a:rPr lang="en-US" sz="2000" dirty="0" err="1"/>
              <a:t>bawah</a:t>
            </a:r>
            <a:r>
              <a:rPr lang="en-US" sz="2000" dirty="0"/>
              <a:t>, </a:t>
            </a:r>
            <a:r>
              <a:rPr lang="en-US" sz="2000" dirty="0" err="1"/>
              <a:t>kuartil</a:t>
            </a:r>
            <a:r>
              <a:rPr lang="en-US" sz="2000" dirty="0"/>
              <a:t> </a:t>
            </a:r>
            <a:r>
              <a:rPr lang="en-US" sz="2000" dirty="0" err="1"/>
              <a:t>tengah</a:t>
            </a:r>
            <a:r>
              <a:rPr lang="en-US" sz="2000" dirty="0"/>
              <a:t>, dan </a:t>
            </a:r>
            <a:r>
              <a:rPr lang="en-US" sz="2000" dirty="0" err="1"/>
              <a:t>kuartil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data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: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endParaRPr lang="en-ID" sz="2000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E3196817-5B59-4827-A5FA-AA2FC3E11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17" y="4458038"/>
            <a:ext cx="2805612" cy="10276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4375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5067-071C-4419-96CA-D1E83F3D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UKURAN KELANCIPAN DATA (KURTOSIS)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315-AB86-4CA8-B5C7-A7D80C3CE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37114"/>
            <a:ext cx="4872947" cy="2754086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kelancipan</a:t>
            </a:r>
            <a:r>
              <a:rPr lang="en-US" dirty="0"/>
              <a:t> data (kurtosis)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kelancipan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normal. Ada 3 </a:t>
            </a:r>
            <a:r>
              <a:rPr lang="en-US" dirty="0" err="1"/>
              <a:t>jenis</a:t>
            </a:r>
            <a:r>
              <a:rPr lang="en-US" dirty="0"/>
              <a:t> kurtosis, </a:t>
            </a:r>
            <a:r>
              <a:rPr lang="en-US" dirty="0" err="1"/>
              <a:t>yaitu</a:t>
            </a:r>
            <a:r>
              <a:rPr lang="en-US" dirty="0"/>
              <a:t>: </a:t>
            </a:r>
            <a:r>
              <a:rPr lang="en-US" dirty="0" err="1"/>
              <a:t>leptokurtis</a:t>
            </a:r>
            <a:r>
              <a:rPr lang="en-US" dirty="0"/>
              <a:t>, </a:t>
            </a:r>
            <a:r>
              <a:rPr lang="en-US" dirty="0" err="1"/>
              <a:t>mesokurtis</a:t>
            </a:r>
            <a:r>
              <a:rPr lang="en-US" dirty="0"/>
              <a:t>, dan </a:t>
            </a:r>
            <a:r>
              <a:rPr lang="en-US" dirty="0" err="1"/>
              <a:t>platikurtis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D834D-51B9-4B5B-A46C-699294D7A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2" t="3091" r="2728" b="4420"/>
          <a:stretch>
            <a:fillRect/>
          </a:stretch>
        </p:blipFill>
        <p:spPr bwMode="auto">
          <a:xfrm>
            <a:off x="7027184" y="2525484"/>
            <a:ext cx="3800248" cy="3121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85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F1B5-D63A-4BAF-AADF-2CE5461B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19098"/>
            <a:ext cx="10018713" cy="2019301"/>
          </a:xfrm>
        </p:spPr>
        <p:txBody>
          <a:bodyPr/>
          <a:lstStyle/>
          <a:p>
            <a:r>
              <a:rPr lang="en-US" dirty="0"/>
              <a:t>KOEFISIEN KURTOSIS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EC27-4683-480D-8682-261EF3AE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710" y="2019300"/>
            <a:ext cx="10018713" cy="5105400"/>
          </a:xfrm>
        </p:spPr>
        <p:txBody>
          <a:bodyPr/>
          <a:lstStyle/>
          <a:p>
            <a:r>
              <a:rPr lang="en-US" dirty="0" err="1"/>
              <a:t>Koefisien</a:t>
            </a:r>
            <a:r>
              <a:rPr lang="en-US" dirty="0"/>
              <a:t> kurtosis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kurtosis:</a:t>
            </a:r>
          </a:p>
          <a:p>
            <a:pPr marL="0" indent="0">
              <a:buNone/>
            </a:pPr>
            <a:r>
              <a:rPr lang="en-US" dirty="0"/>
              <a:t>									1. &gt;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leptokurtis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			2. =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mesokurtis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			3. </a:t>
            </a:r>
            <a:r>
              <a:rPr lang="en-US"/>
              <a:t>&lt; </a:t>
            </a:r>
            <a:r>
              <a:rPr lang="en-US" dirty="0"/>
              <a:t>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platikurtis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001F6-936A-4CF3-9607-50E35584CB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64" t="32857" r="35446" b="51270"/>
          <a:stretch/>
        </p:blipFill>
        <p:spPr>
          <a:xfrm>
            <a:off x="2100944" y="3227613"/>
            <a:ext cx="2754085" cy="10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96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598-DE65-4542-AB7F-3AF206A5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00760"/>
          </a:xfrm>
        </p:spPr>
        <p:txBody>
          <a:bodyPr/>
          <a:lstStyle/>
          <a:p>
            <a:r>
              <a:rPr lang="en-US" dirty="0"/>
              <a:t>TUGAS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DD1B0-16C3-4C76-969D-F549559E6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0561"/>
            <a:ext cx="10018713" cy="423163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Terdapat</a:t>
            </a:r>
            <a:r>
              <a:rPr lang="en-US" sz="2000" dirty="0"/>
              <a:t> 50 </a:t>
            </a:r>
            <a:r>
              <a:rPr lang="en-US" sz="2000" dirty="0" err="1"/>
              <a:t>buah</a:t>
            </a:r>
            <a:r>
              <a:rPr lang="en-US" sz="2000" dirty="0"/>
              <a:t> data </a:t>
            </a:r>
            <a:r>
              <a:rPr lang="en-US" sz="2000" dirty="0" err="1"/>
              <a:t>mentah</a:t>
            </a:r>
            <a:r>
              <a:rPr lang="en-US" sz="2000" dirty="0"/>
              <a:t>,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US" sz="2000" dirty="0" err="1"/>
              <a:t>Gunakan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Model Karl Pearson I dan Karl Pearson II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mengetahui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data di </a:t>
            </a:r>
            <a:r>
              <a:rPr lang="en-US" sz="2000" dirty="0" err="1"/>
              <a:t>atas</a:t>
            </a:r>
            <a:r>
              <a:rPr lang="en-US" sz="2000" dirty="0"/>
              <a:t>. </a:t>
            </a:r>
            <a:r>
              <a:rPr lang="en-US" sz="2000" dirty="0" err="1"/>
              <a:t>Hitung</a:t>
            </a:r>
            <a:r>
              <a:rPr lang="en-US" sz="2000" dirty="0"/>
              <a:t> juga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kelancipan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data </a:t>
            </a:r>
            <a:r>
              <a:rPr lang="en-US" sz="2000" dirty="0" err="1"/>
              <a:t>tersebut</a:t>
            </a:r>
            <a:r>
              <a:rPr lang="en-US" sz="2000" dirty="0"/>
              <a:t>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E0AB434-C4D0-4F7A-96DE-7A3E80095C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02" t="34863" r="10205" b="18906"/>
          <a:stretch/>
        </p:blipFill>
        <p:spPr>
          <a:xfrm>
            <a:off x="3459160" y="2592931"/>
            <a:ext cx="6069012" cy="254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19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757</TotalTime>
  <Words>683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Cambria Math</vt:lpstr>
      <vt:lpstr>Corbel</vt:lpstr>
      <vt:lpstr>SimplifiedArabicFixed</vt:lpstr>
      <vt:lpstr>Times New Roman</vt:lpstr>
      <vt:lpstr>TimesNewRomanPS-BoldMT</vt:lpstr>
      <vt:lpstr>TimesNewRomanPSMT</vt:lpstr>
      <vt:lpstr>Parallax</vt:lpstr>
      <vt:lpstr>MOMEN SENTRAL (CENTRAL MOMENT), KEMIRINGAN (SKEWNESS), DAN KELANCIPAN (KURTOSIS)</vt:lpstr>
      <vt:lpstr>MOMENT SENTRAL (CENTRAL MOMENT)</vt:lpstr>
      <vt:lpstr>MOMENT SENTRAL (CENTRAL MOMENT)</vt:lpstr>
      <vt:lpstr>DISTRIBUSI SIMETRIS</vt:lpstr>
      <vt:lpstr>UKURAN KEMIRINGAN (SKEWNESS)</vt:lpstr>
      <vt:lpstr>UKURAN KEMIRINGAN (SKEWNESS)</vt:lpstr>
      <vt:lpstr>UKURAN KEMIRINGAN (SKEWNESS)</vt:lpstr>
      <vt:lpstr>UKURAN STATISTIK UNTUK KEMIRINGAN (SKEWNESS)</vt:lpstr>
      <vt:lpstr>Koefisien Kemiringan Model Karl Pearson I</vt:lpstr>
      <vt:lpstr>Koefisien Kemiringan Model Karl Pearson II</vt:lpstr>
      <vt:lpstr>Koefisien Kemiringan dengan Kuartil</vt:lpstr>
      <vt:lpstr>UKURAN KELANCIPAN DATA (KURTOSIS)</vt:lpstr>
      <vt:lpstr>KOEFISIEN KURTOSIS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UKURAN LAIN DARI DATA</dc:title>
  <dc:creator>Ashri Shabrina</dc:creator>
  <cp:lastModifiedBy>Ashri Shabrina</cp:lastModifiedBy>
  <cp:revision>9</cp:revision>
  <dcterms:created xsi:type="dcterms:W3CDTF">2022-03-09T02:28:18Z</dcterms:created>
  <dcterms:modified xsi:type="dcterms:W3CDTF">2024-03-18T01:53:31Z</dcterms:modified>
</cp:coreProperties>
</file>